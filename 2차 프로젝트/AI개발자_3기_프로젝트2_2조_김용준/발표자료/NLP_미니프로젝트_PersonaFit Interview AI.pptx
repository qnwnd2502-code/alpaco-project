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</p:sldIdLst>
  <p:sldSz cy="5143500" cx="9144000"/>
  <p:notesSz cx="6858000" cy="9144000"/>
  <p:embeddedFontLst>
    <p:embeddedFont>
      <p:font typeface="Raleway"/>
      <p:regular r:id="rId52"/>
      <p:bold r:id="rId53"/>
      <p:italic r:id="rId54"/>
      <p:boldItalic r:id="rId55"/>
    </p:embeddedFont>
    <p:embeddedFont>
      <p:font typeface="Cairo Medium"/>
      <p:regular r:id="rId56"/>
      <p:bold r:id="rId57"/>
    </p:embeddedFont>
    <p:embeddedFont>
      <p:font typeface="Anaheim"/>
      <p:regular r:id="rId58"/>
      <p:bold r:id="rId59"/>
    </p:embeddedFont>
    <p:embeddedFont>
      <p:font typeface="Poppins"/>
      <p:regular r:id="rId60"/>
      <p:bold r:id="rId61"/>
      <p:italic r:id="rId62"/>
      <p:boldItalic r:id="rId63"/>
    </p:embeddedFont>
    <p:embeddedFont>
      <p:font typeface="Cairo"/>
      <p:regular r:id="rId64"/>
      <p:bold r:id="rId65"/>
    </p:embeddedFont>
    <p:embeddedFont>
      <p:font typeface="Space Grotesk Light"/>
      <p:regular r:id="rId66"/>
      <p:bold r:id="rId67"/>
    </p:embeddedFont>
    <p:embeddedFont>
      <p:font typeface="Space Grotesk Medium"/>
      <p:regular r:id="rId68"/>
      <p:bold r:id="rId69"/>
    </p:embeddedFont>
    <p:embeddedFont>
      <p:font typeface="PT Sans"/>
      <p:regular r:id="rId70"/>
      <p:bold r:id="rId71"/>
      <p:italic r:id="rId72"/>
      <p:boldItalic r:id="rId73"/>
    </p:embeddedFont>
    <p:embeddedFont>
      <p:font typeface="Space Grotesk"/>
      <p:regular r:id="rId74"/>
      <p:bold r:id="rId7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B253C93-5D2F-45CE-8AED-97878E9F2889}">
  <a:tblStyle styleId="{DB253C93-5D2F-45CE-8AED-97878E9F288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A49718A0-75EE-40A5-AB6A-45FAF4ED8B7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PTSans-boldItalic.fntdata"/><Relationship Id="rId72" Type="http://schemas.openxmlformats.org/officeDocument/2006/relationships/font" Target="fonts/PTSans-italic.fntdata"/><Relationship Id="rId31" Type="http://schemas.openxmlformats.org/officeDocument/2006/relationships/slide" Target="slides/slide26.xml"/><Relationship Id="rId75" Type="http://schemas.openxmlformats.org/officeDocument/2006/relationships/font" Target="fonts/SpaceGrotesk-bold.fntdata"/><Relationship Id="rId30" Type="http://schemas.openxmlformats.org/officeDocument/2006/relationships/slide" Target="slides/slide25.xml"/><Relationship Id="rId74" Type="http://schemas.openxmlformats.org/officeDocument/2006/relationships/font" Target="fonts/SpaceGrotesk-regular.fntdata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font" Target="fonts/PTSans-bold.fntdata"/><Relationship Id="rId70" Type="http://schemas.openxmlformats.org/officeDocument/2006/relationships/font" Target="fonts/PTSans-regular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Poppins-italic.fntdata"/><Relationship Id="rId61" Type="http://schemas.openxmlformats.org/officeDocument/2006/relationships/font" Target="fonts/Poppins-bold.fntdata"/><Relationship Id="rId20" Type="http://schemas.openxmlformats.org/officeDocument/2006/relationships/slide" Target="slides/slide15.xml"/><Relationship Id="rId64" Type="http://schemas.openxmlformats.org/officeDocument/2006/relationships/font" Target="fonts/Cairo-regular.fntdata"/><Relationship Id="rId63" Type="http://schemas.openxmlformats.org/officeDocument/2006/relationships/font" Target="fonts/Poppins-boldItalic.fntdata"/><Relationship Id="rId22" Type="http://schemas.openxmlformats.org/officeDocument/2006/relationships/slide" Target="slides/slide17.xml"/><Relationship Id="rId66" Type="http://schemas.openxmlformats.org/officeDocument/2006/relationships/font" Target="fonts/SpaceGroteskLight-regular.fntdata"/><Relationship Id="rId21" Type="http://schemas.openxmlformats.org/officeDocument/2006/relationships/slide" Target="slides/slide16.xml"/><Relationship Id="rId65" Type="http://schemas.openxmlformats.org/officeDocument/2006/relationships/font" Target="fonts/Cairo-bold.fntdata"/><Relationship Id="rId24" Type="http://schemas.openxmlformats.org/officeDocument/2006/relationships/slide" Target="slides/slide19.xml"/><Relationship Id="rId68" Type="http://schemas.openxmlformats.org/officeDocument/2006/relationships/font" Target="fonts/SpaceGroteskMedium-regular.fntdata"/><Relationship Id="rId23" Type="http://schemas.openxmlformats.org/officeDocument/2006/relationships/slide" Target="slides/slide18.xml"/><Relationship Id="rId67" Type="http://schemas.openxmlformats.org/officeDocument/2006/relationships/font" Target="fonts/SpaceGroteskLight-bold.fntdata"/><Relationship Id="rId60" Type="http://schemas.openxmlformats.org/officeDocument/2006/relationships/font" Target="fonts/Poppins-regular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SpaceGroteskMedium-bold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font" Target="fonts/Raleway-bold.fntdata"/><Relationship Id="rId52" Type="http://schemas.openxmlformats.org/officeDocument/2006/relationships/font" Target="fonts/Raleway-regular.fntdata"/><Relationship Id="rId11" Type="http://schemas.openxmlformats.org/officeDocument/2006/relationships/slide" Target="slides/slide6.xml"/><Relationship Id="rId55" Type="http://schemas.openxmlformats.org/officeDocument/2006/relationships/font" Target="fonts/Raleway-boldItalic.fntdata"/><Relationship Id="rId10" Type="http://schemas.openxmlformats.org/officeDocument/2006/relationships/slide" Target="slides/slide5.xml"/><Relationship Id="rId54" Type="http://schemas.openxmlformats.org/officeDocument/2006/relationships/font" Target="fonts/Raleway-italic.fntdata"/><Relationship Id="rId13" Type="http://schemas.openxmlformats.org/officeDocument/2006/relationships/slide" Target="slides/slide8.xml"/><Relationship Id="rId57" Type="http://schemas.openxmlformats.org/officeDocument/2006/relationships/font" Target="fonts/CairoMedium-bold.fntdata"/><Relationship Id="rId12" Type="http://schemas.openxmlformats.org/officeDocument/2006/relationships/slide" Target="slides/slide7.xml"/><Relationship Id="rId56" Type="http://schemas.openxmlformats.org/officeDocument/2006/relationships/font" Target="fonts/CairoMedium-regular.fntdata"/><Relationship Id="rId15" Type="http://schemas.openxmlformats.org/officeDocument/2006/relationships/slide" Target="slides/slide10.xml"/><Relationship Id="rId59" Type="http://schemas.openxmlformats.org/officeDocument/2006/relationships/font" Target="fonts/Anaheim-bold.fntdata"/><Relationship Id="rId14" Type="http://schemas.openxmlformats.org/officeDocument/2006/relationships/slide" Target="slides/slide9.xml"/><Relationship Id="rId58" Type="http://schemas.openxmlformats.org/officeDocument/2006/relationships/font" Target="fonts/Anaheim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d431007ba2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d431007ba2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54dda1946d_6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54dda1946d_6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a915d57e96_4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a915d57e96_4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9a1a32ee36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9a1a32ee36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84d99d1a7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184d99d1a7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a915d57e96_4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a915d57e96_4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a7de955eb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a7de955eb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a7de955eb0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a7de955eb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a7de955eb0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a7de955eb0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54dda1946d_6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54dda1946d_6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a7de955eb0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a7de955eb0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184d99d1a7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184d99d1a7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9104ff815c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9104ff815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1869b490b2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1869b490b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d431007ba2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d431007ba2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9104ff815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9104ff815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a7eca3dc2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3a7eca3dc2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9104ff815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9104ff815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a915d57e9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3a915d57e9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의미기반 면접질문 제공 시스템은 센텐스 바트(Sentence bert) 모델을 활용해 사용자가 입력한 직무/ 키워드에 대해 최적의 맞춤 질문을 제공하는 시스템 입니다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18661f04b0b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18661f04b0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활용 데이터셋은 ai hub에 있는 채용 면접 인터뷰 데이터 입니다. 약 76000 여개의 데이터 셋을 활용해 사용자 맞춤형 질문리스트와 답변예시를 제공하게 됩니다다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a697ca113f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3a697ca113f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다음은 질문 제공 프로세스 입니다 먼저 데이터셋에 존재하는 모든 질문에 대해 임베딩을 수행합니다. 이후 키워드가 입력으로 들어오면 동일하게 임베딩하고 질문과 키워드간 유사도를 계산 + 직무 별 가중치 적용으로 5개 질문리스트를 제공합니다. 그중 택1 이후 LLM이 코칭을 수행하게됩니다.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a6ade43b54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3a6ade43b54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사용자가 최종 선택한 질문에 대한 답변 예시, 평가포인트, 체크리스트를 제시하도록 프롬프트를 작성하였습니다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사용자는 이를 통해 답변 전 필요한 사전지식을 얻게 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a7b3869e9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3a7b3869e9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LLM</a:t>
            </a:r>
            <a:r>
              <a:rPr lang="en"/>
              <a:t>이 사용자의 답변내용을 듣고 피드백을 제공합니다. 피드백 기준은 ‘내용 적합성, 구조와 논리성, 구체성’ 등 이며(빨간박스!)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피드백 내용은 ‘강점,보완점,논리성 평가, 수정제안을 통한 최종 모범 답변 제시’ (파란글씨!) 입니다. 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3a915d57e96_4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9" name="Google Shape;699;g3a915d57e96_4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3a915d57e9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3a915d57e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3a915d57e96_3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g3a915d57e96_3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3a915d57e96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3a915d57e9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3a915d57e9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3a915d57e9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3a6ade43b54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1" name="Google Shape;801;g3a6ade43b54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3a915d57e96_2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2" name="Google Shape;832;g3a915d57e96_2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3a7b3869e9b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2" name="Google Shape;852;g3a7b3869e9b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39a1a32ee36_3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39a1a32ee36_3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3a7b3869e9b_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3a7b3869e9b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3a915d57e96_2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8" name="Google Shape;898;g3a915d57e96_2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3a697ca113f_1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4" name="Google Shape;924;g3a697ca113f_1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3a915d57e96_2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3a915d57e96_2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3a915d57e96_4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3a915d57e96_4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3a697ca113f_1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5" name="Google Shape;965;g3a697ca113f_1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3a915d57e96_2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9" name="Google Shape;979;g3a915d57e96_2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3a915d57e96_2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6" name="Google Shape;996;g3a915d57e96_2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3a697ca113f_1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8" name="Google Shape;1008;g3a697ca113f_1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3a915d57e96_4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2" name="Google Shape;1022;g3a915d57e96_4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3a938dd844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3a938dd844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g3a915d57e96_3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" name="Google Shape;1048;g3a915d57e96_3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3a915d57e96_4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g3a915d57e96_4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713225" y="2205375"/>
            <a:ext cx="5257800" cy="161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>
                <a:solidFill>
                  <a:srgbClr val="24116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713225" y="3885650"/>
            <a:ext cx="3690600" cy="4686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0" y="0"/>
            <a:ext cx="4727801" cy="2256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4047175" y="2388500"/>
            <a:ext cx="4383600" cy="16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hasCustomPrompt="1" idx="2" type="title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pic>
        <p:nvPicPr>
          <p:cNvPr id="17" name="Google Shape;1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4416200" y="2886625"/>
            <a:ext cx="4727801" cy="2256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4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21" name="Google Shape;21;p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22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" name="Google Shape;23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720000" y="1090229"/>
            <a:ext cx="7704000" cy="34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25" name="Google Shape;25;p4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26" name="Google Shape;26;p4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subTitle"/>
          </p:nvPr>
        </p:nvSpPr>
        <p:spPr>
          <a:xfrm>
            <a:off x="4911639" y="2679824"/>
            <a:ext cx="2424300" cy="15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subTitle"/>
          </p:nvPr>
        </p:nvSpPr>
        <p:spPr>
          <a:xfrm>
            <a:off x="1808050" y="2679824"/>
            <a:ext cx="2424300" cy="15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3" type="subTitle"/>
          </p:nvPr>
        </p:nvSpPr>
        <p:spPr>
          <a:xfrm>
            <a:off x="1808050" y="2244217"/>
            <a:ext cx="2424300" cy="44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4" type="subTitle"/>
          </p:nvPr>
        </p:nvSpPr>
        <p:spPr>
          <a:xfrm>
            <a:off x="4911639" y="2244217"/>
            <a:ext cx="2424300" cy="44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35" name="Google Shape;35;p5"/>
          <p:cNvGrpSpPr/>
          <p:nvPr/>
        </p:nvGrpSpPr>
        <p:grpSpPr>
          <a:xfrm>
            <a:off x="0" y="4"/>
            <a:ext cx="9144004" cy="5143496"/>
            <a:chOff x="0" y="4"/>
            <a:chExt cx="9144004" cy="5143496"/>
          </a:xfrm>
        </p:grpSpPr>
        <p:pic>
          <p:nvPicPr>
            <p:cNvPr id="36" name="Google Shape;36;p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" name="Google Shape;37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" name="Google Shape;38;p5"/>
          <p:cNvGrpSpPr/>
          <p:nvPr/>
        </p:nvGrpSpPr>
        <p:grpSpPr>
          <a:xfrm flipH="1" rot="-10539848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39" name="Google Shape;39;p5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44" name="Google Shape;44;p6"/>
          <p:cNvGrpSpPr/>
          <p:nvPr/>
        </p:nvGrpSpPr>
        <p:grpSpPr>
          <a:xfrm>
            <a:off x="0" y="4"/>
            <a:ext cx="9144004" cy="5143496"/>
            <a:chOff x="0" y="4"/>
            <a:chExt cx="9144004" cy="5143496"/>
          </a:xfrm>
        </p:grpSpPr>
        <p:pic>
          <p:nvPicPr>
            <p:cNvPr id="45" name="Google Shape;45;p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" name="Google Shape;46;p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7" name="Google Shape;47;p6"/>
          <p:cNvGrpSpPr/>
          <p:nvPr/>
        </p:nvGrpSpPr>
        <p:grpSpPr>
          <a:xfrm flipH="1" rot="-10539848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48" name="Google Shape;48;p6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6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" name="Google Shape;50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/>
          <p:nvPr>
            <p:ph type="title"/>
          </p:nvPr>
        </p:nvSpPr>
        <p:spPr>
          <a:xfrm>
            <a:off x="811975" y="829350"/>
            <a:ext cx="3993300" cy="9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" type="subTitle"/>
          </p:nvPr>
        </p:nvSpPr>
        <p:spPr>
          <a:xfrm>
            <a:off x="811975" y="1878550"/>
            <a:ext cx="39933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AutoNum type="arabicPeriod"/>
              <a:defRPr/>
            </a:lvl1pPr>
            <a:lvl2pPr lvl="1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/>
        </p:txBody>
      </p:sp>
      <p:sp>
        <p:nvSpPr>
          <p:cNvPr id="54" name="Google Shape;54;p7"/>
          <p:cNvSpPr/>
          <p:nvPr>
            <p:ph idx="2" type="pic"/>
          </p:nvPr>
        </p:nvSpPr>
        <p:spPr>
          <a:xfrm>
            <a:off x="5088475" y="770400"/>
            <a:ext cx="3081600" cy="3602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55" name="Google Shape;55;p7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56" name="Google Shape;56;p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57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8" name="Google Shape;58;p7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59" name="Google Shape;59;p7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7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" name="Google Shape;61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8"/>
          <p:cNvGrpSpPr/>
          <p:nvPr/>
        </p:nvGrpSpPr>
        <p:grpSpPr>
          <a:xfrm>
            <a:off x="10" y="0"/>
            <a:ext cx="9143991" cy="5143500"/>
            <a:chOff x="10" y="0"/>
            <a:chExt cx="9143991" cy="5143500"/>
          </a:xfrm>
        </p:grpSpPr>
        <p:pic>
          <p:nvPicPr>
            <p:cNvPr id="64" name="Google Shape;64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4416200" y="2886625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6" name="Google Shape;66;p8"/>
          <p:cNvGrpSpPr/>
          <p:nvPr/>
        </p:nvGrpSpPr>
        <p:grpSpPr>
          <a:xfrm rot="756538">
            <a:off x="5159567" y="-1927047"/>
            <a:ext cx="4574157" cy="3479412"/>
            <a:chOff x="1522650" y="1117750"/>
            <a:chExt cx="4574075" cy="3479350"/>
          </a:xfrm>
        </p:grpSpPr>
        <p:sp>
          <p:nvSpPr>
            <p:cNvPr id="67" name="Google Shape;67;p8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8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" name="Google Shape;69;p8"/>
          <p:cNvSpPr txBox="1"/>
          <p:nvPr>
            <p:ph type="title"/>
          </p:nvPr>
        </p:nvSpPr>
        <p:spPr>
          <a:xfrm>
            <a:off x="3830000" y="17164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0" name="Google Shape;70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9"/>
          <p:cNvGrpSpPr/>
          <p:nvPr/>
        </p:nvGrpSpPr>
        <p:grpSpPr>
          <a:xfrm rot="756538">
            <a:off x="-714808" y="-2409347"/>
            <a:ext cx="4574157" cy="3479412"/>
            <a:chOff x="1522650" y="1117750"/>
            <a:chExt cx="4574075" cy="3479350"/>
          </a:xfrm>
        </p:grpSpPr>
        <p:sp>
          <p:nvSpPr>
            <p:cNvPr id="73" name="Google Shape;73;p9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9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" name="Google Shape;75;p9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76" name="Google Shape;76;p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10800000">
              <a:off x="57388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" name="Google Shape;77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0" y="0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8" name="Google Shape;78;p9"/>
          <p:cNvSpPr txBox="1"/>
          <p:nvPr>
            <p:ph type="title"/>
          </p:nvPr>
        </p:nvSpPr>
        <p:spPr>
          <a:xfrm>
            <a:off x="713225" y="1528900"/>
            <a:ext cx="4872900" cy="196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" name="Google Shape;79;p9"/>
          <p:cNvSpPr txBox="1"/>
          <p:nvPr>
            <p:ph idx="1" type="subTitle"/>
          </p:nvPr>
        </p:nvSpPr>
        <p:spPr>
          <a:xfrm>
            <a:off x="713225" y="3640050"/>
            <a:ext cx="4872900" cy="4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0"/>
          <p:cNvSpPr txBox="1"/>
          <p:nvPr>
            <p:ph type="title"/>
          </p:nvPr>
        </p:nvSpPr>
        <p:spPr>
          <a:xfrm>
            <a:off x="720000" y="4014450"/>
            <a:ext cx="5713200" cy="5727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84" name="Google Shape;84;p10"/>
          <p:cNvGrpSpPr/>
          <p:nvPr/>
        </p:nvGrpSpPr>
        <p:grpSpPr>
          <a:xfrm>
            <a:off x="0" y="4"/>
            <a:ext cx="9144004" cy="5143496"/>
            <a:chOff x="0" y="4"/>
            <a:chExt cx="9144004" cy="5143496"/>
          </a:xfrm>
        </p:grpSpPr>
        <p:pic>
          <p:nvPicPr>
            <p:cNvPr id="85" name="Google Shape;85;p1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" name="Google Shape;86;p1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7" name="Google Shape;87;p10"/>
          <p:cNvGrpSpPr/>
          <p:nvPr/>
        </p:nvGrpSpPr>
        <p:grpSpPr>
          <a:xfrm>
            <a:off x="-896231" y="-2525369"/>
            <a:ext cx="11703669" cy="10221582"/>
            <a:chOff x="-896231" y="-2525369"/>
            <a:chExt cx="11703669" cy="10221582"/>
          </a:xfrm>
        </p:grpSpPr>
        <p:grpSp>
          <p:nvGrpSpPr>
            <p:cNvPr id="88" name="Google Shape;88;p10"/>
            <p:cNvGrpSpPr/>
            <p:nvPr/>
          </p:nvGrpSpPr>
          <p:grpSpPr>
            <a:xfrm flipH="1" rot="-10539848">
              <a:off x="6108563" y="4049075"/>
              <a:ext cx="4573901" cy="3479217"/>
              <a:chOff x="1522650" y="1117750"/>
              <a:chExt cx="4574075" cy="3479350"/>
            </a:xfrm>
          </p:grpSpPr>
          <p:sp>
            <p:nvSpPr>
              <p:cNvPr id="89" name="Google Shape;89;p10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rect b="b" l="l" r="r" t="t"/>
                <a:pathLst>
                  <a:path extrusionOk="0" h="128684" w="151633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10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rect b="b" l="l" r="r" t="t"/>
                <a:pathLst>
                  <a:path extrusionOk="0" h="42334" w="96695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1" name="Google Shape;91;p10"/>
            <p:cNvGrpSpPr/>
            <p:nvPr/>
          </p:nvGrpSpPr>
          <p:grpSpPr>
            <a:xfrm>
              <a:off x="-896231" y="-2525369"/>
              <a:ext cx="4573618" cy="3479002"/>
              <a:chOff x="1522650" y="1117750"/>
              <a:chExt cx="4574075" cy="3479350"/>
            </a:xfrm>
          </p:grpSpPr>
          <p:sp>
            <p:nvSpPr>
              <p:cNvPr id="92" name="Google Shape;92;p10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rect b="b" l="l" r="r" t="t"/>
                <a:pathLst>
                  <a:path extrusionOk="0" h="128684" w="151633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10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rect b="b" l="l" r="r" t="t"/>
                <a:pathLst>
                  <a:path extrusionOk="0" h="42334" w="96695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4" name="Google Shape;94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/>
          <p:nvPr>
            <p:ph hasCustomPrompt="1" type="title"/>
          </p:nvPr>
        </p:nvSpPr>
        <p:spPr>
          <a:xfrm>
            <a:off x="4076350" y="2296400"/>
            <a:ext cx="3843300" cy="10851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7" name="Google Shape;97;p11"/>
          <p:cNvSpPr txBox="1"/>
          <p:nvPr>
            <p:ph idx="1" type="subTitle"/>
          </p:nvPr>
        </p:nvSpPr>
        <p:spPr>
          <a:xfrm>
            <a:off x="4076350" y="3426700"/>
            <a:ext cx="38433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id="98" name="Google Shape;9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4416200" y="2886625"/>
            <a:ext cx="4727801" cy="225687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4" name="Google Shape;104;p13"/>
          <p:cNvSpPr txBox="1"/>
          <p:nvPr>
            <p:ph hasCustomPrompt="1" idx="2" type="title"/>
          </p:nvPr>
        </p:nvSpPr>
        <p:spPr>
          <a:xfrm>
            <a:off x="720000" y="1480883"/>
            <a:ext cx="734700" cy="4476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5" name="Google Shape;105;p13"/>
          <p:cNvSpPr txBox="1"/>
          <p:nvPr>
            <p:ph hasCustomPrompt="1" idx="3" type="title"/>
          </p:nvPr>
        </p:nvSpPr>
        <p:spPr>
          <a:xfrm>
            <a:off x="720000" y="2990491"/>
            <a:ext cx="734700" cy="4476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6" name="Google Shape;106;p13"/>
          <p:cNvSpPr txBox="1"/>
          <p:nvPr>
            <p:ph hasCustomPrompt="1" idx="4" type="title"/>
          </p:nvPr>
        </p:nvSpPr>
        <p:spPr>
          <a:xfrm>
            <a:off x="3306000" y="1480883"/>
            <a:ext cx="734700" cy="4476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3"/>
          <p:cNvSpPr txBox="1"/>
          <p:nvPr>
            <p:ph hasCustomPrompt="1" idx="5" type="title"/>
          </p:nvPr>
        </p:nvSpPr>
        <p:spPr>
          <a:xfrm>
            <a:off x="3306000" y="2990491"/>
            <a:ext cx="734700" cy="4476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8" name="Google Shape;108;p13"/>
          <p:cNvSpPr txBox="1"/>
          <p:nvPr>
            <p:ph hasCustomPrompt="1" idx="6" type="title"/>
          </p:nvPr>
        </p:nvSpPr>
        <p:spPr>
          <a:xfrm>
            <a:off x="5892000" y="1480883"/>
            <a:ext cx="734700" cy="4476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/>
          <p:nvPr>
            <p:ph hasCustomPrompt="1" idx="7" type="title"/>
          </p:nvPr>
        </p:nvSpPr>
        <p:spPr>
          <a:xfrm>
            <a:off x="5892000" y="2990491"/>
            <a:ext cx="734700" cy="4476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0" name="Google Shape;110;p13"/>
          <p:cNvSpPr txBox="1"/>
          <p:nvPr>
            <p:ph idx="1" type="subTitle"/>
          </p:nvPr>
        </p:nvSpPr>
        <p:spPr>
          <a:xfrm>
            <a:off x="720000" y="2026450"/>
            <a:ext cx="2532000" cy="5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1" name="Google Shape;111;p13"/>
          <p:cNvSpPr txBox="1"/>
          <p:nvPr>
            <p:ph idx="8" type="subTitle"/>
          </p:nvPr>
        </p:nvSpPr>
        <p:spPr>
          <a:xfrm>
            <a:off x="3306000" y="2026450"/>
            <a:ext cx="2532000" cy="5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9" type="subTitle"/>
          </p:nvPr>
        </p:nvSpPr>
        <p:spPr>
          <a:xfrm>
            <a:off x="5892000" y="2026450"/>
            <a:ext cx="2532000" cy="5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13" type="subTitle"/>
          </p:nvPr>
        </p:nvSpPr>
        <p:spPr>
          <a:xfrm>
            <a:off x="720000" y="3544900"/>
            <a:ext cx="2532000" cy="4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14" type="subTitle"/>
          </p:nvPr>
        </p:nvSpPr>
        <p:spPr>
          <a:xfrm>
            <a:off x="3306000" y="3544900"/>
            <a:ext cx="2532000" cy="4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15" type="subTitle"/>
          </p:nvPr>
        </p:nvSpPr>
        <p:spPr>
          <a:xfrm>
            <a:off x="5892000" y="3544900"/>
            <a:ext cx="2532000" cy="4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116" name="Google Shape;116;p13"/>
          <p:cNvGrpSpPr/>
          <p:nvPr/>
        </p:nvGrpSpPr>
        <p:grpSpPr>
          <a:xfrm>
            <a:off x="0" y="4"/>
            <a:ext cx="9144004" cy="5143496"/>
            <a:chOff x="0" y="4"/>
            <a:chExt cx="9144004" cy="5143496"/>
          </a:xfrm>
        </p:grpSpPr>
        <p:pic>
          <p:nvPicPr>
            <p:cNvPr id="117" name="Google Shape;117;p1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" name="Google Shape;118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9" name="Google Shape;119;p13"/>
          <p:cNvGrpSpPr/>
          <p:nvPr/>
        </p:nvGrpSpPr>
        <p:grpSpPr>
          <a:xfrm flipH="1" rot="-10539848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120" name="Google Shape;120;p13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3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p14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125" name="Google Shape;125;p1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" name="Google Shape;126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7" name="Google Shape;127;p14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128" name="Google Shape;128;p14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4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0" name="Google Shape;130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1" name="Google Shape;131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5"/>
          <p:cNvGrpSpPr/>
          <p:nvPr/>
        </p:nvGrpSpPr>
        <p:grpSpPr>
          <a:xfrm>
            <a:off x="0" y="4"/>
            <a:ext cx="9144004" cy="5143496"/>
            <a:chOff x="0" y="4"/>
            <a:chExt cx="9144004" cy="5143496"/>
          </a:xfrm>
        </p:grpSpPr>
        <p:pic>
          <p:nvPicPr>
            <p:cNvPr id="134" name="Google Shape;134;p1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5" name="Google Shape;135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6" name="Google Shape;136;p15"/>
          <p:cNvGrpSpPr/>
          <p:nvPr/>
        </p:nvGrpSpPr>
        <p:grpSpPr>
          <a:xfrm flipH="1" rot="-10539848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137" name="Google Shape;137;p15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5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5"/>
          <p:cNvSpPr txBox="1"/>
          <p:nvPr>
            <p:ph type="title"/>
          </p:nvPr>
        </p:nvSpPr>
        <p:spPr>
          <a:xfrm>
            <a:off x="3889175" y="1000050"/>
            <a:ext cx="3205500" cy="10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0" name="Google Shape;140;p15"/>
          <p:cNvSpPr txBox="1"/>
          <p:nvPr>
            <p:ph idx="1" type="subTitle"/>
          </p:nvPr>
        </p:nvSpPr>
        <p:spPr>
          <a:xfrm>
            <a:off x="3889175" y="2131950"/>
            <a:ext cx="4185300" cy="20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/>
        </p:txBody>
      </p:sp>
      <p:sp>
        <p:nvSpPr>
          <p:cNvPr id="141" name="Google Shape;141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_1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16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144" name="Google Shape;144;p1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6" name="Google Shape;146;p16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147" name="Google Shape;147;p16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6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9" name="Google Shape;149;p16"/>
          <p:cNvSpPr txBox="1"/>
          <p:nvPr>
            <p:ph type="title"/>
          </p:nvPr>
        </p:nvSpPr>
        <p:spPr>
          <a:xfrm>
            <a:off x="713225" y="707075"/>
            <a:ext cx="2345400" cy="97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0" name="Google Shape;150;p16"/>
          <p:cNvSpPr txBox="1"/>
          <p:nvPr>
            <p:ph idx="1" type="subTitle"/>
          </p:nvPr>
        </p:nvSpPr>
        <p:spPr>
          <a:xfrm>
            <a:off x="713225" y="1606775"/>
            <a:ext cx="2345400" cy="112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1" name="Google Shape;151;p16"/>
          <p:cNvSpPr/>
          <p:nvPr>
            <p:ph idx="2" type="pic"/>
          </p:nvPr>
        </p:nvSpPr>
        <p:spPr>
          <a:xfrm>
            <a:off x="5588500" y="539500"/>
            <a:ext cx="2801100" cy="4064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2" name="Google Shape;152;p16"/>
          <p:cNvSpPr/>
          <p:nvPr>
            <p:ph idx="3" type="pic"/>
          </p:nvPr>
        </p:nvSpPr>
        <p:spPr>
          <a:xfrm>
            <a:off x="3171450" y="539500"/>
            <a:ext cx="2304300" cy="2285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3" name="Google Shape;153;p16"/>
          <p:cNvSpPr/>
          <p:nvPr>
            <p:ph idx="4" type="pic"/>
          </p:nvPr>
        </p:nvSpPr>
        <p:spPr>
          <a:xfrm>
            <a:off x="3171450" y="2953775"/>
            <a:ext cx="2304300" cy="1650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4" name="Google Shape;154;p16"/>
          <p:cNvSpPr/>
          <p:nvPr>
            <p:ph idx="5" type="pic"/>
          </p:nvPr>
        </p:nvSpPr>
        <p:spPr>
          <a:xfrm>
            <a:off x="754400" y="2953775"/>
            <a:ext cx="2304300" cy="1650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5" name="Google Shape;155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2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oogle Shape;157;p17"/>
          <p:cNvGrpSpPr/>
          <p:nvPr/>
        </p:nvGrpSpPr>
        <p:grpSpPr>
          <a:xfrm>
            <a:off x="0" y="4"/>
            <a:ext cx="9144004" cy="5143496"/>
            <a:chOff x="0" y="4"/>
            <a:chExt cx="9144004" cy="5143496"/>
          </a:xfrm>
        </p:grpSpPr>
        <p:pic>
          <p:nvPicPr>
            <p:cNvPr id="158" name="Google Shape;158;p1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0" name="Google Shape;160;p17"/>
          <p:cNvGrpSpPr/>
          <p:nvPr/>
        </p:nvGrpSpPr>
        <p:grpSpPr>
          <a:xfrm flipH="1" rot="-10539848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161" name="Google Shape;161;p17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7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3" name="Google Shape;163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4" name="Google Shape;164;p17"/>
          <p:cNvSpPr txBox="1"/>
          <p:nvPr>
            <p:ph idx="1" type="subTitle"/>
          </p:nvPr>
        </p:nvSpPr>
        <p:spPr>
          <a:xfrm>
            <a:off x="719975" y="1164450"/>
            <a:ext cx="3748800" cy="11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5" name="Google Shape;165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3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Google Shape;167;p18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168" name="Google Shape;168;p1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" name="Google Shape;169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0" name="Google Shape;170;p18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171" name="Google Shape;171;p18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8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3" name="Google Shape;173;p18"/>
          <p:cNvSpPr txBox="1"/>
          <p:nvPr>
            <p:ph idx="1" type="subTitle"/>
          </p:nvPr>
        </p:nvSpPr>
        <p:spPr>
          <a:xfrm>
            <a:off x="719975" y="1393800"/>
            <a:ext cx="5015400" cy="22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74" name="Google Shape;174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5" name="Google Shape;175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oogle Shape;177;p19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178" name="Google Shape;178;p1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9" name="Google Shape;179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0" name="Google Shape;180;p19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181" name="Google Shape;181;p19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9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3" name="Google Shape;183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4" name="Google Shape;184;p19"/>
          <p:cNvSpPr txBox="1"/>
          <p:nvPr>
            <p:ph idx="1" type="subTitle"/>
          </p:nvPr>
        </p:nvSpPr>
        <p:spPr>
          <a:xfrm>
            <a:off x="865525" y="2741725"/>
            <a:ext cx="2189400" cy="18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5" name="Google Shape;185;p19"/>
          <p:cNvSpPr txBox="1"/>
          <p:nvPr>
            <p:ph idx="2" type="subTitle"/>
          </p:nvPr>
        </p:nvSpPr>
        <p:spPr>
          <a:xfrm>
            <a:off x="3433873" y="2741725"/>
            <a:ext cx="2189400" cy="18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6" name="Google Shape;186;p19"/>
          <p:cNvSpPr txBox="1"/>
          <p:nvPr>
            <p:ph idx="3" type="subTitle"/>
          </p:nvPr>
        </p:nvSpPr>
        <p:spPr>
          <a:xfrm>
            <a:off x="6002228" y="2741725"/>
            <a:ext cx="2189400" cy="18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7" name="Google Shape;187;p19"/>
          <p:cNvSpPr txBox="1"/>
          <p:nvPr>
            <p:ph idx="4" type="subTitle"/>
          </p:nvPr>
        </p:nvSpPr>
        <p:spPr>
          <a:xfrm>
            <a:off x="865525" y="2046500"/>
            <a:ext cx="2189400" cy="7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88" name="Google Shape;188;p19"/>
          <p:cNvSpPr txBox="1"/>
          <p:nvPr>
            <p:ph idx="5" type="subTitle"/>
          </p:nvPr>
        </p:nvSpPr>
        <p:spPr>
          <a:xfrm>
            <a:off x="3433878" y="2046500"/>
            <a:ext cx="2189400" cy="7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89" name="Google Shape;189;p19"/>
          <p:cNvSpPr txBox="1"/>
          <p:nvPr>
            <p:ph idx="6" type="subTitle"/>
          </p:nvPr>
        </p:nvSpPr>
        <p:spPr>
          <a:xfrm>
            <a:off x="6002231" y="2046500"/>
            <a:ext cx="2189400" cy="7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90" name="Google Shape;190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20"/>
          <p:cNvGrpSpPr/>
          <p:nvPr/>
        </p:nvGrpSpPr>
        <p:grpSpPr>
          <a:xfrm>
            <a:off x="0" y="4"/>
            <a:ext cx="9144004" cy="5143496"/>
            <a:chOff x="0" y="4"/>
            <a:chExt cx="9144004" cy="5143496"/>
          </a:xfrm>
        </p:grpSpPr>
        <p:pic>
          <p:nvPicPr>
            <p:cNvPr id="193" name="Google Shape;193;p2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" name="Google Shape;194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5" name="Google Shape;195;p20"/>
          <p:cNvGrpSpPr/>
          <p:nvPr/>
        </p:nvGrpSpPr>
        <p:grpSpPr>
          <a:xfrm flipH="1" rot="-10539848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196" name="Google Shape;196;p20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0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8" name="Google Shape;198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9" name="Google Shape;199;p20"/>
          <p:cNvSpPr txBox="1"/>
          <p:nvPr>
            <p:ph idx="1" type="subTitle"/>
          </p:nvPr>
        </p:nvSpPr>
        <p:spPr>
          <a:xfrm>
            <a:off x="1225674" y="1659425"/>
            <a:ext cx="32187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0" name="Google Shape;200;p20"/>
          <p:cNvSpPr txBox="1"/>
          <p:nvPr>
            <p:ph idx="2" type="subTitle"/>
          </p:nvPr>
        </p:nvSpPr>
        <p:spPr>
          <a:xfrm>
            <a:off x="5052125" y="1659425"/>
            <a:ext cx="32187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1" name="Google Shape;201;p20"/>
          <p:cNvSpPr txBox="1"/>
          <p:nvPr>
            <p:ph idx="3" type="subTitle"/>
          </p:nvPr>
        </p:nvSpPr>
        <p:spPr>
          <a:xfrm>
            <a:off x="1225674" y="3320000"/>
            <a:ext cx="32187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2" name="Google Shape;202;p20"/>
          <p:cNvSpPr txBox="1"/>
          <p:nvPr>
            <p:ph idx="4" type="subTitle"/>
          </p:nvPr>
        </p:nvSpPr>
        <p:spPr>
          <a:xfrm>
            <a:off x="5052125" y="3320000"/>
            <a:ext cx="32187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3" name="Google Shape;203;p20"/>
          <p:cNvSpPr txBox="1"/>
          <p:nvPr>
            <p:ph idx="5" type="subTitle"/>
          </p:nvPr>
        </p:nvSpPr>
        <p:spPr>
          <a:xfrm>
            <a:off x="1225675" y="1331675"/>
            <a:ext cx="32187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4" name="Google Shape;204;p20"/>
          <p:cNvSpPr txBox="1"/>
          <p:nvPr>
            <p:ph idx="6" type="subTitle"/>
          </p:nvPr>
        </p:nvSpPr>
        <p:spPr>
          <a:xfrm>
            <a:off x="1225675" y="2992275"/>
            <a:ext cx="32187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5" name="Google Shape;205;p20"/>
          <p:cNvSpPr txBox="1"/>
          <p:nvPr>
            <p:ph idx="7" type="subTitle"/>
          </p:nvPr>
        </p:nvSpPr>
        <p:spPr>
          <a:xfrm>
            <a:off x="5052099" y="1331675"/>
            <a:ext cx="32187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6" name="Google Shape;206;p20"/>
          <p:cNvSpPr txBox="1"/>
          <p:nvPr>
            <p:ph idx="8" type="subTitle"/>
          </p:nvPr>
        </p:nvSpPr>
        <p:spPr>
          <a:xfrm>
            <a:off x="5052099" y="2992275"/>
            <a:ext cx="32187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7" name="Google Shape;207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21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210" name="Google Shape;210;p2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" name="Google Shape;211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2" name="Google Shape;212;p21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213" name="Google Shape;213;p21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1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5" name="Google Shape;215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6" name="Google Shape;216;p21"/>
          <p:cNvSpPr txBox="1"/>
          <p:nvPr>
            <p:ph idx="1" type="subTitle"/>
          </p:nvPr>
        </p:nvSpPr>
        <p:spPr>
          <a:xfrm>
            <a:off x="1162025" y="1656927"/>
            <a:ext cx="19752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7" name="Google Shape;217;p21"/>
          <p:cNvSpPr txBox="1"/>
          <p:nvPr>
            <p:ph idx="2" type="subTitle"/>
          </p:nvPr>
        </p:nvSpPr>
        <p:spPr>
          <a:xfrm>
            <a:off x="3782975" y="1656925"/>
            <a:ext cx="19722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8" name="Google Shape;218;p21"/>
          <p:cNvSpPr txBox="1"/>
          <p:nvPr>
            <p:ph idx="3" type="subTitle"/>
          </p:nvPr>
        </p:nvSpPr>
        <p:spPr>
          <a:xfrm>
            <a:off x="1162025" y="3387221"/>
            <a:ext cx="19752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9" name="Google Shape;219;p21"/>
          <p:cNvSpPr txBox="1"/>
          <p:nvPr>
            <p:ph idx="4" type="subTitle"/>
          </p:nvPr>
        </p:nvSpPr>
        <p:spPr>
          <a:xfrm>
            <a:off x="3782975" y="3387221"/>
            <a:ext cx="19752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0" name="Google Shape;220;p21"/>
          <p:cNvSpPr txBox="1"/>
          <p:nvPr>
            <p:ph idx="5" type="subTitle"/>
          </p:nvPr>
        </p:nvSpPr>
        <p:spPr>
          <a:xfrm>
            <a:off x="6403925" y="1656927"/>
            <a:ext cx="19752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1" name="Google Shape;221;p21"/>
          <p:cNvSpPr txBox="1"/>
          <p:nvPr>
            <p:ph idx="6" type="subTitle"/>
          </p:nvPr>
        </p:nvSpPr>
        <p:spPr>
          <a:xfrm>
            <a:off x="6403925" y="3387221"/>
            <a:ext cx="19752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2" name="Google Shape;222;p21"/>
          <p:cNvSpPr txBox="1"/>
          <p:nvPr>
            <p:ph idx="7" type="subTitle"/>
          </p:nvPr>
        </p:nvSpPr>
        <p:spPr>
          <a:xfrm>
            <a:off x="1162025" y="1359241"/>
            <a:ext cx="1975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3" name="Google Shape;223;p21"/>
          <p:cNvSpPr txBox="1"/>
          <p:nvPr>
            <p:ph idx="8" type="subTitle"/>
          </p:nvPr>
        </p:nvSpPr>
        <p:spPr>
          <a:xfrm>
            <a:off x="3782975" y="1359241"/>
            <a:ext cx="1972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4" name="Google Shape;224;p21"/>
          <p:cNvSpPr txBox="1"/>
          <p:nvPr>
            <p:ph idx="9" type="subTitle"/>
          </p:nvPr>
        </p:nvSpPr>
        <p:spPr>
          <a:xfrm>
            <a:off x="6403925" y="1359241"/>
            <a:ext cx="19728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5" name="Google Shape;225;p21"/>
          <p:cNvSpPr txBox="1"/>
          <p:nvPr>
            <p:ph idx="13" type="subTitle"/>
          </p:nvPr>
        </p:nvSpPr>
        <p:spPr>
          <a:xfrm>
            <a:off x="1162025" y="3086317"/>
            <a:ext cx="1975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6" name="Google Shape;226;p21"/>
          <p:cNvSpPr txBox="1"/>
          <p:nvPr>
            <p:ph idx="14" type="subTitle"/>
          </p:nvPr>
        </p:nvSpPr>
        <p:spPr>
          <a:xfrm>
            <a:off x="3782975" y="3086317"/>
            <a:ext cx="1972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7" name="Google Shape;227;p21"/>
          <p:cNvSpPr txBox="1"/>
          <p:nvPr>
            <p:ph idx="15" type="subTitle"/>
          </p:nvPr>
        </p:nvSpPr>
        <p:spPr>
          <a:xfrm>
            <a:off x="6403925" y="3086317"/>
            <a:ext cx="19728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8" name="Google Shape;228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2"/>
          <p:cNvSpPr txBox="1"/>
          <p:nvPr>
            <p:ph hasCustomPrompt="1" type="title"/>
          </p:nvPr>
        </p:nvSpPr>
        <p:spPr>
          <a:xfrm>
            <a:off x="1200575" y="2266166"/>
            <a:ext cx="2739300" cy="6675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1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1" name="Google Shape;231;p22"/>
          <p:cNvSpPr txBox="1"/>
          <p:nvPr>
            <p:ph idx="1" type="subTitle"/>
          </p:nvPr>
        </p:nvSpPr>
        <p:spPr>
          <a:xfrm>
            <a:off x="1200575" y="2948884"/>
            <a:ext cx="2739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32" name="Google Shape;232;p22"/>
          <p:cNvSpPr txBox="1"/>
          <p:nvPr>
            <p:ph hasCustomPrompt="1" idx="2" type="title"/>
          </p:nvPr>
        </p:nvSpPr>
        <p:spPr>
          <a:xfrm>
            <a:off x="1200575" y="977950"/>
            <a:ext cx="2739300" cy="6663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1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3" name="Google Shape;233;p22"/>
          <p:cNvSpPr txBox="1"/>
          <p:nvPr>
            <p:ph idx="3" type="subTitle"/>
          </p:nvPr>
        </p:nvSpPr>
        <p:spPr>
          <a:xfrm>
            <a:off x="1200575" y="1669422"/>
            <a:ext cx="27393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34" name="Google Shape;234;p22"/>
          <p:cNvSpPr txBox="1"/>
          <p:nvPr>
            <p:ph hasCustomPrompt="1" idx="4" type="title"/>
          </p:nvPr>
        </p:nvSpPr>
        <p:spPr>
          <a:xfrm>
            <a:off x="1200575" y="3555582"/>
            <a:ext cx="2739300" cy="6675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1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5" name="Google Shape;235;p22"/>
          <p:cNvSpPr txBox="1"/>
          <p:nvPr>
            <p:ph idx="5" type="subTitle"/>
          </p:nvPr>
        </p:nvSpPr>
        <p:spPr>
          <a:xfrm>
            <a:off x="1200575" y="4238300"/>
            <a:ext cx="2739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pic>
        <p:nvPicPr>
          <p:cNvPr id="236" name="Google Shape;236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0" y="0"/>
            <a:ext cx="4727801" cy="225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3"/>
          <p:cNvSpPr txBox="1"/>
          <p:nvPr>
            <p:ph type="title"/>
          </p:nvPr>
        </p:nvSpPr>
        <p:spPr>
          <a:xfrm>
            <a:off x="713225" y="747263"/>
            <a:ext cx="3281700" cy="95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0" name="Google Shape;240;p23"/>
          <p:cNvSpPr txBox="1"/>
          <p:nvPr>
            <p:ph idx="1" type="subTitle"/>
          </p:nvPr>
        </p:nvSpPr>
        <p:spPr>
          <a:xfrm>
            <a:off x="713225" y="1584449"/>
            <a:ext cx="32817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pic>
        <p:nvPicPr>
          <p:cNvPr id="241" name="Google Shape;24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0" y="0"/>
            <a:ext cx="4727801" cy="225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3"/>
          <p:cNvSpPr txBox="1"/>
          <p:nvPr/>
        </p:nvSpPr>
        <p:spPr>
          <a:xfrm>
            <a:off x="713225" y="3410538"/>
            <a:ext cx="3278700" cy="7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CREDITS:</a:t>
            </a:r>
            <a:r>
              <a:rPr lang="en" sz="10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 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000" u="sng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endParaRPr b="1" sz="1000" u="sng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43" name="Google Shape;243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oogle Shape;245;p24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246" name="Google Shape;246;p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10800000">
              <a:off x="0" y="0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" name="Google Shape;247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57388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8" name="Google Shape;248;p24"/>
          <p:cNvGrpSpPr/>
          <p:nvPr/>
        </p:nvGrpSpPr>
        <p:grpSpPr>
          <a:xfrm rot="756538">
            <a:off x="-1069833" y="-1842572"/>
            <a:ext cx="4574157" cy="3479412"/>
            <a:chOff x="1522650" y="1117750"/>
            <a:chExt cx="4574075" cy="3479350"/>
          </a:xfrm>
        </p:grpSpPr>
        <p:sp>
          <p:nvSpPr>
            <p:cNvPr id="249" name="Google Shape;249;p24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4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1" name="Google Shape;251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253;p25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254" name="Google Shape;254;p2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" name="Google Shape;255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6" name="Google Shape;256;p25"/>
          <p:cNvGrpSpPr/>
          <p:nvPr/>
        </p:nvGrpSpPr>
        <p:grpSpPr>
          <a:xfrm>
            <a:off x="-1845124" y="-2180828"/>
            <a:ext cx="12652562" cy="9877041"/>
            <a:chOff x="-1845124" y="-2180828"/>
            <a:chExt cx="12652562" cy="9877041"/>
          </a:xfrm>
        </p:grpSpPr>
        <p:grpSp>
          <p:nvGrpSpPr>
            <p:cNvPr id="257" name="Google Shape;257;p25"/>
            <p:cNvGrpSpPr/>
            <p:nvPr/>
          </p:nvGrpSpPr>
          <p:grpSpPr>
            <a:xfrm>
              <a:off x="-1845124" y="-2180828"/>
              <a:ext cx="4574075" cy="3479350"/>
              <a:chOff x="1522650" y="1117750"/>
              <a:chExt cx="4574075" cy="3479350"/>
            </a:xfrm>
          </p:grpSpPr>
          <p:sp>
            <p:nvSpPr>
              <p:cNvPr id="258" name="Google Shape;258;p25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rect b="b" l="l" r="r" t="t"/>
                <a:pathLst>
                  <a:path extrusionOk="0" h="128684" w="151633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25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rect b="b" l="l" r="r" t="t"/>
                <a:pathLst>
                  <a:path extrusionOk="0" h="42334" w="96695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0" name="Google Shape;260;p25"/>
            <p:cNvGrpSpPr/>
            <p:nvPr/>
          </p:nvGrpSpPr>
          <p:grpSpPr>
            <a:xfrm flipH="1" rot="-10539848">
              <a:off x="6108563" y="4049075"/>
              <a:ext cx="4573901" cy="3479217"/>
              <a:chOff x="1522650" y="1117750"/>
              <a:chExt cx="4574075" cy="3479350"/>
            </a:xfrm>
          </p:grpSpPr>
          <p:sp>
            <p:nvSpPr>
              <p:cNvPr id="261" name="Google Shape;261;p25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rect b="b" l="l" r="r" t="t"/>
                <a:pathLst>
                  <a:path extrusionOk="0" h="128684" w="151633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25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rect b="b" l="l" r="r" t="t"/>
                <a:pathLst>
                  <a:path extrusionOk="0" h="42334" w="96695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3" name="Google Shape;263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6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Relationship Id="rId4" Type="http://schemas.openxmlformats.org/officeDocument/2006/relationships/image" Target="../media/image18.png"/><Relationship Id="rId5" Type="http://schemas.openxmlformats.org/officeDocument/2006/relationships/image" Target="../media/image20.png"/><Relationship Id="rId6" Type="http://schemas.openxmlformats.org/officeDocument/2006/relationships/image" Target="../media/image6.png"/><Relationship Id="rId7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9.png"/><Relationship Id="rId9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23.png"/><Relationship Id="rId7" Type="http://schemas.openxmlformats.org/officeDocument/2006/relationships/image" Target="../media/image16.png"/><Relationship Id="rId8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Relationship Id="rId4" Type="http://schemas.openxmlformats.org/officeDocument/2006/relationships/image" Target="../media/image24.png"/><Relationship Id="rId5" Type="http://schemas.openxmlformats.org/officeDocument/2006/relationships/image" Target="../media/image26.png"/><Relationship Id="rId6" Type="http://schemas.openxmlformats.org/officeDocument/2006/relationships/image" Target="../media/image6.png"/><Relationship Id="rId7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9.png"/><Relationship Id="rId4" Type="http://schemas.openxmlformats.org/officeDocument/2006/relationships/image" Target="../media/image31.pn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7.png"/><Relationship Id="rId4" Type="http://schemas.openxmlformats.org/officeDocument/2006/relationships/image" Target="../media/image25.pn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1.png"/><Relationship Id="rId4" Type="http://schemas.openxmlformats.org/officeDocument/2006/relationships/image" Target="../media/image32.png"/><Relationship Id="rId5" Type="http://schemas.openxmlformats.org/officeDocument/2006/relationships/image" Target="../media/image30.png"/><Relationship Id="rId6" Type="http://schemas.openxmlformats.org/officeDocument/2006/relationships/image" Target="../media/image6.png"/><Relationship Id="rId7" Type="http://schemas.openxmlformats.org/officeDocument/2006/relationships/image" Target="../media/image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3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2.png"/><Relationship Id="rId4" Type="http://schemas.openxmlformats.org/officeDocument/2006/relationships/image" Target="../media/image36.pn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4.png"/><Relationship Id="rId4" Type="http://schemas.openxmlformats.org/officeDocument/2006/relationships/image" Target="../media/image43.png"/><Relationship Id="rId5" Type="http://schemas.openxmlformats.org/officeDocument/2006/relationships/image" Target="../media/image39.png"/><Relationship Id="rId6" Type="http://schemas.openxmlformats.org/officeDocument/2006/relationships/image" Target="../media/image6.png"/><Relationship Id="rId7" Type="http://schemas.openxmlformats.org/officeDocument/2006/relationships/image" Target="../media/image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5.png"/><Relationship Id="rId4" Type="http://schemas.openxmlformats.org/officeDocument/2006/relationships/image" Target="../media/image38.png"/><Relationship Id="rId9" Type="http://schemas.openxmlformats.org/officeDocument/2006/relationships/image" Target="../media/image5.png"/><Relationship Id="rId5" Type="http://schemas.openxmlformats.org/officeDocument/2006/relationships/image" Target="../media/image41.png"/><Relationship Id="rId6" Type="http://schemas.openxmlformats.org/officeDocument/2006/relationships/image" Target="../media/image39.png"/><Relationship Id="rId7" Type="http://schemas.openxmlformats.org/officeDocument/2006/relationships/image" Target="../media/image12.png"/><Relationship Id="rId8" Type="http://schemas.openxmlformats.org/officeDocument/2006/relationships/image" Target="../media/image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7.png"/><Relationship Id="rId4" Type="http://schemas.openxmlformats.org/officeDocument/2006/relationships/image" Target="../media/image40.pn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7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8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8" name="Google Shape;268;p26"/>
          <p:cNvGrpSpPr/>
          <p:nvPr/>
        </p:nvGrpSpPr>
        <p:grpSpPr>
          <a:xfrm rot="756538">
            <a:off x="-943408" y="-1494947"/>
            <a:ext cx="4574157" cy="3479412"/>
            <a:chOff x="1522650" y="1117750"/>
            <a:chExt cx="4574075" cy="3479350"/>
          </a:xfrm>
        </p:grpSpPr>
        <p:sp>
          <p:nvSpPr>
            <p:cNvPr id="269" name="Google Shape;269;p26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6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71" name="Google Shape;27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57388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6"/>
          <p:cNvSpPr txBox="1"/>
          <p:nvPr>
            <p:ph type="ctrTitle"/>
          </p:nvPr>
        </p:nvSpPr>
        <p:spPr>
          <a:xfrm>
            <a:off x="360345" y="1454329"/>
            <a:ext cx="8430900" cy="179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PersonaFit Interview AI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당신만의 페르소나에 맞춘, 가장 자연스러운 AI 답변 코칭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273" name="Google Shape;273;p26"/>
          <p:cNvSpPr txBox="1"/>
          <p:nvPr>
            <p:ph idx="1" type="subTitle"/>
          </p:nvPr>
        </p:nvSpPr>
        <p:spPr>
          <a:xfrm>
            <a:off x="713225" y="3924450"/>
            <a:ext cx="17055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팀원: 김민지, 김용준, 조우상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[멘토] 김진태 강사님</a:t>
            </a:r>
            <a:endParaRPr sz="1000"/>
          </a:p>
        </p:txBody>
      </p:sp>
      <p:sp>
        <p:nvSpPr>
          <p:cNvPr id="274" name="Google Shape;274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75" name="Google Shape;275;p26"/>
          <p:cNvGrpSpPr/>
          <p:nvPr/>
        </p:nvGrpSpPr>
        <p:grpSpPr>
          <a:xfrm>
            <a:off x="8068236" y="2"/>
            <a:ext cx="1075752" cy="150822"/>
            <a:chOff x="921102" y="6027409"/>
            <a:chExt cx="2680001" cy="375740"/>
          </a:xfrm>
        </p:grpSpPr>
        <p:pic>
          <p:nvPicPr>
            <p:cNvPr descr="EMB0000378c3f3d" id="276" name="Google Shape;276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7" name="Google Shape;277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r>
              <a:rPr lang="en"/>
              <a:t>able of contents</a:t>
            </a:r>
            <a:endParaRPr/>
          </a:p>
        </p:txBody>
      </p:sp>
      <p:sp>
        <p:nvSpPr>
          <p:cNvPr id="283" name="Google Shape;283;p27"/>
          <p:cNvSpPr txBox="1"/>
          <p:nvPr>
            <p:ph idx="2" type="title"/>
          </p:nvPr>
        </p:nvSpPr>
        <p:spPr>
          <a:xfrm>
            <a:off x="720000" y="1480875"/>
            <a:ext cx="477300" cy="291000"/>
          </a:xfrm>
          <a:prstGeom prst="rect">
            <a:avLst/>
          </a:prstGeom>
        </p:spPr>
        <p:txBody>
          <a:bodyPr anchorCtr="0" anchor="ctr" bIns="59400" lIns="59400" spcFirstLastPara="1" rIns="59400" wrap="square" tIns="59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49"/>
              <a:t>01</a:t>
            </a:r>
            <a:endParaRPr sz="1949"/>
          </a:p>
        </p:txBody>
      </p:sp>
      <p:sp>
        <p:nvSpPr>
          <p:cNvPr id="284" name="Google Shape;284;p27"/>
          <p:cNvSpPr txBox="1"/>
          <p:nvPr>
            <p:ph idx="3" type="title"/>
          </p:nvPr>
        </p:nvSpPr>
        <p:spPr>
          <a:xfrm>
            <a:off x="719988" y="3350129"/>
            <a:ext cx="477300" cy="291000"/>
          </a:xfrm>
          <a:prstGeom prst="rect">
            <a:avLst/>
          </a:prstGeom>
        </p:spPr>
        <p:txBody>
          <a:bodyPr anchorCtr="0" anchor="ctr" bIns="59400" lIns="59400" spcFirstLastPara="1" rIns="59400" wrap="square" tIns="59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49"/>
              <a:t>04</a:t>
            </a:r>
            <a:endParaRPr sz="1949"/>
          </a:p>
        </p:txBody>
      </p:sp>
      <p:sp>
        <p:nvSpPr>
          <p:cNvPr id="285" name="Google Shape;285;p27"/>
          <p:cNvSpPr txBox="1"/>
          <p:nvPr>
            <p:ph idx="4" type="title"/>
          </p:nvPr>
        </p:nvSpPr>
        <p:spPr>
          <a:xfrm>
            <a:off x="3362485" y="1508475"/>
            <a:ext cx="477300" cy="291000"/>
          </a:xfrm>
          <a:prstGeom prst="rect">
            <a:avLst/>
          </a:prstGeom>
        </p:spPr>
        <p:txBody>
          <a:bodyPr anchorCtr="0" anchor="ctr" bIns="59400" lIns="59400" spcFirstLastPara="1" rIns="59400" wrap="square" tIns="59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49"/>
              <a:t>02</a:t>
            </a:r>
            <a:endParaRPr sz="1949"/>
          </a:p>
        </p:txBody>
      </p:sp>
      <p:sp>
        <p:nvSpPr>
          <p:cNvPr id="286" name="Google Shape;286;p27"/>
          <p:cNvSpPr txBox="1"/>
          <p:nvPr>
            <p:ph idx="5" type="title"/>
          </p:nvPr>
        </p:nvSpPr>
        <p:spPr>
          <a:xfrm>
            <a:off x="3464523" y="3334954"/>
            <a:ext cx="477300" cy="291000"/>
          </a:xfrm>
          <a:prstGeom prst="rect">
            <a:avLst/>
          </a:prstGeom>
        </p:spPr>
        <p:txBody>
          <a:bodyPr anchorCtr="0" anchor="ctr" bIns="59400" lIns="59400" spcFirstLastPara="1" rIns="59400" wrap="square" tIns="59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49"/>
              <a:t>05</a:t>
            </a:r>
            <a:endParaRPr sz="1949"/>
          </a:p>
        </p:txBody>
      </p:sp>
      <p:sp>
        <p:nvSpPr>
          <p:cNvPr id="287" name="Google Shape;287;p27"/>
          <p:cNvSpPr txBox="1"/>
          <p:nvPr>
            <p:ph idx="6" type="title"/>
          </p:nvPr>
        </p:nvSpPr>
        <p:spPr>
          <a:xfrm>
            <a:off x="6285559" y="1508475"/>
            <a:ext cx="477300" cy="291000"/>
          </a:xfrm>
          <a:prstGeom prst="rect">
            <a:avLst/>
          </a:prstGeom>
        </p:spPr>
        <p:txBody>
          <a:bodyPr anchorCtr="0" anchor="ctr" bIns="59400" lIns="59400" spcFirstLastPara="1" rIns="59400" wrap="square" tIns="59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49"/>
              <a:t>03</a:t>
            </a:r>
            <a:endParaRPr sz="1949"/>
          </a:p>
        </p:txBody>
      </p:sp>
      <p:sp>
        <p:nvSpPr>
          <p:cNvPr id="288" name="Google Shape;288;p27"/>
          <p:cNvSpPr txBox="1"/>
          <p:nvPr>
            <p:ph idx="7" type="title"/>
          </p:nvPr>
        </p:nvSpPr>
        <p:spPr>
          <a:xfrm>
            <a:off x="6354847" y="3326929"/>
            <a:ext cx="477300" cy="291000"/>
          </a:xfrm>
          <a:prstGeom prst="rect">
            <a:avLst/>
          </a:prstGeom>
        </p:spPr>
        <p:txBody>
          <a:bodyPr anchorCtr="0" anchor="ctr" bIns="59400" lIns="59400" spcFirstLastPara="1" rIns="59400" wrap="square" tIns="59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49"/>
              <a:t>06</a:t>
            </a:r>
            <a:endParaRPr sz="1949"/>
          </a:p>
        </p:txBody>
      </p:sp>
      <p:sp>
        <p:nvSpPr>
          <p:cNvPr id="289" name="Google Shape;289;p27"/>
          <p:cNvSpPr txBox="1"/>
          <p:nvPr>
            <p:ph idx="1" type="subTitle"/>
          </p:nvPr>
        </p:nvSpPr>
        <p:spPr>
          <a:xfrm>
            <a:off x="720000" y="1951575"/>
            <a:ext cx="2068800" cy="7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Space Grotesk Light"/>
                <a:ea typeface="Space Grotesk Light"/>
                <a:cs typeface="Space Grotesk Light"/>
                <a:sym typeface="Space Grotesk Light"/>
              </a:rPr>
              <a:t>- 프로젝트 선정배경</a:t>
            </a:r>
            <a:endParaRPr sz="1000">
              <a:latin typeface="Space Grotesk Light"/>
              <a:ea typeface="Space Grotesk Light"/>
              <a:cs typeface="Space Grotesk Light"/>
              <a:sym typeface="Space Grotesk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Space Grotesk Light"/>
                <a:ea typeface="Space Grotesk Light"/>
                <a:cs typeface="Space Grotesk Light"/>
                <a:sym typeface="Space Grotesk Light"/>
              </a:rPr>
              <a:t>- 선정 이유 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&amp;</a:t>
            </a:r>
            <a:r>
              <a:rPr lang="en" sz="1000">
                <a:latin typeface="Space Grotesk Light"/>
                <a:ea typeface="Space Grotesk Light"/>
                <a:cs typeface="Space Grotesk Light"/>
                <a:sym typeface="Space Grotesk Light"/>
              </a:rPr>
              <a:t> 필요성</a:t>
            </a:r>
            <a:endParaRPr sz="1000">
              <a:latin typeface="Space Grotesk Light"/>
              <a:ea typeface="Space Grotesk Light"/>
              <a:cs typeface="Space Grotesk Light"/>
              <a:sym typeface="Space Grotesk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Space Grotesk Light"/>
                <a:ea typeface="Space Grotesk Light"/>
                <a:cs typeface="Space Grotesk Light"/>
                <a:sym typeface="Space Grotesk Light"/>
              </a:rPr>
              <a:t>- 프로젝트 주제</a:t>
            </a:r>
            <a:endParaRPr sz="1000">
              <a:latin typeface="Space Grotesk Light"/>
              <a:ea typeface="Space Grotesk Light"/>
              <a:cs typeface="Space Grotesk Light"/>
              <a:sym typeface="Space Grotesk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Space Grotesk Light"/>
                <a:ea typeface="Space Grotesk Light"/>
                <a:cs typeface="Space Grotesk Light"/>
                <a:sym typeface="Space Grotesk Light"/>
              </a:rPr>
              <a:t>- 프로젝트 기대효과</a:t>
            </a:r>
            <a:endParaRPr sz="1000"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sp>
        <p:nvSpPr>
          <p:cNvPr id="290" name="Google Shape;290;p27"/>
          <p:cNvSpPr txBox="1"/>
          <p:nvPr>
            <p:ph idx="8" type="subTitle"/>
          </p:nvPr>
        </p:nvSpPr>
        <p:spPr>
          <a:xfrm>
            <a:off x="4026000" y="1480875"/>
            <a:ext cx="1781400" cy="5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프로젝트 구성</a:t>
            </a:r>
            <a:endParaRPr sz="1400"/>
          </a:p>
        </p:txBody>
      </p:sp>
      <p:sp>
        <p:nvSpPr>
          <p:cNvPr id="291" name="Google Shape;291;p27"/>
          <p:cNvSpPr txBox="1"/>
          <p:nvPr>
            <p:ph idx="9" type="subTitle"/>
          </p:nvPr>
        </p:nvSpPr>
        <p:spPr>
          <a:xfrm>
            <a:off x="6782189" y="1480875"/>
            <a:ext cx="2532000" cy="5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모델 구현 및 진행과정</a:t>
            </a:r>
            <a:endParaRPr sz="1400"/>
          </a:p>
        </p:txBody>
      </p:sp>
      <p:sp>
        <p:nvSpPr>
          <p:cNvPr id="292" name="Google Shape;292;p27"/>
          <p:cNvSpPr txBox="1"/>
          <p:nvPr>
            <p:ph idx="13" type="subTitle"/>
          </p:nvPr>
        </p:nvSpPr>
        <p:spPr>
          <a:xfrm>
            <a:off x="1287750" y="3299340"/>
            <a:ext cx="1708500" cy="4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모델 실행 및 결과</a:t>
            </a:r>
            <a:endParaRPr sz="1400"/>
          </a:p>
        </p:txBody>
      </p:sp>
      <p:sp>
        <p:nvSpPr>
          <p:cNvPr id="293" name="Google Shape;293;p27"/>
          <p:cNvSpPr txBox="1"/>
          <p:nvPr>
            <p:ph idx="14" type="subTitle"/>
          </p:nvPr>
        </p:nvSpPr>
        <p:spPr>
          <a:xfrm>
            <a:off x="3967363" y="3273465"/>
            <a:ext cx="2068800" cy="4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상용화 계획 검토 및 개선</a:t>
            </a:r>
            <a:endParaRPr sz="1400"/>
          </a:p>
        </p:txBody>
      </p:sp>
      <p:sp>
        <p:nvSpPr>
          <p:cNvPr id="294" name="Google Shape;294;p27"/>
          <p:cNvSpPr txBox="1"/>
          <p:nvPr>
            <p:ph idx="15" type="subTitle"/>
          </p:nvPr>
        </p:nvSpPr>
        <p:spPr>
          <a:xfrm>
            <a:off x="6883214" y="3273465"/>
            <a:ext cx="2130600" cy="4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활용방안</a:t>
            </a:r>
            <a:endParaRPr sz="1400"/>
          </a:p>
        </p:txBody>
      </p:sp>
      <p:sp>
        <p:nvSpPr>
          <p:cNvPr id="295" name="Google Shape;295;p27"/>
          <p:cNvSpPr txBox="1"/>
          <p:nvPr>
            <p:ph idx="8" type="subTitle"/>
          </p:nvPr>
        </p:nvSpPr>
        <p:spPr>
          <a:xfrm>
            <a:off x="1197300" y="1480875"/>
            <a:ext cx="14127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프로젝트 </a:t>
            </a:r>
            <a:r>
              <a:rPr lang="en" sz="1400"/>
              <a:t>개요</a:t>
            </a:r>
            <a:endParaRPr sz="1400"/>
          </a:p>
        </p:txBody>
      </p:sp>
      <p:sp>
        <p:nvSpPr>
          <p:cNvPr id="296" name="Google Shape;296;p27"/>
          <p:cNvSpPr txBox="1"/>
          <p:nvPr>
            <p:ph idx="1" type="subTitle"/>
          </p:nvPr>
        </p:nvSpPr>
        <p:spPr>
          <a:xfrm>
            <a:off x="3362475" y="1983676"/>
            <a:ext cx="2068800" cy="7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Space Grotesk Light"/>
                <a:ea typeface="Space Grotesk Light"/>
                <a:cs typeface="Space Grotesk Light"/>
                <a:sym typeface="Space Grotesk Light"/>
              </a:rPr>
              <a:t>- 일정 및 진행과정</a:t>
            </a:r>
            <a:endParaRPr sz="1000">
              <a:latin typeface="Space Grotesk Light"/>
              <a:ea typeface="Space Grotesk Light"/>
              <a:cs typeface="Space Grotesk Light"/>
              <a:sym typeface="Space Grotesk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Space Grotesk Light"/>
                <a:ea typeface="Space Grotesk Light"/>
                <a:cs typeface="Space Grotesk Light"/>
                <a:sym typeface="Space Grotesk Light"/>
              </a:rPr>
              <a:t>- </a:t>
            </a:r>
            <a:r>
              <a:rPr lang="en" sz="1000">
                <a:latin typeface="Space Grotesk Light"/>
                <a:ea typeface="Space Grotesk Light"/>
                <a:cs typeface="Space Grotesk Light"/>
                <a:sym typeface="Space Grotesk Light"/>
              </a:rPr>
              <a:t>팀 구성 및 역할</a:t>
            </a:r>
            <a:endParaRPr sz="1000">
              <a:latin typeface="Space Grotesk Light"/>
              <a:ea typeface="Space Grotesk Light"/>
              <a:cs typeface="Space Grotesk Light"/>
              <a:sym typeface="Space Grotesk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Space Grotesk Light"/>
                <a:ea typeface="Space Grotesk Light"/>
                <a:cs typeface="Space Grotesk Light"/>
                <a:sym typeface="Space Grotesk Light"/>
              </a:rPr>
              <a:t>- </a:t>
            </a:r>
            <a:r>
              <a:rPr lang="en" sz="1000">
                <a:latin typeface="Space Grotesk Light"/>
                <a:ea typeface="Space Grotesk Light"/>
                <a:cs typeface="Space Grotesk Light"/>
                <a:sym typeface="Space Grotesk Light"/>
              </a:rPr>
              <a:t>모델 전체 파이프라인</a:t>
            </a:r>
            <a:r>
              <a:rPr lang="en" sz="1000">
                <a:latin typeface="Space Grotesk Light"/>
                <a:ea typeface="Space Grotesk Light"/>
                <a:cs typeface="Space Grotesk Light"/>
                <a:sym typeface="Space Grotesk Light"/>
              </a:rPr>
              <a:t> </a:t>
            </a:r>
            <a:endParaRPr sz="1000"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sp>
        <p:nvSpPr>
          <p:cNvPr id="297" name="Google Shape;297;p27"/>
          <p:cNvSpPr txBox="1"/>
          <p:nvPr>
            <p:ph idx="1" type="subTitle"/>
          </p:nvPr>
        </p:nvSpPr>
        <p:spPr>
          <a:xfrm>
            <a:off x="6285564" y="1979176"/>
            <a:ext cx="2068800" cy="7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Space Grotesk Light"/>
                <a:ea typeface="Space Grotesk Light"/>
                <a:cs typeface="Space Grotesk Light"/>
                <a:sym typeface="Space Grotesk Light"/>
              </a:rPr>
              <a:t>- 맞춤형 질문제공 시스템</a:t>
            </a:r>
            <a:endParaRPr sz="1000">
              <a:latin typeface="Space Grotesk Light"/>
              <a:ea typeface="Space Grotesk Light"/>
              <a:cs typeface="Space Grotesk Light"/>
              <a:sym typeface="Space Grotesk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Space Grotesk Light"/>
                <a:ea typeface="Space Grotesk Light"/>
                <a:cs typeface="Space Grotesk Light"/>
                <a:sym typeface="Space Grotesk Light"/>
              </a:rPr>
              <a:t>- </a:t>
            </a:r>
            <a:r>
              <a:rPr lang="en" sz="1000">
                <a:latin typeface="Space Grotesk Light"/>
                <a:ea typeface="Space Grotesk Light"/>
                <a:cs typeface="Space Grotesk Light"/>
                <a:sym typeface="Space Grotesk Light"/>
              </a:rPr>
              <a:t>주저어 판별 모델</a:t>
            </a:r>
            <a:endParaRPr sz="1000">
              <a:latin typeface="Space Grotesk Light"/>
              <a:ea typeface="Space Grotesk Light"/>
              <a:cs typeface="Space Grotesk Light"/>
              <a:sym typeface="Space Grotesk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Space Grotesk Light"/>
                <a:ea typeface="Space Grotesk Light"/>
                <a:cs typeface="Space Grotesk Light"/>
                <a:sym typeface="Space Grotesk Light"/>
              </a:rPr>
              <a:t>- 말더듬 판별 모델</a:t>
            </a:r>
            <a:r>
              <a:rPr lang="en" sz="1000">
                <a:latin typeface="Space Grotesk Light"/>
                <a:ea typeface="Space Grotesk Light"/>
                <a:cs typeface="Space Grotesk Light"/>
                <a:sym typeface="Space Grotesk Light"/>
              </a:rPr>
              <a:t> </a:t>
            </a:r>
            <a:endParaRPr sz="1000"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sp>
        <p:nvSpPr>
          <p:cNvPr id="298" name="Google Shape;298;p27"/>
          <p:cNvSpPr txBox="1"/>
          <p:nvPr>
            <p:ph idx="1" type="subTitle"/>
          </p:nvPr>
        </p:nvSpPr>
        <p:spPr>
          <a:xfrm>
            <a:off x="720000" y="3798846"/>
            <a:ext cx="20688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Space Grotesk Light"/>
                <a:ea typeface="Space Grotesk Light"/>
                <a:cs typeface="Space Grotesk Light"/>
                <a:sym typeface="Space Grotesk Light"/>
              </a:rPr>
              <a:t>- 모델 실행 및 결과</a:t>
            </a:r>
            <a:endParaRPr sz="1000"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sp>
        <p:nvSpPr>
          <p:cNvPr id="299" name="Google Shape;299;p27"/>
          <p:cNvSpPr txBox="1"/>
          <p:nvPr>
            <p:ph idx="1" type="subTitle"/>
          </p:nvPr>
        </p:nvSpPr>
        <p:spPr>
          <a:xfrm>
            <a:off x="3464525" y="3772974"/>
            <a:ext cx="2068800" cy="33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Space Grotesk Light"/>
                <a:ea typeface="Space Grotesk Light"/>
                <a:cs typeface="Space Grotesk Light"/>
                <a:sym typeface="Space Grotesk Light"/>
              </a:rPr>
              <a:t>- </a:t>
            </a:r>
            <a:r>
              <a:rPr lang="en" sz="1000">
                <a:latin typeface="Space Grotesk Light"/>
                <a:ea typeface="Space Grotesk Light"/>
                <a:cs typeface="Space Grotesk Light"/>
                <a:sym typeface="Space Grotesk Light"/>
              </a:rPr>
              <a:t>향후 개선</a:t>
            </a:r>
            <a:endParaRPr sz="1000"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sp>
        <p:nvSpPr>
          <p:cNvPr id="300" name="Google Shape;300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01" name="Google Shape;301;p27"/>
          <p:cNvGrpSpPr/>
          <p:nvPr/>
        </p:nvGrpSpPr>
        <p:grpSpPr>
          <a:xfrm>
            <a:off x="8068236" y="9440"/>
            <a:ext cx="1075752" cy="150822"/>
            <a:chOff x="921102" y="6027409"/>
            <a:chExt cx="2680001" cy="375740"/>
          </a:xfrm>
        </p:grpSpPr>
        <p:pic>
          <p:nvPicPr>
            <p:cNvPr descr="EMB0000378c3f3d" id="302" name="Google Shape;302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3" name="Google Shape;30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8"/>
          <p:cNvSpPr txBox="1"/>
          <p:nvPr>
            <p:ph type="title"/>
          </p:nvPr>
        </p:nvSpPr>
        <p:spPr>
          <a:xfrm>
            <a:off x="4047175" y="2388500"/>
            <a:ext cx="4383600" cy="16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프로젝트 개요</a:t>
            </a:r>
            <a:endParaRPr/>
          </a:p>
        </p:txBody>
      </p:sp>
      <p:sp>
        <p:nvSpPr>
          <p:cNvPr id="310" name="Google Shape;310;p28"/>
          <p:cNvSpPr txBox="1"/>
          <p:nvPr>
            <p:ph idx="2" type="title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311" name="Google Shape;311;p28"/>
          <p:cNvGrpSpPr/>
          <p:nvPr/>
        </p:nvGrpSpPr>
        <p:grpSpPr>
          <a:xfrm rot="756538">
            <a:off x="5159567" y="-1610422"/>
            <a:ext cx="4574157" cy="3479412"/>
            <a:chOff x="1522650" y="1117750"/>
            <a:chExt cx="4574075" cy="3479350"/>
          </a:xfrm>
        </p:grpSpPr>
        <p:sp>
          <p:nvSpPr>
            <p:cNvPr id="312" name="Google Shape;312;p28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8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4" name="Google Shape;314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15" name="Google Shape;315;p28"/>
          <p:cNvGrpSpPr/>
          <p:nvPr/>
        </p:nvGrpSpPr>
        <p:grpSpPr>
          <a:xfrm>
            <a:off x="8068236" y="2"/>
            <a:ext cx="1075752" cy="150822"/>
            <a:chOff x="921102" y="6027409"/>
            <a:chExt cx="2680001" cy="375740"/>
          </a:xfrm>
        </p:grpSpPr>
        <p:pic>
          <p:nvPicPr>
            <p:cNvPr descr="EMB0000378c3f3d" id="316" name="Google Shape;316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7" name="Google Shape;317;p2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프로젝트 </a:t>
            </a:r>
            <a:r>
              <a:rPr lang="en"/>
              <a:t>개요</a:t>
            </a:r>
            <a:endParaRPr/>
          </a:p>
        </p:txBody>
      </p:sp>
      <p:sp>
        <p:nvSpPr>
          <p:cNvPr id="323" name="Google Shape;323;p29"/>
          <p:cNvSpPr txBox="1"/>
          <p:nvPr>
            <p:ph idx="4" type="subTitle"/>
          </p:nvPr>
        </p:nvSpPr>
        <p:spPr>
          <a:xfrm>
            <a:off x="786200" y="1017725"/>
            <a:ext cx="6600600" cy="4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심해지는 취업난, 더욱 합격하기 어려운 현실, 면접을 도와줄 수는 없을까?</a:t>
            </a:r>
            <a:endParaRPr sz="1400"/>
          </a:p>
        </p:txBody>
      </p:sp>
      <p:pic>
        <p:nvPicPr>
          <p:cNvPr id="324" name="Google Shape;32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0575" y="1626375"/>
            <a:ext cx="2456600" cy="231857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99000"/>
              </a:srgbClr>
            </a:outerShdw>
          </a:effectLst>
        </p:spPr>
      </p:pic>
      <p:pic>
        <p:nvPicPr>
          <p:cNvPr id="325" name="Google Shape;325;p29"/>
          <p:cNvPicPr preferRelativeResize="0"/>
          <p:nvPr/>
        </p:nvPicPr>
        <p:blipFill rotWithShape="1">
          <a:blip r:embed="rId4">
            <a:alphaModFix/>
          </a:blip>
          <a:srcRect b="0" l="5249" r="2822" t="0"/>
          <a:stretch/>
        </p:blipFill>
        <p:spPr>
          <a:xfrm>
            <a:off x="4810625" y="1626364"/>
            <a:ext cx="3091750" cy="23185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99000"/>
              </a:srgbClr>
            </a:outerShdw>
          </a:effectLst>
        </p:spPr>
      </p:pic>
      <p:sp>
        <p:nvSpPr>
          <p:cNvPr id="326" name="Google Shape;326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27" name="Google Shape;327;p29"/>
          <p:cNvGrpSpPr/>
          <p:nvPr/>
        </p:nvGrpSpPr>
        <p:grpSpPr>
          <a:xfrm>
            <a:off x="8068236" y="2"/>
            <a:ext cx="1075752" cy="150822"/>
            <a:chOff x="921102" y="6027409"/>
            <a:chExt cx="2680001" cy="375740"/>
          </a:xfrm>
        </p:grpSpPr>
        <p:pic>
          <p:nvPicPr>
            <p:cNvPr descr="EMB0000378c3f3d" id="328" name="Google Shape;328;p2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9" name="Google Shape;329;p2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0"/>
          <p:cNvSpPr/>
          <p:nvPr/>
        </p:nvSpPr>
        <p:spPr>
          <a:xfrm>
            <a:off x="2941449" y="2996325"/>
            <a:ext cx="1471500" cy="1417200"/>
          </a:xfrm>
          <a:prstGeom prst="ellipse">
            <a:avLst/>
          </a:prstGeom>
          <a:solidFill>
            <a:srgbClr val="E3E7EA">
              <a:alpha val="47170"/>
            </a:srgbClr>
          </a:solidFill>
          <a:ln cap="flat" cmpd="sng" w="90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25" lIns="86525" spcFirstLastPara="1" rIns="86525" wrap="square" tIns="8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25">
                <a:latin typeface="Cairo"/>
                <a:ea typeface="Cairo"/>
                <a:cs typeface="Cairo"/>
                <a:sym typeface="Cairo"/>
              </a:rPr>
              <a:t>내용 구성력</a:t>
            </a:r>
            <a:endParaRPr sz="1425"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335" name="Google Shape;335;p30"/>
          <p:cNvSpPr/>
          <p:nvPr/>
        </p:nvSpPr>
        <p:spPr>
          <a:xfrm>
            <a:off x="4735150" y="2996325"/>
            <a:ext cx="1471500" cy="1417200"/>
          </a:xfrm>
          <a:prstGeom prst="ellipse">
            <a:avLst/>
          </a:prstGeom>
          <a:solidFill>
            <a:srgbClr val="E3E7EA">
              <a:alpha val="47170"/>
            </a:srgbClr>
          </a:solidFill>
          <a:ln cap="flat" cmpd="sng" w="90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25" lIns="86525" spcFirstLastPara="1" rIns="86525" wrap="square" tIns="865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25">
                <a:latin typeface="Cairo"/>
                <a:ea typeface="Cairo"/>
                <a:cs typeface="Cairo"/>
                <a:sym typeface="Cairo"/>
              </a:rPr>
              <a:t>비언어적 요소</a:t>
            </a:r>
            <a:endParaRPr sz="1425"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336" name="Google Shape;336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프로젝트 개요</a:t>
            </a:r>
            <a:endParaRPr/>
          </a:p>
        </p:txBody>
      </p:sp>
      <p:sp>
        <p:nvSpPr>
          <p:cNvPr id="337" name="Google Shape;337;p30"/>
          <p:cNvSpPr txBox="1"/>
          <p:nvPr>
            <p:ph idx="4" type="subTitle"/>
          </p:nvPr>
        </p:nvSpPr>
        <p:spPr>
          <a:xfrm>
            <a:off x="1162323" y="1339525"/>
            <a:ext cx="2796000" cy="42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면접의 중요 요소</a:t>
            </a:r>
            <a:endParaRPr/>
          </a:p>
        </p:txBody>
      </p:sp>
      <p:sp>
        <p:nvSpPr>
          <p:cNvPr id="338" name="Google Shape;338;p30"/>
          <p:cNvSpPr/>
          <p:nvPr/>
        </p:nvSpPr>
        <p:spPr>
          <a:xfrm>
            <a:off x="3704700" y="1788410"/>
            <a:ext cx="1734600" cy="1718100"/>
          </a:xfrm>
          <a:prstGeom prst="ellipse">
            <a:avLst/>
          </a:prstGeom>
          <a:solidFill>
            <a:srgbClr val="9CDCFE">
              <a:alpha val="75470"/>
            </a:srgbClr>
          </a:solidFill>
          <a:ln cap="flat" cmpd="sng" w="9525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Cairo"/>
                <a:ea typeface="Cairo"/>
                <a:cs typeface="Cairo"/>
                <a:sym typeface="Cairo"/>
              </a:rPr>
              <a:t>언어적 요소</a:t>
            </a:r>
            <a:endParaRPr b="1" sz="1700"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339" name="Google Shape;339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40" name="Google Shape;340;p30"/>
          <p:cNvGrpSpPr/>
          <p:nvPr/>
        </p:nvGrpSpPr>
        <p:grpSpPr>
          <a:xfrm>
            <a:off x="8068236" y="2"/>
            <a:ext cx="1075752" cy="150822"/>
            <a:chOff x="921102" y="6027409"/>
            <a:chExt cx="2680001" cy="375740"/>
          </a:xfrm>
        </p:grpSpPr>
        <p:pic>
          <p:nvPicPr>
            <p:cNvPr descr="EMB0000378c3f3d" id="341" name="Google Shape;341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2" name="Google Shape;342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43" name="Google Shape;343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416" y="1324075"/>
            <a:ext cx="476121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프로젝트 선정배경</a:t>
            </a:r>
            <a:endParaRPr/>
          </a:p>
        </p:txBody>
      </p:sp>
      <p:sp>
        <p:nvSpPr>
          <p:cNvPr id="349" name="Google Shape;349;p31"/>
          <p:cNvSpPr txBox="1"/>
          <p:nvPr>
            <p:ph idx="4" type="subTitle"/>
          </p:nvPr>
        </p:nvSpPr>
        <p:spPr>
          <a:xfrm>
            <a:off x="1006634" y="1743037"/>
            <a:ext cx="6600600" cy="40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부족한 Speech </a:t>
            </a:r>
            <a:r>
              <a:rPr lang="en"/>
              <a:t>Skill</a:t>
            </a:r>
            <a:endParaRPr/>
          </a:p>
        </p:txBody>
      </p:sp>
      <p:sp>
        <p:nvSpPr>
          <p:cNvPr id="350" name="Google Shape;350;p31"/>
          <p:cNvSpPr txBox="1"/>
          <p:nvPr>
            <p:ph idx="1" type="subTitle"/>
          </p:nvPr>
        </p:nvSpPr>
        <p:spPr>
          <a:xfrm>
            <a:off x="753725" y="2401300"/>
            <a:ext cx="3981000" cy="11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</a:t>
            </a:r>
            <a:r>
              <a:rPr lang="en"/>
              <a:t>유창한 화법은 </a:t>
            </a:r>
            <a:r>
              <a:rPr lang="en"/>
              <a:t>신뢰감과 전문성을 높여 면접 결과에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큰 영향을 미침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-자신의 언어습관을 정확히 파악하지 못해 개선이 어려움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31"/>
          <p:cNvSpPr/>
          <p:nvPr/>
        </p:nvSpPr>
        <p:spPr>
          <a:xfrm>
            <a:off x="720004" y="1765557"/>
            <a:ext cx="329188" cy="329175"/>
          </a:xfrm>
          <a:custGeom>
            <a:rect b="b" l="l" r="r" t="t"/>
            <a:pathLst>
              <a:path extrusionOk="0" h="11551" w="11456">
                <a:moveTo>
                  <a:pt x="9717" y="715"/>
                </a:moveTo>
                <a:lnTo>
                  <a:pt x="9717" y="1501"/>
                </a:lnTo>
                <a:lnTo>
                  <a:pt x="5311" y="1501"/>
                </a:lnTo>
                <a:cubicBezTo>
                  <a:pt x="5073" y="1501"/>
                  <a:pt x="4906" y="1286"/>
                  <a:pt x="4930" y="1072"/>
                </a:cubicBezTo>
                <a:cubicBezTo>
                  <a:pt x="4954" y="881"/>
                  <a:pt x="5144" y="715"/>
                  <a:pt x="5359" y="715"/>
                </a:cubicBezTo>
                <a:close/>
                <a:moveTo>
                  <a:pt x="10764" y="3858"/>
                </a:moveTo>
                <a:lnTo>
                  <a:pt x="10764" y="4620"/>
                </a:lnTo>
                <a:lnTo>
                  <a:pt x="6359" y="4620"/>
                </a:lnTo>
                <a:cubicBezTo>
                  <a:pt x="6121" y="4620"/>
                  <a:pt x="5954" y="4406"/>
                  <a:pt x="5978" y="4215"/>
                </a:cubicBezTo>
                <a:cubicBezTo>
                  <a:pt x="6002" y="4001"/>
                  <a:pt x="6216" y="3858"/>
                  <a:pt x="6383" y="3858"/>
                </a:cubicBezTo>
                <a:close/>
                <a:moveTo>
                  <a:pt x="2072" y="4358"/>
                </a:moveTo>
                <a:cubicBezTo>
                  <a:pt x="2882" y="4358"/>
                  <a:pt x="3501" y="5001"/>
                  <a:pt x="3501" y="5787"/>
                </a:cubicBezTo>
                <a:cubicBezTo>
                  <a:pt x="3501" y="6597"/>
                  <a:pt x="2882" y="7216"/>
                  <a:pt x="2072" y="7216"/>
                </a:cubicBezTo>
                <a:cubicBezTo>
                  <a:pt x="1262" y="7216"/>
                  <a:pt x="643" y="6549"/>
                  <a:pt x="643" y="5787"/>
                </a:cubicBezTo>
                <a:cubicBezTo>
                  <a:pt x="643" y="4977"/>
                  <a:pt x="1310" y="4358"/>
                  <a:pt x="2072" y="4358"/>
                </a:cubicBezTo>
                <a:close/>
                <a:moveTo>
                  <a:pt x="10764" y="6978"/>
                </a:moveTo>
                <a:lnTo>
                  <a:pt x="10764" y="7740"/>
                </a:lnTo>
                <a:lnTo>
                  <a:pt x="6359" y="7740"/>
                </a:lnTo>
                <a:cubicBezTo>
                  <a:pt x="6121" y="7740"/>
                  <a:pt x="5954" y="7549"/>
                  <a:pt x="5978" y="7335"/>
                </a:cubicBezTo>
                <a:cubicBezTo>
                  <a:pt x="6002" y="7121"/>
                  <a:pt x="6216" y="6978"/>
                  <a:pt x="6383" y="6978"/>
                </a:cubicBezTo>
                <a:close/>
                <a:moveTo>
                  <a:pt x="9717" y="10098"/>
                </a:moveTo>
                <a:lnTo>
                  <a:pt x="9717" y="10883"/>
                </a:lnTo>
                <a:lnTo>
                  <a:pt x="5311" y="10883"/>
                </a:lnTo>
                <a:cubicBezTo>
                  <a:pt x="5073" y="10883"/>
                  <a:pt x="4906" y="10669"/>
                  <a:pt x="4930" y="10455"/>
                </a:cubicBezTo>
                <a:cubicBezTo>
                  <a:pt x="4954" y="10240"/>
                  <a:pt x="5144" y="10098"/>
                  <a:pt x="5359" y="10098"/>
                </a:cubicBezTo>
                <a:close/>
                <a:moveTo>
                  <a:pt x="5359" y="0"/>
                </a:moveTo>
                <a:cubicBezTo>
                  <a:pt x="4882" y="0"/>
                  <a:pt x="4477" y="310"/>
                  <a:pt x="4335" y="739"/>
                </a:cubicBezTo>
                <a:lnTo>
                  <a:pt x="3001" y="739"/>
                </a:lnTo>
                <a:lnTo>
                  <a:pt x="1858" y="3668"/>
                </a:lnTo>
                <a:cubicBezTo>
                  <a:pt x="834" y="3787"/>
                  <a:pt x="0" y="4668"/>
                  <a:pt x="0" y="5787"/>
                </a:cubicBezTo>
                <a:cubicBezTo>
                  <a:pt x="0" y="6883"/>
                  <a:pt x="834" y="7764"/>
                  <a:pt x="1858" y="7883"/>
                </a:cubicBezTo>
                <a:lnTo>
                  <a:pt x="3001" y="10812"/>
                </a:lnTo>
                <a:lnTo>
                  <a:pt x="4335" y="10812"/>
                </a:lnTo>
                <a:cubicBezTo>
                  <a:pt x="4477" y="11217"/>
                  <a:pt x="4882" y="11550"/>
                  <a:pt x="5359" y="11550"/>
                </a:cubicBezTo>
                <a:lnTo>
                  <a:pt x="10407" y="11550"/>
                </a:lnTo>
                <a:lnTo>
                  <a:pt x="10407" y="9383"/>
                </a:lnTo>
                <a:lnTo>
                  <a:pt x="5359" y="9383"/>
                </a:lnTo>
                <a:cubicBezTo>
                  <a:pt x="4882" y="9383"/>
                  <a:pt x="4477" y="9693"/>
                  <a:pt x="4335" y="10121"/>
                </a:cubicBezTo>
                <a:lnTo>
                  <a:pt x="3453" y="10121"/>
                </a:lnTo>
                <a:lnTo>
                  <a:pt x="2548" y="7835"/>
                </a:lnTo>
                <a:cubicBezTo>
                  <a:pt x="2929" y="7740"/>
                  <a:pt x="3287" y="7549"/>
                  <a:pt x="3572" y="7264"/>
                </a:cubicBezTo>
                <a:lnTo>
                  <a:pt x="4477" y="7668"/>
                </a:lnTo>
                <a:lnTo>
                  <a:pt x="5382" y="7668"/>
                </a:lnTo>
                <a:cubicBezTo>
                  <a:pt x="5525" y="8073"/>
                  <a:pt x="5906" y="8407"/>
                  <a:pt x="6383" y="8407"/>
                </a:cubicBezTo>
                <a:lnTo>
                  <a:pt x="11455" y="8407"/>
                </a:lnTo>
                <a:lnTo>
                  <a:pt x="11455" y="6263"/>
                </a:lnTo>
                <a:lnTo>
                  <a:pt x="6383" y="6263"/>
                </a:lnTo>
                <a:cubicBezTo>
                  <a:pt x="5906" y="6263"/>
                  <a:pt x="5525" y="6549"/>
                  <a:pt x="5382" y="7002"/>
                </a:cubicBezTo>
                <a:lnTo>
                  <a:pt x="4644" y="7002"/>
                </a:lnTo>
                <a:lnTo>
                  <a:pt x="3977" y="6740"/>
                </a:lnTo>
                <a:cubicBezTo>
                  <a:pt x="4120" y="6430"/>
                  <a:pt x="4192" y="6144"/>
                  <a:pt x="4192" y="5787"/>
                </a:cubicBezTo>
                <a:cubicBezTo>
                  <a:pt x="4192" y="5430"/>
                  <a:pt x="4096" y="5120"/>
                  <a:pt x="3977" y="4835"/>
                </a:cubicBezTo>
                <a:lnTo>
                  <a:pt x="4644" y="4549"/>
                </a:lnTo>
                <a:lnTo>
                  <a:pt x="5382" y="4549"/>
                </a:lnTo>
                <a:lnTo>
                  <a:pt x="5382" y="4573"/>
                </a:lnTo>
                <a:cubicBezTo>
                  <a:pt x="5525" y="4977"/>
                  <a:pt x="5906" y="5311"/>
                  <a:pt x="6383" y="5311"/>
                </a:cubicBezTo>
                <a:lnTo>
                  <a:pt x="11455" y="5311"/>
                </a:lnTo>
                <a:lnTo>
                  <a:pt x="11455" y="3144"/>
                </a:lnTo>
                <a:lnTo>
                  <a:pt x="6383" y="3144"/>
                </a:lnTo>
                <a:cubicBezTo>
                  <a:pt x="5906" y="3144"/>
                  <a:pt x="5525" y="3430"/>
                  <a:pt x="5382" y="3882"/>
                </a:cubicBezTo>
                <a:lnTo>
                  <a:pt x="4477" y="3882"/>
                </a:lnTo>
                <a:lnTo>
                  <a:pt x="3572" y="4263"/>
                </a:lnTo>
                <a:cubicBezTo>
                  <a:pt x="3287" y="4001"/>
                  <a:pt x="2929" y="3787"/>
                  <a:pt x="2548" y="3691"/>
                </a:cubicBezTo>
                <a:lnTo>
                  <a:pt x="3453" y="1405"/>
                </a:lnTo>
                <a:lnTo>
                  <a:pt x="4335" y="1405"/>
                </a:lnTo>
                <a:cubicBezTo>
                  <a:pt x="4477" y="1810"/>
                  <a:pt x="4882" y="2144"/>
                  <a:pt x="5359" y="2144"/>
                </a:cubicBezTo>
                <a:lnTo>
                  <a:pt x="10407" y="2144"/>
                </a:lnTo>
                <a:lnTo>
                  <a:pt x="1040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3F6F7"/>
              </a:solidFill>
            </a:endParaRPr>
          </a:p>
        </p:txBody>
      </p:sp>
      <p:pic>
        <p:nvPicPr>
          <p:cNvPr id="352" name="Google Shape;35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8949" y="1821125"/>
            <a:ext cx="4390476" cy="2295851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54" name="Google Shape;354;p31"/>
          <p:cNvGrpSpPr/>
          <p:nvPr/>
        </p:nvGrpSpPr>
        <p:grpSpPr>
          <a:xfrm>
            <a:off x="8068236" y="2"/>
            <a:ext cx="1075752" cy="150822"/>
            <a:chOff x="921102" y="6027409"/>
            <a:chExt cx="2680001" cy="375740"/>
          </a:xfrm>
        </p:grpSpPr>
        <p:pic>
          <p:nvPicPr>
            <p:cNvPr descr="EMB0000378c3f3d" id="355" name="Google Shape;355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6" name="Google Shape;356;p3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프로젝트 선정배경</a:t>
            </a:r>
            <a:endParaRPr/>
          </a:p>
        </p:txBody>
      </p:sp>
      <p:sp>
        <p:nvSpPr>
          <p:cNvPr id="362" name="Google Shape;362;p32"/>
          <p:cNvSpPr txBox="1"/>
          <p:nvPr>
            <p:ph idx="3" type="subTitle"/>
          </p:nvPr>
        </p:nvSpPr>
        <p:spPr>
          <a:xfrm>
            <a:off x="505150" y="2511675"/>
            <a:ext cx="4499400" cy="8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어떤 질문이 나올지 몰라 대비가 어렵고, 질문 대응력 부족 문제가 발생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답변에서 무엇을 말해야 할지 명확히 잡지 못하는 경우</a:t>
            </a:r>
            <a:endParaRPr/>
          </a:p>
        </p:txBody>
      </p:sp>
      <p:pic>
        <p:nvPicPr>
          <p:cNvPr id="363" name="Google Shape;36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2025" y="1916650"/>
            <a:ext cx="3621900" cy="2048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364" name="Google Shape;364;p32"/>
          <p:cNvSpPr txBox="1"/>
          <p:nvPr>
            <p:ph idx="4" type="subTitle"/>
          </p:nvPr>
        </p:nvSpPr>
        <p:spPr>
          <a:xfrm>
            <a:off x="1006630" y="1709406"/>
            <a:ext cx="3388200" cy="44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예상하지 못한 질문</a:t>
            </a:r>
            <a:endParaRPr/>
          </a:p>
        </p:txBody>
      </p:sp>
      <p:sp>
        <p:nvSpPr>
          <p:cNvPr id="365" name="Google Shape;365;p32"/>
          <p:cNvSpPr/>
          <p:nvPr/>
        </p:nvSpPr>
        <p:spPr>
          <a:xfrm>
            <a:off x="708238" y="1746409"/>
            <a:ext cx="329187" cy="329189"/>
          </a:xfrm>
          <a:custGeom>
            <a:rect b="b" l="l" r="r" t="t"/>
            <a:pathLst>
              <a:path extrusionOk="0" h="11479" w="11503">
                <a:moveTo>
                  <a:pt x="10169" y="2429"/>
                </a:moveTo>
                <a:cubicBezTo>
                  <a:pt x="10360" y="2429"/>
                  <a:pt x="10550" y="2620"/>
                  <a:pt x="10550" y="2834"/>
                </a:cubicBezTo>
                <a:cubicBezTo>
                  <a:pt x="10550" y="3024"/>
                  <a:pt x="10360" y="3215"/>
                  <a:pt x="10169" y="3215"/>
                </a:cubicBezTo>
                <a:cubicBezTo>
                  <a:pt x="9955" y="3215"/>
                  <a:pt x="9764" y="3024"/>
                  <a:pt x="9764" y="2834"/>
                </a:cubicBezTo>
                <a:cubicBezTo>
                  <a:pt x="9764" y="2620"/>
                  <a:pt x="9931" y="2429"/>
                  <a:pt x="10169" y="2429"/>
                </a:cubicBezTo>
                <a:close/>
                <a:moveTo>
                  <a:pt x="8669" y="4763"/>
                </a:moveTo>
                <a:cubicBezTo>
                  <a:pt x="8883" y="4763"/>
                  <a:pt x="9050" y="4930"/>
                  <a:pt x="9050" y="5144"/>
                </a:cubicBezTo>
                <a:cubicBezTo>
                  <a:pt x="9050" y="5358"/>
                  <a:pt x="8883" y="5525"/>
                  <a:pt x="8669" y="5525"/>
                </a:cubicBezTo>
                <a:cubicBezTo>
                  <a:pt x="8454" y="5525"/>
                  <a:pt x="8288" y="5358"/>
                  <a:pt x="8288" y="5144"/>
                </a:cubicBezTo>
                <a:cubicBezTo>
                  <a:pt x="8288" y="4930"/>
                  <a:pt x="8454" y="4763"/>
                  <a:pt x="8669" y="4763"/>
                </a:cubicBezTo>
                <a:close/>
                <a:moveTo>
                  <a:pt x="4335" y="5358"/>
                </a:moveTo>
                <a:cubicBezTo>
                  <a:pt x="4525" y="5358"/>
                  <a:pt x="4716" y="5525"/>
                  <a:pt x="4716" y="5739"/>
                </a:cubicBezTo>
                <a:cubicBezTo>
                  <a:pt x="4716" y="5954"/>
                  <a:pt x="4525" y="6120"/>
                  <a:pt x="4335" y="6120"/>
                </a:cubicBezTo>
                <a:cubicBezTo>
                  <a:pt x="4120" y="6120"/>
                  <a:pt x="3930" y="5954"/>
                  <a:pt x="3930" y="5739"/>
                </a:cubicBezTo>
                <a:cubicBezTo>
                  <a:pt x="3906" y="5525"/>
                  <a:pt x="4096" y="5358"/>
                  <a:pt x="4335" y="5358"/>
                </a:cubicBezTo>
                <a:close/>
                <a:moveTo>
                  <a:pt x="6716" y="6811"/>
                </a:moveTo>
                <a:cubicBezTo>
                  <a:pt x="6906" y="6811"/>
                  <a:pt x="7097" y="6978"/>
                  <a:pt x="7097" y="7192"/>
                </a:cubicBezTo>
                <a:cubicBezTo>
                  <a:pt x="7097" y="7406"/>
                  <a:pt x="6906" y="7573"/>
                  <a:pt x="6716" y="7573"/>
                </a:cubicBezTo>
                <a:cubicBezTo>
                  <a:pt x="6502" y="7573"/>
                  <a:pt x="6311" y="7406"/>
                  <a:pt x="6311" y="7192"/>
                </a:cubicBezTo>
                <a:cubicBezTo>
                  <a:pt x="6311" y="6978"/>
                  <a:pt x="6478" y="6811"/>
                  <a:pt x="6716" y="6811"/>
                </a:cubicBezTo>
                <a:close/>
                <a:moveTo>
                  <a:pt x="2715" y="7740"/>
                </a:moveTo>
                <a:cubicBezTo>
                  <a:pt x="2929" y="7740"/>
                  <a:pt x="3096" y="7906"/>
                  <a:pt x="3096" y="8121"/>
                </a:cubicBezTo>
                <a:cubicBezTo>
                  <a:pt x="3096" y="8335"/>
                  <a:pt x="2929" y="8502"/>
                  <a:pt x="2715" y="8502"/>
                </a:cubicBezTo>
                <a:cubicBezTo>
                  <a:pt x="2501" y="8502"/>
                  <a:pt x="2334" y="8335"/>
                  <a:pt x="2334" y="8121"/>
                </a:cubicBezTo>
                <a:cubicBezTo>
                  <a:pt x="2334" y="7906"/>
                  <a:pt x="2501" y="7740"/>
                  <a:pt x="2715" y="7740"/>
                </a:cubicBezTo>
                <a:close/>
                <a:moveTo>
                  <a:pt x="0" y="0"/>
                </a:moveTo>
                <a:lnTo>
                  <a:pt x="0" y="11479"/>
                </a:lnTo>
                <a:lnTo>
                  <a:pt x="11503" y="11479"/>
                </a:lnTo>
                <a:lnTo>
                  <a:pt x="11503" y="10264"/>
                </a:lnTo>
                <a:lnTo>
                  <a:pt x="10836" y="10264"/>
                </a:lnTo>
                <a:lnTo>
                  <a:pt x="10836" y="10288"/>
                </a:lnTo>
                <a:lnTo>
                  <a:pt x="10836" y="10836"/>
                </a:lnTo>
                <a:lnTo>
                  <a:pt x="691" y="10836"/>
                </a:lnTo>
                <a:lnTo>
                  <a:pt x="691" y="9883"/>
                </a:lnTo>
                <a:lnTo>
                  <a:pt x="2072" y="8954"/>
                </a:lnTo>
                <a:cubicBezTo>
                  <a:pt x="2243" y="9082"/>
                  <a:pt x="2490" y="9172"/>
                  <a:pt x="2746" y="9172"/>
                </a:cubicBezTo>
                <a:cubicBezTo>
                  <a:pt x="2775" y="9172"/>
                  <a:pt x="2805" y="9171"/>
                  <a:pt x="2834" y="9169"/>
                </a:cubicBezTo>
                <a:cubicBezTo>
                  <a:pt x="3334" y="9097"/>
                  <a:pt x="3739" y="8716"/>
                  <a:pt x="3787" y="8216"/>
                </a:cubicBezTo>
                <a:cubicBezTo>
                  <a:pt x="3811" y="7930"/>
                  <a:pt x="3739" y="7668"/>
                  <a:pt x="3620" y="7478"/>
                </a:cubicBezTo>
                <a:lnTo>
                  <a:pt x="4049" y="6716"/>
                </a:lnTo>
                <a:cubicBezTo>
                  <a:pt x="4144" y="6740"/>
                  <a:pt x="4239" y="6740"/>
                  <a:pt x="4335" y="6740"/>
                </a:cubicBezTo>
                <a:cubicBezTo>
                  <a:pt x="4596" y="6740"/>
                  <a:pt x="4835" y="6668"/>
                  <a:pt x="5001" y="6478"/>
                </a:cubicBezTo>
                <a:lnTo>
                  <a:pt x="5644" y="6930"/>
                </a:lnTo>
                <a:cubicBezTo>
                  <a:pt x="5597" y="7073"/>
                  <a:pt x="5597" y="7216"/>
                  <a:pt x="5644" y="7382"/>
                </a:cubicBezTo>
                <a:cubicBezTo>
                  <a:pt x="5716" y="7787"/>
                  <a:pt x="6049" y="8121"/>
                  <a:pt x="6478" y="8168"/>
                </a:cubicBezTo>
                <a:cubicBezTo>
                  <a:pt x="6542" y="8180"/>
                  <a:pt x="6606" y="8186"/>
                  <a:pt x="6669" y="8186"/>
                </a:cubicBezTo>
                <a:cubicBezTo>
                  <a:pt x="7234" y="8186"/>
                  <a:pt x="7716" y="7723"/>
                  <a:pt x="7716" y="7144"/>
                </a:cubicBezTo>
                <a:cubicBezTo>
                  <a:pt x="7716" y="6954"/>
                  <a:pt x="7692" y="6811"/>
                  <a:pt x="7597" y="6692"/>
                </a:cubicBezTo>
                <a:lnTo>
                  <a:pt x="8169" y="6073"/>
                </a:lnTo>
                <a:cubicBezTo>
                  <a:pt x="8289" y="6124"/>
                  <a:pt x="8434" y="6163"/>
                  <a:pt x="8585" y="6163"/>
                </a:cubicBezTo>
                <a:cubicBezTo>
                  <a:pt x="8644" y="6163"/>
                  <a:pt x="8704" y="6157"/>
                  <a:pt x="8764" y="6144"/>
                </a:cubicBezTo>
                <a:cubicBezTo>
                  <a:pt x="9240" y="6097"/>
                  <a:pt x="9621" y="5715"/>
                  <a:pt x="9693" y="5239"/>
                </a:cubicBezTo>
                <a:cubicBezTo>
                  <a:pt x="9717" y="4906"/>
                  <a:pt x="9621" y="4620"/>
                  <a:pt x="9407" y="4406"/>
                </a:cubicBezTo>
                <a:lnTo>
                  <a:pt x="9836" y="3810"/>
                </a:lnTo>
                <a:cubicBezTo>
                  <a:pt x="9907" y="3822"/>
                  <a:pt x="9979" y="3828"/>
                  <a:pt x="10056" y="3828"/>
                </a:cubicBezTo>
                <a:cubicBezTo>
                  <a:pt x="10133" y="3828"/>
                  <a:pt x="10217" y="3822"/>
                  <a:pt x="10312" y="3810"/>
                </a:cubicBezTo>
                <a:cubicBezTo>
                  <a:pt x="10717" y="3715"/>
                  <a:pt x="11050" y="3382"/>
                  <a:pt x="11145" y="2977"/>
                </a:cubicBezTo>
                <a:cubicBezTo>
                  <a:pt x="11277" y="2319"/>
                  <a:pt x="10762" y="1701"/>
                  <a:pt x="10121" y="1701"/>
                </a:cubicBezTo>
                <a:cubicBezTo>
                  <a:pt x="10067" y="1701"/>
                  <a:pt x="10011" y="1705"/>
                  <a:pt x="9955" y="1715"/>
                </a:cubicBezTo>
                <a:cubicBezTo>
                  <a:pt x="9478" y="1786"/>
                  <a:pt x="9097" y="2167"/>
                  <a:pt x="9026" y="2667"/>
                </a:cubicBezTo>
                <a:cubicBezTo>
                  <a:pt x="9002" y="2977"/>
                  <a:pt x="9097" y="3239"/>
                  <a:pt x="9264" y="3453"/>
                </a:cubicBezTo>
                <a:lnTo>
                  <a:pt x="8859" y="4072"/>
                </a:lnTo>
                <a:cubicBezTo>
                  <a:pt x="8788" y="4048"/>
                  <a:pt x="8693" y="4048"/>
                  <a:pt x="8645" y="4048"/>
                </a:cubicBezTo>
                <a:cubicBezTo>
                  <a:pt x="8050" y="4048"/>
                  <a:pt x="7573" y="4525"/>
                  <a:pt x="7573" y="5120"/>
                </a:cubicBezTo>
                <a:cubicBezTo>
                  <a:pt x="7573" y="5287"/>
                  <a:pt x="7621" y="5477"/>
                  <a:pt x="7692" y="5620"/>
                </a:cubicBezTo>
                <a:lnTo>
                  <a:pt x="7145" y="6216"/>
                </a:lnTo>
                <a:cubicBezTo>
                  <a:pt x="7002" y="6120"/>
                  <a:pt x="6835" y="6097"/>
                  <a:pt x="6668" y="6097"/>
                </a:cubicBezTo>
                <a:cubicBezTo>
                  <a:pt x="6406" y="6097"/>
                  <a:pt x="6168" y="6192"/>
                  <a:pt x="5954" y="6358"/>
                </a:cubicBezTo>
                <a:lnTo>
                  <a:pt x="5335" y="5906"/>
                </a:lnTo>
                <a:cubicBezTo>
                  <a:pt x="5359" y="5787"/>
                  <a:pt x="5359" y="5692"/>
                  <a:pt x="5335" y="5549"/>
                </a:cubicBezTo>
                <a:cubicBezTo>
                  <a:pt x="5287" y="5096"/>
                  <a:pt x="4882" y="4691"/>
                  <a:pt x="4382" y="4644"/>
                </a:cubicBezTo>
                <a:cubicBezTo>
                  <a:pt x="4344" y="4639"/>
                  <a:pt x="4306" y="4637"/>
                  <a:pt x="4269" y="4637"/>
                </a:cubicBezTo>
                <a:cubicBezTo>
                  <a:pt x="3698" y="4637"/>
                  <a:pt x="3215" y="5134"/>
                  <a:pt x="3215" y="5715"/>
                </a:cubicBezTo>
                <a:cubicBezTo>
                  <a:pt x="3215" y="5977"/>
                  <a:pt x="3310" y="6192"/>
                  <a:pt x="3453" y="6382"/>
                </a:cubicBezTo>
                <a:lnTo>
                  <a:pt x="3049" y="7073"/>
                </a:lnTo>
                <a:cubicBezTo>
                  <a:pt x="2953" y="7049"/>
                  <a:pt x="2834" y="7025"/>
                  <a:pt x="2715" y="7025"/>
                </a:cubicBezTo>
                <a:cubicBezTo>
                  <a:pt x="2120" y="7025"/>
                  <a:pt x="1643" y="7502"/>
                  <a:pt x="1643" y="8097"/>
                </a:cubicBezTo>
                <a:cubicBezTo>
                  <a:pt x="1643" y="8168"/>
                  <a:pt x="1643" y="8264"/>
                  <a:pt x="1667" y="8359"/>
                </a:cubicBezTo>
                <a:lnTo>
                  <a:pt x="691" y="9002"/>
                </a:lnTo>
                <a:lnTo>
                  <a:pt x="691" y="691"/>
                </a:lnTo>
                <a:lnTo>
                  <a:pt x="1239" y="691"/>
                </a:lnTo>
                <a:lnTo>
                  <a:pt x="123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3F6F7"/>
              </a:solidFill>
            </a:endParaRPr>
          </a:p>
        </p:txBody>
      </p:sp>
      <p:sp>
        <p:nvSpPr>
          <p:cNvPr id="366" name="Google Shape;366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67" name="Google Shape;367;p32"/>
          <p:cNvGrpSpPr/>
          <p:nvPr/>
        </p:nvGrpSpPr>
        <p:grpSpPr>
          <a:xfrm>
            <a:off x="8068236" y="2"/>
            <a:ext cx="1075752" cy="150822"/>
            <a:chOff x="921102" y="6027409"/>
            <a:chExt cx="2680001" cy="375740"/>
          </a:xfrm>
        </p:grpSpPr>
        <p:pic>
          <p:nvPicPr>
            <p:cNvPr descr="EMB0000378c3f3d" id="368" name="Google Shape;368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9" name="Google Shape;369;p3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프로젝트 선정배경</a:t>
            </a:r>
            <a:endParaRPr/>
          </a:p>
        </p:txBody>
      </p:sp>
      <p:sp>
        <p:nvSpPr>
          <p:cNvPr id="375" name="Google Shape;375;p33"/>
          <p:cNvSpPr txBox="1"/>
          <p:nvPr>
            <p:ph idx="3" type="subTitle"/>
          </p:nvPr>
        </p:nvSpPr>
        <p:spPr>
          <a:xfrm>
            <a:off x="708250" y="2447325"/>
            <a:ext cx="5674500" cy="13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나: 직무 분야 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피드백 제공자(지인): IT무지 / 피드백 내용 불가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자신의 직무를 잘 아는 ‘전문가’가 부족</a:t>
            </a:r>
            <a:r>
              <a:rPr lang="en"/>
              <a:t>해 실질적인 조언을 받기 어려움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주</a:t>
            </a:r>
            <a:r>
              <a:rPr lang="en"/>
              <a:t>변 지인의 비전문성으로 인해 정확한 피드백이 불가능함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76" name="Google Shape;376;p33"/>
          <p:cNvSpPr txBox="1"/>
          <p:nvPr>
            <p:ph idx="4" type="subTitle"/>
          </p:nvPr>
        </p:nvSpPr>
        <p:spPr>
          <a:xfrm>
            <a:off x="1171250" y="1680154"/>
            <a:ext cx="3346800" cy="46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나만의 전문 </a:t>
            </a:r>
            <a:r>
              <a:rPr lang="en">
                <a:highlight>
                  <a:srgbClr val="CFE2F3"/>
                </a:highlight>
              </a:rPr>
              <a:t>피드백 제공자 부족</a:t>
            </a:r>
            <a:endParaRPr/>
          </a:p>
        </p:txBody>
      </p:sp>
      <p:pic>
        <p:nvPicPr>
          <p:cNvPr id="377" name="Google Shape;37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0890" y="2174150"/>
            <a:ext cx="1833100" cy="18331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/>
          <p:nvPr/>
        </p:nvSpPr>
        <p:spPr>
          <a:xfrm>
            <a:off x="7105865" y="1989400"/>
            <a:ext cx="1379400" cy="748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lt1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iro"/>
                <a:ea typeface="Cairo"/>
                <a:cs typeface="Cairo"/>
                <a:sym typeface="Cairo"/>
              </a:rPr>
              <a:t>오, 좋은데?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379" name="Google Shape;379;p33"/>
          <p:cNvSpPr txBox="1"/>
          <p:nvPr>
            <p:ph idx="3" type="subTitle"/>
          </p:nvPr>
        </p:nvSpPr>
        <p:spPr>
          <a:xfrm>
            <a:off x="6484665" y="4062350"/>
            <a:ext cx="12084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[비전문가 지인]</a:t>
            </a:r>
            <a:endParaRPr sz="1400"/>
          </a:p>
        </p:txBody>
      </p:sp>
      <p:sp>
        <p:nvSpPr>
          <p:cNvPr id="380" name="Google Shape;380;p33"/>
          <p:cNvSpPr/>
          <p:nvPr/>
        </p:nvSpPr>
        <p:spPr>
          <a:xfrm>
            <a:off x="708238" y="1746409"/>
            <a:ext cx="329187" cy="329189"/>
          </a:xfrm>
          <a:custGeom>
            <a:rect b="b" l="l" r="r" t="t"/>
            <a:pathLst>
              <a:path extrusionOk="0" h="11479" w="11503">
                <a:moveTo>
                  <a:pt x="10169" y="2429"/>
                </a:moveTo>
                <a:cubicBezTo>
                  <a:pt x="10360" y="2429"/>
                  <a:pt x="10550" y="2620"/>
                  <a:pt x="10550" y="2834"/>
                </a:cubicBezTo>
                <a:cubicBezTo>
                  <a:pt x="10550" y="3024"/>
                  <a:pt x="10360" y="3215"/>
                  <a:pt x="10169" y="3215"/>
                </a:cubicBezTo>
                <a:cubicBezTo>
                  <a:pt x="9955" y="3215"/>
                  <a:pt x="9764" y="3024"/>
                  <a:pt x="9764" y="2834"/>
                </a:cubicBezTo>
                <a:cubicBezTo>
                  <a:pt x="9764" y="2620"/>
                  <a:pt x="9931" y="2429"/>
                  <a:pt x="10169" y="2429"/>
                </a:cubicBezTo>
                <a:close/>
                <a:moveTo>
                  <a:pt x="8669" y="4763"/>
                </a:moveTo>
                <a:cubicBezTo>
                  <a:pt x="8883" y="4763"/>
                  <a:pt x="9050" y="4930"/>
                  <a:pt x="9050" y="5144"/>
                </a:cubicBezTo>
                <a:cubicBezTo>
                  <a:pt x="9050" y="5358"/>
                  <a:pt x="8883" y="5525"/>
                  <a:pt x="8669" y="5525"/>
                </a:cubicBezTo>
                <a:cubicBezTo>
                  <a:pt x="8454" y="5525"/>
                  <a:pt x="8288" y="5358"/>
                  <a:pt x="8288" y="5144"/>
                </a:cubicBezTo>
                <a:cubicBezTo>
                  <a:pt x="8288" y="4930"/>
                  <a:pt x="8454" y="4763"/>
                  <a:pt x="8669" y="4763"/>
                </a:cubicBezTo>
                <a:close/>
                <a:moveTo>
                  <a:pt x="4335" y="5358"/>
                </a:moveTo>
                <a:cubicBezTo>
                  <a:pt x="4525" y="5358"/>
                  <a:pt x="4716" y="5525"/>
                  <a:pt x="4716" y="5739"/>
                </a:cubicBezTo>
                <a:cubicBezTo>
                  <a:pt x="4716" y="5954"/>
                  <a:pt x="4525" y="6120"/>
                  <a:pt x="4335" y="6120"/>
                </a:cubicBezTo>
                <a:cubicBezTo>
                  <a:pt x="4120" y="6120"/>
                  <a:pt x="3930" y="5954"/>
                  <a:pt x="3930" y="5739"/>
                </a:cubicBezTo>
                <a:cubicBezTo>
                  <a:pt x="3906" y="5525"/>
                  <a:pt x="4096" y="5358"/>
                  <a:pt x="4335" y="5358"/>
                </a:cubicBezTo>
                <a:close/>
                <a:moveTo>
                  <a:pt x="6716" y="6811"/>
                </a:moveTo>
                <a:cubicBezTo>
                  <a:pt x="6906" y="6811"/>
                  <a:pt x="7097" y="6978"/>
                  <a:pt x="7097" y="7192"/>
                </a:cubicBezTo>
                <a:cubicBezTo>
                  <a:pt x="7097" y="7406"/>
                  <a:pt x="6906" y="7573"/>
                  <a:pt x="6716" y="7573"/>
                </a:cubicBezTo>
                <a:cubicBezTo>
                  <a:pt x="6502" y="7573"/>
                  <a:pt x="6311" y="7406"/>
                  <a:pt x="6311" y="7192"/>
                </a:cubicBezTo>
                <a:cubicBezTo>
                  <a:pt x="6311" y="6978"/>
                  <a:pt x="6478" y="6811"/>
                  <a:pt x="6716" y="6811"/>
                </a:cubicBezTo>
                <a:close/>
                <a:moveTo>
                  <a:pt x="2715" y="7740"/>
                </a:moveTo>
                <a:cubicBezTo>
                  <a:pt x="2929" y="7740"/>
                  <a:pt x="3096" y="7906"/>
                  <a:pt x="3096" y="8121"/>
                </a:cubicBezTo>
                <a:cubicBezTo>
                  <a:pt x="3096" y="8335"/>
                  <a:pt x="2929" y="8502"/>
                  <a:pt x="2715" y="8502"/>
                </a:cubicBezTo>
                <a:cubicBezTo>
                  <a:pt x="2501" y="8502"/>
                  <a:pt x="2334" y="8335"/>
                  <a:pt x="2334" y="8121"/>
                </a:cubicBezTo>
                <a:cubicBezTo>
                  <a:pt x="2334" y="7906"/>
                  <a:pt x="2501" y="7740"/>
                  <a:pt x="2715" y="7740"/>
                </a:cubicBezTo>
                <a:close/>
                <a:moveTo>
                  <a:pt x="0" y="0"/>
                </a:moveTo>
                <a:lnTo>
                  <a:pt x="0" y="11479"/>
                </a:lnTo>
                <a:lnTo>
                  <a:pt x="11503" y="11479"/>
                </a:lnTo>
                <a:lnTo>
                  <a:pt x="11503" y="10264"/>
                </a:lnTo>
                <a:lnTo>
                  <a:pt x="10836" y="10264"/>
                </a:lnTo>
                <a:lnTo>
                  <a:pt x="10836" y="10288"/>
                </a:lnTo>
                <a:lnTo>
                  <a:pt x="10836" y="10836"/>
                </a:lnTo>
                <a:lnTo>
                  <a:pt x="691" y="10836"/>
                </a:lnTo>
                <a:lnTo>
                  <a:pt x="691" y="9883"/>
                </a:lnTo>
                <a:lnTo>
                  <a:pt x="2072" y="8954"/>
                </a:lnTo>
                <a:cubicBezTo>
                  <a:pt x="2243" y="9082"/>
                  <a:pt x="2490" y="9172"/>
                  <a:pt x="2746" y="9172"/>
                </a:cubicBezTo>
                <a:cubicBezTo>
                  <a:pt x="2775" y="9172"/>
                  <a:pt x="2805" y="9171"/>
                  <a:pt x="2834" y="9169"/>
                </a:cubicBezTo>
                <a:cubicBezTo>
                  <a:pt x="3334" y="9097"/>
                  <a:pt x="3739" y="8716"/>
                  <a:pt x="3787" y="8216"/>
                </a:cubicBezTo>
                <a:cubicBezTo>
                  <a:pt x="3811" y="7930"/>
                  <a:pt x="3739" y="7668"/>
                  <a:pt x="3620" y="7478"/>
                </a:cubicBezTo>
                <a:lnTo>
                  <a:pt x="4049" y="6716"/>
                </a:lnTo>
                <a:cubicBezTo>
                  <a:pt x="4144" y="6740"/>
                  <a:pt x="4239" y="6740"/>
                  <a:pt x="4335" y="6740"/>
                </a:cubicBezTo>
                <a:cubicBezTo>
                  <a:pt x="4596" y="6740"/>
                  <a:pt x="4835" y="6668"/>
                  <a:pt x="5001" y="6478"/>
                </a:cubicBezTo>
                <a:lnTo>
                  <a:pt x="5644" y="6930"/>
                </a:lnTo>
                <a:cubicBezTo>
                  <a:pt x="5597" y="7073"/>
                  <a:pt x="5597" y="7216"/>
                  <a:pt x="5644" y="7382"/>
                </a:cubicBezTo>
                <a:cubicBezTo>
                  <a:pt x="5716" y="7787"/>
                  <a:pt x="6049" y="8121"/>
                  <a:pt x="6478" y="8168"/>
                </a:cubicBezTo>
                <a:cubicBezTo>
                  <a:pt x="6542" y="8180"/>
                  <a:pt x="6606" y="8186"/>
                  <a:pt x="6669" y="8186"/>
                </a:cubicBezTo>
                <a:cubicBezTo>
                  <a:pt x="7234" y="8186"/>
                  <a:pt x="7716" y="7723"/>
                  <a:pt x="7716" y="7144"/>
                </a:cubicBezTo>
                <a:cubicBezTo>
                  <a:pt x="7716" y="6954"/>
                  <a:pt x="7692" y="6811"/>
                  <a:pt x="7597" y="6692"/>
                </a:cubicBezTo>
                <a:lnTo>
                  <a:pt x="8169" y="6073"/>
                </a:lnTo>
                <a:cubicBezTo>
                  <a:pt x="8289" y="6124"/>
                  <a:pt x="8434" y="6163"/>
                  <a:pt x="8585" y="6163"/>
                </a:cubicBezTo>
                <a:cubicBezTo>
                  <a:pt x="8644" y="6163"/>
                  <a:pt x="8704" y="6157"/>
                  <a:pt x="8764" y="6144"/>
                </a:cubicBezTo>
                <a:cubicBezTo>
                  <a:pt x="9240" y="6097"/>
                  <a:pt x="9621" y="5715"/>
                  <a:pt x="9693" y="5239"/>
                </a:cubicBezTo>
                <a:cubicBezTo>
                  <a:pt x="9717" y="4906"/>
                  <a:pt x="9621" y="4620"/>
                  <a:pt x="9407" y="4406"/>
                </a:cubicBezTo>
                <a:lnTo>
                  <a:pt x="9836" y="3810"/>
                </a:lnTo>
                <a:cubicBezTo>
                  <a:pt x="9907" y="3822"/>
                  <a:pt x="9979" y="3828"/>
                  <a:pt x="10056" y="3828"/>
                </a:cubicBezTo>
                <a:cubicBezTo>
                  <a:pt x="10133" y="3828"/>
                  <a:pt x="10217" y="3822"/>
                  <a:pt x="10312" y="3810"/>
                </a:cubicBezTo>
                <a:cubicBezTo>
                  <a:pt x="10717" y="3715"/>
                  <a:pt x="11050" y="3382"/>
                  <a:pt x="11145" y="2977"/>
                </a:cubicBezTo>
                <a:cubicBezTo>
                  <a:pt x="11277" y="2319"/>
                  <a:pt x="10762" y="1701"/>
                  <a:pt x="10121" y="1701"/>
                </a:cubicBezTo>
                <a:cubicBezTo>
                  <a:pt x="10067" y="1701"/>
                  <a:pt x="10011" y="1705"/>
                  <a:pt x="9955" y="1715"/>
                </a:cubicBezTo>
                <a:cubicBezTo>
                  <a:pt x="9478" y="1786"/>
                  <a:pt x="9097" y="2167"/>
                  <a:pt x="9026" y="2667"/>
                </a:cubicBezTo>
                <a:cubicBezTo>
                  <a:pt x="9002" y="2977"/>
                  <a:pt x="9097" y="3239"/>
                  <a:pt x="9264" y="3453"/>
                </a:cubicBezTo>
                <a:lnTo>
                  <a:pt x="8859" y="4072"/>
                </a:lnTo>
                <a:cubicBezTo>
                  <a:pt x="8788" y="4048"/>
                  <a:pt x="8693" y="4048"/>
                  <a:pt x="8645" y="4048"/>
                </a:cubicBezTo>
                <a:cubicBezTo>
                  <a:pt x="8050" y="4048"/>
                  <a:pt x="7573" y="4525"/>
                  <a:pt x="7573" y="5120"/>
                </a:cubicBezTo>
                <a:cubicBezTo>
                  <a:pt x="7573" y="5287"/>
                  <a:pt x="7621" y="5477"/>
                  <a:pt x="7692" y="5620"/>
                </a:cubicBezTo>
                <a:lnTo>
                  <a:pt x="7145" y="6216"/>
                </a:lnTo>
                <a:cubicBezTo>
                  <a:pt x="7002" y="6120"/>
                  <a:pt x="6835" y="6097"/>
                  <a:pt x="6668" y="6097"/>
                </a:cubicBezTo>
                <a:cubicBezTo>
                  <a:pt x="6406" y="6097"/>
                  <a:pt x="6168" y="6192"/>
                  <a:pt x="5954" y="6358"/>
                </a:cubicBezTo>
                <a:lnTo>
                  <a:pt x="5335" y="5906"/>
                </a:lnTo>
                <a:cubicBezTo>
                  <a:pt x="5359" y="5787"/>
                  <a:pt x="5359" y="5692"/>
                  <a:pt x="5335" y="5549"/>
                </a:cubicBezTo>
                <a:cubicBezTo>
                  <a:pt x="5287" y="5096"/>
                  <a:pt x="4882" y="4691"/>
                  <a:pt x="4382" y="4644"/>
                </a:cubicBezTo>
                <a:cubicBezTo>
                  <a:pt x="4344" y="4639"/>
                  <a:pt x="4306" y="4637"/>
                  <a:pt x="4269" y="4637"/>
                </a:cubicBezTo>
                <a:cubicBezTo>
                  <a:pt x="3698" y="4637"/>
                  <a:pt x="3215" y="5134"/>
                  <a:pt x="3215" y="5715"/>
                </a:cubicBezTo>
                <a:cubicBezTo>
                  <a:pt x="3215" y="5977"/>
                  <a:pt x="3310" y="6192"/>
                  <a:pt x="3453" y="6382"/>
                </a:cubicBezTo>
                <a:lnTo>
                  <a:pt x="3049" y="7073"/>
                </a:lnTo>
                <a:cubicBezTo>
                  <a:pt x="2953" y="7049"/>
                  <a:pt x="2834" y="7025"/>
                  <a:pt x="2715" y="7025"/>
                </a:cubicBezTo>
                <a:cubicBezTo>
                  <a:pt x="2120" y="7025"/>
                  <a:pt x="1643" y="7502"/>
                  <a:pt x="1643" y="8097"/>
                </a:cubicBezTo>
                <a:cubicBezTo>
                  <a:pt x="1643" y="8168"/>
                  <a:pt x="1643" y="8264"/>
                  <a:pt x="1667" y="8359"/>
                </a:cubicBezTo>
                <a:lnTo>
                  <a:pt x="691" y="9002"/>
                </a:lnTo>
                <a:lnTo>
                  <a:pt x="691" y="691"/>
                </a:lnTo>
                <a:lnTo>
                  <a:pt x="1239" y="691"/>
                </a:lnTo>
                <a:lnTo>
                  <a:pt x="123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3F6F7"/>
              </a:solidFill>
            </a:endParaRPr>
          </a:p>
        </p:txBody>
      </p:sp>
      <p:sp>
        <p:nvSpPr>
          <p:cNvPr id="381" name="Google Shape;381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82" name="Google Shape;382;p33"/>
          <p:cNvGrpSpPr/>
          <p:nvPr/>
        </p:nvGrpSpPr>
        <p:grpSpPr>
          <a:xfrm>
            <a:off x="8068236" y="2"/>
            <a:ext cx="1075752" cy="150822"/>
            <a:chOff x="921102" y="6027409"/>
            <a:chExt cx="2680001" cy="375740"/>
          </a:xfrm>
        </p:grpSpPr>
        <p:pic>
          <p:nvPicPr>
            <p:cNvPr descr="EMB0000378c3f3d" id="383" name="Google Shape;383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4" name="Google Shape;384;p3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프로젝트 선정배경</a:t>
            </a:r>
            <a:endParaRPr/>
          </a:p>
        </p:txBody>
      </p:sp>
      <p:pic>
        <p:nvPicPr>
          <p:cNvPr id="390" name="Google Shape;390;p34"/>
          <p:cNvPicPr preferRelativeResize="0"/>
          <p:nvPr/>
        </p:nvPicPr>
        <p:blipFill rotWithShape="1">
          <a:blip r:embed="rId3">
            <a:alphaModFix/>
          </a:blip>
          <a:srcRect b="79166" l="0" r="0" t="0"/>
          <a:stretch/>
        </p:blipFill>
        <p:spPr>
          <a:xfrm>
            <a:off x="632575" y="2272862"/>
            <a:ext cx="3924450" cy="4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34"/>
          <p:cNvSpPr txBox="1"/>
          <p:nvPr>
            <p:ph idx="2" type="subTitle"/>
          </p:nvPr>
        </p:nvSpPr>
        <p:spPr>
          <a:xfrm>
            <a:off x="4679300" y="1885203"/>
            <a:ext cx="3999300" cy="19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/>
              <a:t>면접 포비아 증상</a:t>
            </a:r>
            <a:endParaRPr b="1" sz="9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▲답변 내용이 갑자기 생각나지 않음(53.7%, 복수응답)이 가장 많았다. </a:t>
            </a:r>
            <a:endParaRPr sz="9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▲목소리가 떨리거나 목이 잠김(52.7%)이 있었으며</a:t>
            </a:r>
            <a:endParaRPr sz="9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▲면접 전날 불면증으로 컨디션 난조(27.3%) </a:t>
            </a:r>
            <a:endParaRPr sz="9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▲의지와 상관없이 손이나 몸이 떨림(26.1%) </a:t>
            </a:r>
            <a:endParaRPr sz="9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▲면접장에서 도망치고 싶은 충동이 듦(20.0%) 등이 있었으며, </a:t>
            </a:r>
            <a:endParaRPr sz="9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▲11.4%는 '극심한 스트레스로 질병이 발생했다'고 답하기도 했다.</a:t>
            </a:r>
            <a:endParaRPr sz="9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highlight>
                  <a:srgbClr val="FFFF00"/>
                </a:highlight>
              </a:rPr>
              <a:t>이 때문에 대다수인 90.9%가 면접에서 제 실력을 발휘하지 못했다고 답했다. </a:t>
            </a:r>
            <a:endParaRPr sz="900"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또, 면접 포비아로 인해 아예 면접을 포기한 경험이 있는 구직자들도 30.5%나 됐다.</a:t>
            </a:r>
            <a:endParaRPr sz="900"/>
          </a:p>
        </p:txBody>
      </p:sp>
      <p:sp>
        <p:nvSpPr>
          <p:cNvPr id="392" name="Google Shape;392;p34"/>
          <p:cNvSpPr txBox="1"/>
          <p:nvPr>
            <p:ph idx="5" type="subTitle"/>
          </p:nvPr>
        </p:nvSpPr>
        <p:spPr>
          <a:xfrm>
            <a:off x="1443925" y="4039675"/>
            <a:ext cx="6417900" cy="7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highlight>
                  <a:schemeClr val="lt1"/>
                </a:highlight>
              </a:rPr>
              <a:t>기존 앱의 한계, 해소하지 못하는 부부들</a:t>
            </a:r>
            <a:endParaRPr sz="1500">
              <a:highlight>
                <a:schemeClr val="lt1"/>
              </a:highlight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CFE2F3"/>
                </a:highlight>
              </a:rPr>
              <a:t>“ 구직자의 마음을 무엇보다 우선으로 공감하는 서비스 구축 ”</a:t>
            </a:r>
            <a:endParaRPr>
              <a:highlight>
                <a:srgbClr val="CFE2F3"/>
              </a:highlight>
            </a:endParaRPr>
          </a:p>
        </p:txBody>
      </p:sp>
      <p:sp>
        <p:nvSpPr>
          <p:cNvPr id="393" name="Google Shape;393;p34"/>
          <p:cNvSpPr txBox="1"/>
          <p:nvPr>
            <p:ph idx="4" type="subTitle"/>
          </p:nvPr>
        </p:nvSpPr>
        <p:spPr>
          <a:xfrm>
            <a:off x="865525" y="1326115"/>
            <a:ext cx="6600600" cy="50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면접 준비기간부터 겪는 심리적 압박감</a:t>
            </a:r>
            <a:endParaRPr/>
          </a:p>
        </p:txBody>
      </p:sp>
      <p:pic>
        <p:nvPicPr>
          <p:cNvPr id="394" name="Google Shape;394;p34"/>
          <p:cNvPicPr preferRelativeResize="0"/>
          <p:nvPr/>
        </p:nvPicPr>
        <p:blipFill rotWithShape="1">
          <a:blip r:embed="rId3">
            <a:alphaModFix/>
          </a:blip>
          <a:srcRect b="0" l="0" r="0" t="50738"/>
          <a:stretch/>
        </p:blipFill>
        <p:spPr>
          <a:xfrm>
            <a:off x="632575" y="2698998"/>
            <a:ext cx="3924450" cy="1007613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4"/>
          <p:cNvSpPr/>
          <p:nvPr/>
        </p:nvSpPr>
        <p:spPr>
          <a:xfrm flipH="1" rot="10800000">
            <a:off x="579113" y="1459799"/>
            <a:ext cx="329189" cy="284478"/>
          </a:xfrm>
          <a:custGeom>
            <a:rect b="b" l="l" r="r" t="t"/>
            <a:pathLst>
              <a:path extrusionOk="0" h="11479" w="11480">
                <a:moveTo>
                  <a:pt x="3216" y="667"/>
                </a:moveTo>
                <a:lnTo>
                  <a:pt x="3216" y="2286"/>
                </a:lnTo>
                <a:lnTo>
                  <a:pt x="668" y="2286"/>
                </a:lnTo>
                <a:lnTo>
                  <a:pt x="668" y="667"/>
                </a:lnTo>
                <a:close/>
                <a:moveTo>
                  <a:pt x="3882" y="1262"/>
                </a:moveTo>
                <a:lnTo>
                  <a:pt x="4668" y="2191"/>
                </a:lnTo>
                <a:lnTo>
                  <a:pt x="4668" y="3406"/>
                </a:lnTo>
                <a:lnTo>
                  <a:pt x="3882" y="2501"/>
                </a:lnTo>
                <a:lnTo>
                  <a:pt x="3882" y="1262"/>
                </a:lnTo>
                <a:close/>
                <a:moveTo>
                  <a:pt x="10003" y="2405"/>
                </a:moveTo>
                <a:lnTo>
                  <a:pt x="10622" y="3215"/>
                </a:lnTo>
                <a:lnTo>
                  <a:pt x="10003" y="4001"/>
                </a:lnTo>
                <a:lnTo>
                  <a:pt x="5335" y="4001"/>
                </a:lnTo>
                <a:lnTo>
                  <a:pt x="5335" y="2405"/>
                </a:lnTo>
                <a:close/>
                <a:moveTo>
                  <a:pt x="3216" y="2929"/>
                </a:moveTo>
                <a:lnTo>
                  <a:pt x="3216" y="4549"/>
                </a:lnTo>
                <a:lnTo>
                  <a:pt x="668" y="4549"/>
                </a:lnTo>
                <a:lnTo>
                  <a:pt x="668" y="2929"/>
                </a:lnTo>
                <a:close/>
                <a:moveTo>
                  <a:pt x="3882" y="3525"/>
                </a:moveTo>
                <a:lnTo>
                  <a:pt x="4668" y="4454"/>
                </a:lnTo>
                <a:lnTo>
                  <a:pt x="4668" y="5668"/>
                </a:lnTo>
                <a:lnTo>
                  <a:pt x="3882" y="4763"/>
                </a:lnTo>
                <a:lnTo>
                  <a:pt x="3882" y="3525"/>
                </a:lnTo>
                <a:close/>
                <a:moveTo>
                  <a:pt x="10003" y="4668"/>
                </a:moveTo>
                <a:lnTo>
                  <a:pt x="10622" y="5478"/>
                </a:lnTo>
                <a:lnTo>
                  <a:pt x="10003" y="6263"/>
                </a:lnTo>
                <a:lnTo>
                  <a:pt x="5335" y="6263"/>
                </a:lnTo>
                <a:lnTo>
                  <a:pt x="5335" y="4668"/>
                </a:lnTo>
                <a:close/>
                <a:moveTo>
                  <a:pt x="3216" y="5239"/>
                </a:moveTo>
                <a:lnTo>
                  <a:pt x="3216" y="6835"/>
                </a:lnTo>
                <a:lnTo>
                  <a:pt x="668" y="6835"/>
                </a:lnTo>
                <a:lnTo>
                  <a:pt x="668" y="5239"/>
                </a:lnTo>
                <a:close/>
                <a:moveTo>
                  <a:pt x="3882" y="5787"/>
                </a:moveTo>
                <a:lnTo>
                  <a:pt x="4668" y="6716"/>
                </a:lnTo>
                <a:lnTo>
                  <a:pt x="4668" y="7930"/>
                </a:lnTo>
                <a:lnTo>
                  <a:pt x="3882" y="7025"/>
                </a:lnTo>
                <a:lnTo>
                  <a:pt x="3882" y="5787"/>
                </a:lnTo>
                <a:close/>
                <a:moveTo>
                  <a:pt x="10003" y="6954"/>
                </a:moveTo>
                <a:lnTo>
                  <a:pt x="10622" y="7764"/>
                </a:lnTo>
                <a:lnTo>
                  <a:pt x="10003" y="8573"/>
                </a:lnTo>
                <a:lnTo>
                  <a:pt x="5335" y="8573"/>
                </a:lnTo>
                <a:lnTo>
                  <a:pt x="5335" y="6954"/>
                </a:lnTo>
                <a:close/>
                <a:moveTo>
                  <a:pt x="3216" y="7478"/>
                </a:moveTo>
                <a:lnTo>
                  <a:pt x="3216" y="9097"/>
                </a:lnTo>
                <a:lnTo>
                  <a:pt x="668" y="9097"/>
                </a:lnTo>
                <a:lnTo>
                  <a:pt x="668" y="7478"/>
                </a:lnTo>
                <a:close/>
                <a:moveTo>
                  <a:pt x="3882" y="8073"/>
                </a:moveTo>
                <a:lnTo>
                  <a:pt x="4668" y="9002"/>
                </a:lnTo>
                <a:lnTo>
                  <a:pt x="4668" y="10217"/>
                </a:lnTo>
                <a:lnTo>
                  <a:pt x="3882" y="9312"/>
                </a:lnTo>
                <a:lnTo>
                  <a:pt x="3882" y="8073"/>
                </a:lnTo>
                <a:close/>
                <a:moveTo>
                  <a:pt x="10003" y="9216"/>
                </a:moveTo>
                <a:lnTo>
                  <a:pt x="10622" y="10026"/>
                </a:lnTo>
                <a:lnTo>
                  <a:pt x="10003" y="10836"/>
                </a:lnTo>
                <a:lnTo>
                  <a:pt x="5335" y="10836"/>
                </a:lnTo>
                <a:lnTo>
                  <a:pt x="5335" y="9216"/>
                </a:lnTo>
                <a:close/>
                <a:moveTo>
                  <a:pt x="1" y="0"/>
                </a:moveTo>
                <a:lnTo>
                  <a:pt x="1" y="9764"/>
                </a:lnTo>
                <a:lnTo>
                  <a:pt x="3382" y="9764"/>
                </a:lnTo>
                <a:lnTo>
                  <a:pt x="4835" y="11479"/>
                </a:lnTo>
                <a:lnTo>
                  <a:pt x="10312" y="11479"/>
                </a:lnTo>
                <a:lnTo>
                  <a:pt x="11479" y="10002"/>
                </a:lnTo>
                <a:lnTo>
                  <a:pt x="10598" y="8859"/>
                </a:lnTo>
                <a:lnTo>
                  <a:pt x="11479" y="7740"/>
                </a:lnTo>
                <a:lnTo>
                  <a:pt x="10598" y="6597"/>
                </a:lnTo>
                <a:lnTo>
                  <a:pt x="11479" y="5478"/>
                </a:lnTo>
                <a:lnTo>
                  <a:pt x="10598" y="4334"/>
                </a:lnTo>
                <a:lnTo>
                  <a:pt x="11479" y="3215"/>
                </a:lnTo>
                <a:lnTo>
                  <a:pt x="10312" y="1715"/>
                </a:lnTo>
                <a:lnTo>
                  <a:pt x="5168" y="1715"/>
                </a:lnTo>
                <a:lnTo>
                  <a:pt x="371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3F6F7"/>
              </a:solidFill>
            </a:endParaRPr>
          </a:p>
        </p:txBody>
      </p:sp>
      <p:sp>
        <p:nvSpPr>
          <p:cNvPr id="396" name="Google Shape;396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97" name="Google Shape;397;p34"/>
          <p:cNvGrpSpPr/>
          <p:nvPr/>
        </p:nvGrpSpPr>
        <p:grpSpPr>
          <a:xfrm>
            <a:off x="8068236" y="2"/>
            <a:ext cx="1075752" cy="150822"/>
            <a:chOff x="921102" y="6027409"/>
            <a:chExt cx="2680001" cy="375740"/>
          </a:xfrm>
        </p:grpSpPr>
        <p:pic>
          <p:nvPicPr>
            <p:cNvPr descr="EMB0000378c3f3d" id="398" name="Google Shape;398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9" name="Google Shape;399;p3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프로젝트 </a:t>
            </a:r>
            <a:r>
              <a:rPr lang="en"/>
              <a:t>선정이유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&amp;</a:t>
            </a:r>
            <a:r>
              <a:rPr lang="en"/>
              <a:t> 필요성</a:t>
            </a:r>
            <a:endParaRPr/>
          </a:p>
        </p:txBody>
      </p:sp>
      <p:sp>
        <p:nvSpPr>
          <p:cNvPr id="405" name="Google Shape;405;p35"/>
          <p:cNvSpPr txBox="1"/>
          <p:nvPr>
            <p:ph idx="7" type="subTitle"/>
          </p:nvPr>
        </p:nvSpPr>
        <p:spPr>
          <a:xfrm>
            <a:off x="6141178" y="3758937"/>
            <a:ext cx="2939700" cy="32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Increasing Confidence</a:t>
            </a:r>
            <a:endParaRPr sz="1500"/>
          </a:p>
        </p:txBody>
      </p:sp>
      <p:sp>
        <p:nvSpPr>
          <p:cNvPr id="406" name="Google Shape;406;p35"/>
          <p:cNvSpPr txBox="1"/>
          <p:nvPr>
            <p:ph idx="8" type="subTitle"/>
          </p:nvPr>
        </p:nvSpPr>
        <p:spPr>
          <a:xfrm>
            <a:off x="748138" y="3659037"/>
            <a:ext cx="1972200" cy="42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Speech Skill</a:t>
            </a:r>
            <a:endParaRPr sz="1600"/>
          </a:p>
        </p:txBody>
      </p:sp>
      <p:sp>
        <p:nvSpPr>
          <p:cNvPr id="407" name="Google Shape;407;p35"/>
          <p:cNvSpPr txBox="1"/>
          <p:nvPr>
            <p:ph idx="14" type="subTitle"/>
          </p:nvPr>
        </p:nvSpPr>
        <p:spPr>
          <a:xfrm>
            <a:off x="3390701" y="3758937"/>
            <a:ext cx="2408400" cy="32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Rich Feedback</a:t>
            </a:r>
            <a:endParaRPr sz="1600"/>
          </a:p>
        </p:txBody>
      </p:sp>
      <p:pic>
        <p:nvPicPr>
          <p:cNvPr id="408" name="Google Shape;40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38" y="1896700"/>
            <a:ext cx="1868465" cy="1862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00979" y="1762937"/>
            <a:ext cx="1862239" cy="1862239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35"/>
          <p:cNvSpPr txBox="1"/>
          <p:nvPr>
            <p:ph idx="14" type="subTitle"/>
          </p:nvPr>
        </p:nvSpPr>
        <p:spPr>
          <a:xfrm>
            <a:off x="903800" y="1312575"/>
            <a:ext cx="3420000" cy="38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대상: 취업준비생</a:t>
            </a:r>
            <a:endParaRPr sz="1600"/>
          </a:p>
        </p:txBody>
      </p:sp>
      <p:pic>
        <p:nvPicPr>
          <p:cNvPr id="411" name="Google Shape;41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65175" y="1989020"/>
            <a:ext cx="2828925" cy="1609725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13" name="Google Shape;413;p35"/>
          <p:cNvGrpSpPr/>
          <p:nvPr/>
        </p:nvGrpSpPr>
        <p:grpSpPr>
          <a:xfrm>
            <a:off x="8068236" y="2"/>
            <a:ext cx="1075752" cy="150822"/>
            <a:chOff x="921102" y="6027409"/>
            <a:chExt cx="2680001" cy="375740"/>
          </a:xfrm>
        </p:grpSpPr>
        <p:pic>
          <p:nvPicPr>
            <p:cNvPr descr="EMB0000378c3f3d" id="414" name="Google Shape;414;p3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5" name="Google Shape;415;p3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6"/>
          <p:cNvSpPr txBox="1"/>
          <p:nvPr>
            <p:ph type="title"/>
          </p:nvPr>
        </p:nvSpPr>
        <p:spPr>
          <a:xfrm>
            <a:off x="494030" y="1546572"/>
            <a:ext cx="7774200" cy="45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음성·텍스트 기반 Multimodal을 활용한 개인 맞춤형 면접 대비 시스템</a:t>
            </a:r>
            <a:endParaRPr sz="1500"/>
          </a:p>
        </p:txBody>
      </p:sp>
      <p:sp>
        <p:nvSpPr>
          <p:cNvPr id="421" name="Google Shape;421;p36"/>
          <p:cNvSpPr txBox="1"/>
          <p:nvPr>
            <p:ph idx="1" type="subTitle"/>
          </p:nvPr>
        </p:nvSpPr>
        <p:spPr>
          <a:xfrm>
            <a:off x="355125" y="2527225"/>
            <a:ext cx="4388400" cy="15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멀티모달 분석을 통해 학습자의 자연스러운 발화와 유창성을 향상</a:t>
            </a:r>
            <a:endParaRPr sz="11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다양한 질문을 제공하고 답변을 분석하여  실제 면접 능력을 체계적으로 개선</a:t>
            </a:r>
            <a:endParaRPr sz="1100"/>
          </a:p>
        </p:txBody>
      </p:sp>
      <p:sp>
        <p:nvSpPr>
          <p:cNvPr id="422" name="Google Shape;422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프로젝트 주제</a:t>
            </a:r>
            <a:endParaRPr/>
          </a:p>
        </p:txBody>
      </p:sp>
      <p:pic>
        <p:nvPicPr>
          <p:cNvPr id="423" name="Google Shape;42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2145" y="2090653"/>
            <a:ext cx="3748650" cy="25786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70000"/>
              </a:srgbClr>
            </a:outerShdw>
          </a:effectLst>
        </p:spPr>
      </p:pic>
      <p:sp>
        <p:nvSpPr>
          <p:cNvPr id="424" name="Google Shape;424;p36"/>
          <p:cNvSpPr txBox="1"/>
          <p:nvPr>
            <p:ph type="title"/>
          </p:nvPr>
        </p:nvSpPr>
        <p:spPr>
          <a:xfrm>
            <a:off x="504725" y="1285537"/>
            <a:ext cx="4753200" cy="45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PersonaFit Interview AI</a:t>
            </a:r>
            <a:endParaRPr sz="2400"/>
          </a:p>
        </p:txBody>
      </p:sp>
      <p:sp>
        <p:nvSpPr>
          <p:cNvPr id="425" name="Google Shape;425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26" name="Google Shape;426;p36"/>
          <p:cNvGrpSpPr/>
          <p:nvPr/>
        </p:nvGrpSpPr>
        <p:grpSpPr>
          <a:xfrm>
            <a:off x="8068236" y="2"/>
            <a:ext cx="1075752" cy="150822"/>
            <a:chOff x="921102" y="6027409"/>
            <a:chExt cx="2680001" cy="375740"/>
          </a:xfrm>
        </p:grpSpPr>
        <p:pic>
          <p:nvPicPr>
            <p:cNvPr descr="EMB0000378c3f3d" id="427" name="Google Shape;427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8" name="Google Shape;428;p3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7"/>
          <p:cNvSpPr txBox="1"/>
          <p:nvPr>
            <p:ph type="title"/>
          </p:nvPr>
        </p:nvSpPr>
        <p:spPr>
          <a:xfrm>
            <a:off x="638400" y="317000"/>
            <a:ext cx="4753200" cy="7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PersonaFit Interview A</a:t>
            </a:r>
            <a:r>
              <a:rPr lang="en"/>
              <a:t>I</a:t>
            </a:r>
            <a:endParaRPr/>
          </a:p>
        </p:txBody>
      </p:sp>
      <p:sp>
        <p:nvSpPr>
          <p:cNvPr id="434" name="Google Shape;434;p37"/>
          <p:cNvSpPr txBox="1"/>
          <p:nvPr>
            <p:ph idx="1" type="subTitle"/>
          </p:nvPr>
        </p:nvSpPr>
        <p:spPr>
          <a:xfrm>
            <a:off x="538875" y="3646202"/>
            <a:ext cx="2745300" cy="114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</a:t>
            </a:r>
            <a:r>
              <a:rPr lang="en"/>
              <a:t>사용자의 직무 선택 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사용자의 면접 키워드 입력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실제 음성 </a:t>
            </a:r>
            <a:r>
              <a:rPr lang="en"/>
              <a:t>입력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37"/>
          <p:cNvSpPr/>
          <p:nvPr/>
        </p:nvSpPr>
        <p:spPr>
          <a:xfrm>
            <a:off x="3860955" y="1579356"/>
            <a:ext cx="1510099" cy="2747870"/>
          </a:xfrm>
          <a:custGeom>
            <a:rect b="b" l="l" r="r" t="t"/>
            <a:pathLst>
              <a:path extrusionOk="0" h="161331" w="84552">
                <a:moveTo>
                  <a:pt x="1" y="1"/>
                </a:moveTo>
                <a:lnTo>
                  <a:pt x="1" y="161331"/>
                </a:lnTo>
                <a:lnTo>
                  <a:pt x="84551" y="161331"/>
                </a:lnTo>
                <a:lnTo>
                  <a:pt x="84551" y="1"/>
                </a:lnTo>
                <a:close/>
              </a:path>
            </a:pathLst>
          </a:custGeom>
          <a:solidFill>
            <a:srgbClr val="9090F1"/>
          </a:solidFill>
          <a:ln>
            <a:noFill/>
          </a:ln>
        </p:spPr>
        <p:txBody>
          <a:bodyPr anchorCtr="0" anchor="ctr" bIns="79075" lIns="79075" spcFirstLastPara="1" rIns="79075" wrap="square" tIns="79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11"/>
          </a:p>
        </p:txBody>
      </p:sp>
      <p:grpSp>
        <p:nvGrpSpPr>
          <p:cNvPr id="436" name="Google Shape;436;p37"/>
          <p:cNvGrpSpPr/>
          <p:nvPr/>
        </p:nvGrpSpPr>
        <p:grpSpPr>
          <a:xfrm>
            <a:off x="3783803" y="1421449"/>
            <a:ext cx="1664688" cy="3222219"/>
            <a:chOff x="5186401" y="494525"/>
            <a:chExt cx="1834973" cy="3724678"/>
          </a:xfrm>
        </p:grpSpPr>
        <p:sp>
          <p:nvSpPr>
            <p:cNvPr id="437" name="Google Shape;437;p37"/>
            <p:cNvSpPr/>
            <p:nvPr/>
          </p:nvSpPr>
          <p:spPr>
            <a:xfrm>
              <a:off x="5186401" y="494525"/>
              <a:ext cx="1834973" cy="3724678"/>
            </a:xfrm>
            <a:custGeom>
              <a:rect b="b" l="l" r="r" t="t"/>
              <a:pathLst>
                <a:path extrusionOk="0" h="189190" w="93205">
                  <a:moveTo>
                    <a:pt x="2870" y="0"/>
                  </a:moveTo>
                  <a:cubicBezTo>
                    <a:pt x="1280" y="0"/>
                    <a:pt x="0" y="1280"/>
                    <a:pt x="0" y="2914"/>
                  </a:cubicBezTo>
                  <a:lnTo>
                    <a:pt x="0" y="186320"/>
                  </a:lnTo>
                  <a:cubicBezTo>
                    <a:pt x="0" y="187909"/>
                    <a:pt x="1280" y="189190"/>
                    <a:pt x="2870" y="189190"/>
                  </a:cubicBezTo>
                  <a:lnTo>
                    <a:pt x="90334" y="189190"/>
                  </a:lnTo>
                  <a:cubicBezTo>
                    <a:pt x="91924" y="189190"/>
                    <a:pt x="93204" y="187909"/>
                    <a:pt x="93204" y="186320"/>
                  </a:cubicBezTo>
                  <a:lnTo>
                    <a:pt x="93204" y="2914"/>
                  </a:lnTo>
                  <a:cubicBezTo>
                    <a:pt x="93204" y="1280"/>
                    <a:pt x="91924" y="0"/>
                    <a:pt x="903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75" lIns="79075" spcFirstLastPara="1" rIns="79075" wrap="square" tIns="79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37"/>
            <p:cNvSpPr/>
            <p:nvPr/>
          </p:nvSpPr>
          <p:spPr>
            <a:xfrm>
              <a:off x="5890455" y="3969678"/>
              <a:ext cx="458108" cy="154724"/>
            </a:xfrm>
            <a:custGeom>
              <a:rect b="b" l="l" r="r" t="t"/>
              <a:pathLst>
                <a:path extrusionOk="0" h="7859" w="23269">
                  <a:moveTo>
                    <a:pt x="796" y="0"/>
                  </a:moveTo>
                  <a:cubicBezTo>
                    <a:pt x="354" y="0"/>
                    <a:pt x="1" y="353"/>
                    <a:pt x="1" y="751"/>
                  </a:cubicBezTo>
                  <a:lnTo>
                    <a:pt x="1" y="7064"/>
                  </a:lnTo>
                  <a:cubicBezTo>
                    <a:pt x="1" y="7506"/>
                    <a:pt x="354" y="7859"/>
                    <a:pt x="796" y="7859"/>
                  </a:cubicBezTo>
                  <a:lnTo>
                    <a:pt x="22474" y="7859"/>
                  </a:lnTo>
                  <a:cubicBezTo>
                    <a:pt x="22916" y="7859"/>
                    <a:pt x="23269" y="7506"/>
                    <a:pt x="23269" y="7064"/>
                  </a:cubicBezTo>
                  <a:lnTo>
                    <a:pt x="23269" y="751"/>
                  </a:lnTo>
                  <a:cubicBezTo>
                    <a:pt x="23269" y="353"/>
                    <a:pt x="22916" y="0"/>
                    <a:pt x="224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9075" lIns="79075" spcFirstLastPara="1" rIns="79075" wrap="square" tIns="79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39" name="Google Shape;439;p37"/>
          <p:cNvPicPr preferRelativeResize="0"/>
          <p:nvPr/>
        </p:nvPicPr>
        <p:blipFill rotWithShape="1">
          <a:blip r:embed="rId3">
            <a:alphaModFix/>
          </a:blip>
          <a:srcRect b="0" l="990" r="990" t="0"/>
          <a:stretch/>
        </p:blipFill>
        <p:spPr>
          <a:xfrm>
            <a:off x="3860963" y="1579359"/>
            <a:ext cx="1510072" cy="2747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37"/>
          <p:cNvPicPr preferRelativeResize="0"/>
          <p:nvPr/>
        </p:nvPicPr>
        <p:blipFill rotWithShape="1">
          <a:blip r:embed="rId4">
            <a:alphaModFix/>
          </a:blip>
          <a:srcRect b="0" l="4813" r="12199" t="0"/>
          <a:stretch/>
        </p:blipFill>
        <p:spPr>
          <a:xfrm>
            <a:off x="3860974" y="1579350"/>
            <a:ext cx="1510064" cy="27477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1" name="Google Shape;441;p37"/>
          <p:cNvCxnSpPr>
            <a:stCxn id="442" idx="1"/>
            <a:endCxn id="440" idx="3"/>
          </p:cNvCxnSpPr>
          <p:nvPr/>
        </p:nvCxnSpPr>
        <p:spPr>
          <a:xfrm flipH="1">
            <a:off x="5371164" y="2270845"/>
            <a:ext cx="1300500" cy="682500"/>
          </a:xfrm>
          <a:prstGeom prst="curvedConnector3">
            <a:avLst>
              <a:gd fmla="val 50005" name="adj1"/>
            </a:avLst>
          </a:prstGeom>
          <a:noFill/>
          <a:ln cap="flat" cmpd="sng" w="19050">
            <a:solidFill>
              <a:srgbClr val="213B5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" name="Google Shape;443;p37"/>
          <p:cNvCxnSpPr>
            <a:stCxn id="440" idx="1"/>
          </p:cNvCxnSpPr>
          <p:nvPr/>
        </p:nvCxnSpPr>
        <p:spPr>
          <a:xfrm rot="10800000">
            <a:off x="2222974" y="2367935"/>
            <a:ext cx="1638000" cy="5853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213B55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4" name="Google Shape;444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8926" y="1928999"/>
            <a:ext cx="1631700" cy="163167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71664" y="1579341"/>
            <a:ext cx="1844928" cy="1383008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37"/>
          <p:cNvSpPr txBox="1"/>
          <p:nvPr>
            <p:ph idx="1" type="subTitle"/>
          </p:nvPr>
        </p:nvSpPr>
        <p:spPr>
          <a:xfrm>
            <a:off x="6092100" y="3323825"/>
            <a:ext cx="2999400" cy="13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① 사용자 맞춤형 질문리스트 제공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② </a:t>
            </a:r>
            <a:r>
              <a:rPr lang="en"/>
              <a:t>답변 예시, 체크리스트 등 사전 가이드 제공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③ </a:t>
            </a:r>
            <a:r>
              <a:rPr lang="en"/>
              <a:t>면접 유창성 평가결과 확인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④ </a:t>
            </a:r>
            <a:r>
              <a:rPr lang="en"/>
              <a:t>면접 논리성 평가결과 확인 및 피드백</a:t>
            </a:r>
            <a:endParaRPr/>
          </a:p>
        </p:txBody>
      </p:sp>
      <p:sp>
        <p:nvSpPr>
          <p:cNvPr id="446" name="Google Shape;446;p37"/>
          <p:cNvSpPr txBox="1"/>
          <p:nvPr>
            <p:ph type="title"/>
          </p:nvPr>
        </p:nvSpPr>
        <p:spPr>
          <a:xfrm>
            <a:off x="1341697" y="3133716"/>
            <a:ext cx="832500" cy="3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사</a:t>
            </a:r>
            <a:r>
              <a:rPr lang="en" sz="1500"/>
              <a:t>용자</a:t>
            </a:r>
            <a:endParaRPr sz="1500"/>
          </a:p>
        </p:txBody>
      </p:sp>
      <p:pic>
        <p:nvPicPr>
          <p:cNvPr id="447" name="Google Shape;447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26425" y="1605508"/>
            <a:ext cx="1036699" cy="583143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49" name="Google Shape;449;p37"/>
          <p:cNvGrpSpPr/>
          <p:nvPr/>
        </p:nvGrpSpPr>
        <p:grpSpPr>
          <a:xfrm>
            <a:off x="8068236" y="2"/>
            <a:ext cx="1075752" cy="150822"/>
            <a:chOff x="921102" y="6027409"/>
            <a:chExt cx="2680001" cy="375740"/>
          </a:xfrm>
        </p:grpSpPr>
        <p:pic>
          <p:nvPicPr>
            <p:cNvPr descr="EMB0000378c3f3d" id="450" name="Google Shape;450;p3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1" name="Google Shape;451;p3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프로젝트 기대효과</a:t>
            </a:r>
            <a:endParaRPr/>
          </a:p>
        </p:txBody>
      </p:sp>
      <p:sp>
        <p:nvSpPr>
          <p:cNvPr id="457" name="Google Shape;457;p38"/>
          <p:cNvSpPr txBox="1"/>
          <p:nvPr>
            <p:ph idx="7" type="subTitle"/>
          </p:nvPr>
        </p:nvSpPr>
        <p:spPr>
          <a:xfrm>
            <a:off x="1185641" y="3184063"/>
            <a:ext cx="4815900" cy="46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실제 면접처럼 말해보는 </a:t>
            </a:r>
            <a:r>
              <a:rPr lang="en" sz="1500">
                <a:highlight>
                  <a:srgbClr val="CFE2F3"/>
                </a:highlight>
              </a:rPr>
              <a:t>경험 제공</a:t>
            </a:r>
            <a:endParaRPr sz="1400">
              <a:highlight>
                <a:srgbClr val="9FC5E8"/>
              </a:highlight>
            </a:endParaRPr>
          </a:p>
        </p:txBody>
      </p:sp>
      <p:sp>
        <p:nvSpPr>
          <p:cNvPr id="458" name="Google Shape;458;p38"/>
          <p:cNvSpPr txBox="1"/>
          <p:nvPr>
            <p:ph idx="8" type="subTitle"/>
          </p:nvPr>
        </p:nvSpPr>
        <p:spPr>
          <a:xfrm>
            <a:off x="1185641" y="2383350"/>
            <a:ext cx="4332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답변 즉시 피드백통한 </a:t>
            </a:r>
            <a:r>
              <a:rPr lang="en" sz="1500">
                <a:highlight>
                  <a:srgbClr val="CFE2F3"/>
                </a:highlight>
              </a:rPr>
              <a:t>문제점 </a:t>
            </a:r>
            <a:r>
              <a:rPr lang="en" sz="1500">
                <a:highlight>
                  <a:srgbClr val="CFE2F3"/>
                </a:highlight>
              </a:rPr>
              <a:t>파악 및 </a:t>
            </a:r>
            <a:r>
              <a:rPr lang="en" sz="1500">
                <a:highlight>
                  <a:srgbClr val="CFE2F3"/>
                </a:highlight>
              </a:rPr>
              <a:t>개선</a:t>
            </a:r>
            <a:r>
              <a:rPr lang="en" sz="1500">
                <a:highlight>
                  <a:srgbClr val="9FC5E8"/>
                </a:highlight>
              </a:rPr>
              <a:t> </a:t>
            </a:r>
            <a:endParaRPr sz="1500"/>
          </a:p>
        </p:txBody>
      </p:sp>
      <p:sp>
        <p:nvSpPr>
          <p:cNvPr id="459" name="Google Shape;459;p38"/>
          <p:cNvSpPr txBox="1"/>
          <p:nvPr>
            <p:ph idx="13" type="subTitle"/>
          </p:nvPr>
        </p:nvSpPr>
        <p:spPr>
          <a:xfrm>
            <a:off x="1185641" y="1582635"/>
            <a:ext cx="37773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반복 연습을 통한 유창성 및  </a:t>
            </a:r>
            <a:r>
              <a:rPr lang="en" sz="1500">
                <a:highlight>
                  <a:srgbClr val="CFE2F3"/>
                </a:highlight>
              </a:rPr>
              <a:t>자신감 향상</a:t>
            </a:r>
            <a:endParaRPr sz="1500">
              <a:highlight>
                <a:srgbClr val="CFE2F3"/>
              </a:highlight>
            </a:endParaRPr>
          </a:p>
        </p:txBody>
      </p:sp>
      <p:sp>
        <p:nvSpPr>
          <p:cNvPr id="460" name="Google Shape;460;p38"/>
          <p:cNvSpPr txBox="1"/>
          <p:nvPr>
            <p:ph idx="14" type="subTitle"/>
          </p:nvPr>
        </p:nvSpPr>
        <p:spPr>
          <a:xfrm>
            <a:off x="1185641" y="4074061"/>
            <a:ext cx="2408400" cy="32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‘나다운’ 면접 </a:t>
            </a:r>
            <a:r>
              <a:rPr lang="en" sz="1500">
                <a:highlight>
                  <a:srgbClr val="CFE2F3"/>
                </a:highlight>
              </a:rPr>
              <a:t>스타일 형성</a:t>
            </a:r>
            <a:endParaRPr sz="1500">
              <a:highlight>
                <a:srgbClr val="CFE2F3"/>
              </a:highlight>
            </a:endParaRPr>
          </a:p>
        </p:txBody>
      </p:sp>
      <p:grpSp>
        <p:nvGrpSpPr>
          <p:cNvPr id="461" name="Google Shape;461;p38"/>
          <p:cNvGrpSpPr/>
          <p:nvPr/>
        </p:nvGrpSpPr>
        <p:grpSpPr>
          <a:xfrm>
            <a:off x="719998" y="1558275"/>
            <a:ext cx="329194" cy="329202"/>
            <a:chOff x="3282325" y="2035675"/>
            <a:chExt cx="459575" cy="454825"/>
          </a:xfrm>
        </p:grpSpPr>
        <p:sp>
          <p:nvSpPr>
            <p:cNvPr id="462" name="Google Shape;462;p38"/>
            <p:cNvSpPr/>
            <p:nvPr/>
          </p:nvSpPr>
          <p:spPr>
            <a:xfrm>
              <a:off x="3337050" y="2234125"/>
              <a:ext cx="85925" cy="206325"/>
            </a:xfrm>
            <a:custGeom>
              <a:rect b="b" l="l" r="r" t="t"/>
              <a:pathLst>
                <a:path extrusionOk="0" h="8253" w="3437">
                  <a:moveTo>
                    <a:pt x="2305" y="1133"/>
                  </a:moveTo>
                  <a:lnTo>
                    <a:pt x="2305" y="7120"/>
                  </a:lnTo>
                  <a:lnTo>
                    <a:pt x="1133" y="7120"/>
                  </a:lnTo>
                  <a:lnTo>
                    <a:pt x="1133" y="1133"/>
                  </a:lnTo>
                  <a:close/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lnTo>
                    <a:pt x="1" y="7688"/>
                  </a:lnTo>
                  <a:cubicBezTo>
                    <a:pt x="1" y="7999"/>
                    <a:pt x="254" y="8253"/>
                    <a:pt x="568" y="8253"/>
                  </a:cubicBezTo>
                  <a:lnTo>
                    <a:pt x="2869" y="8253"/>
                  </a:lnTo>
                  <a:cubicBezTo>
                    <a:pt x="3183" y="8253"/>
                    <a:pt x="3437" y="7999"/>
                    <a:pt x="3437" y="7688"/>
                  </a:cubicBezTo>
                  <a:lnTo>
                    <a:pt x="3437" y="568"/>
                  </a:lnTo>
                  <a:cubicBezTo>
                    <a:pt x="3437" y="254"/>
                    <a:pt x="3183" y="0"/>
                    <a:pt x="28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63" name="Google Shape;463;p38"/>
            <p:cNvSpPr/>
            <p:nvPr/>
          </p:nvSpPr>
          <p:spPr>
            <a:xfrm>
              <a:off x="3451275" y="2175475"/>
              <a:ext cx="84925" cy="264975"/>
            </a:xfrm>
            <a:custGeom>
              <a:rect b="b" l="l" r="r" t="t"/>
              <a:pathLst>
                <a:path extrusionOk="0" h="10599" w="3397">
                  <a:moveTo>
                    <a:pt x="2265" y="1133"/>
                  </a:moveTo>
                  <a:lnTo>
                    <a:pt x="2265" y="9466"/>
                  </a:lnTo>
                  <a:lnTo>
                    <a:pt x="1132" y="9466"/>
                  </a:lnTo>
                  <a:lnTo>
                    <a:pt x="1132" y="1133"/>
                  </a:lnTo>
                  <a:close/>
                  <a:moveTo>
                    <a:pt x="565" y="0"/>
                  </a:moveTo>
                  <a:cubicBezTo>
                    <a:pt x="254" y="0"/>
                    <a:pt x="0" y="254"/>
                    <a:pt x="0" y="565"/>
                  </a:cubicBezTo>
                  <a:lnTo>
                    <a:pt x="0" y="10034"/>
                  </a:lnTo>
                  <a:cubicBezTo>
                    <a:pt x="0" y="10345"/>
                    <a:pt x="254" y="10599"/>
                    <a:pt x="565" y="10599"/>
                  </a:cubicBezTo>
                  <a:lnTo>
                    <a:pt x="2829" y="10599"/>
                  </a:lnTo>
                  <a:cubicBezTo>
                    <a:pt x="3143" y="10599"/>
                    <a:pt x="3397" y="10345"/>
                    <a:pt x="3397" y="10034"/>
                  </a:cubicBezTo>
                  <a:lnTo>
                    <a:pt x="3397" y="565"/>
                  </a:lnTo>
                  <a:cubicBezTo>
                    <a:pt x="3397" y="254"/>
                    <a:pt x="3143" y="0"/>
                    <a:pt x="28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64" name="Google Shape;464;p38"/>
            <p:cNvSpPr/>
            <p:nvPr/>
          </p:nvSpPr>
          <p:spPr>
            <a:xfrm>
              <a:off x="3564500" y="2116825"/>
              <a:ext cx="84950" cy="323625"/>
            </a:xfrm>
            <a:custGeom>
              <a:rect b="b" l="l" r="r" t="t"/>
              <a:pathLst>
                <a:path extrusionOk="0" h="12945" w="3398">
                  <a:moveTo>
                    <a:pt x="2265" y="1132"/>
                  </a:moveTo>
                  <a:lnTo>
                    <a:pt x="2265" y="11812"/>
                  </a:lnTo>
                  <a:lnTo>
                    <a:pt x="1133" y="11812"/>
                  </a:lnTo>
                  <a:lnTo>
                    <a:pt x="1133" y="1132"/>
                  </a:lnTo>
                  <a:close/>
                  <a:moveTo>
                    <a:pt x="565" y="0"/>
                  </a:moveTo>
                  <a:cubicBezTo>
                    <a:pt x="254" y="0"/>
                    <a:pt x="0" y="251"/>
                    <a:pt x="0" y="565"/>
                  </a:cubicBezTo>
                  <a:lnTo>
                    <a:pt x="0" y="12380"/>
                  </a:lnTo>
                  <a:cubicBezTo>
                    <a:pt x="0" y="12691"/>
                    <a:pt x="254" y="12945"/>
                    <a:pt x="565" y="12945"/>
                  </a:cubicBezTo>
                  <a:lnTo>
                    <a:pt x="2829" y="12945"/>
                  </a:lnTo>
                  <a:cubicBezTo>
                    <a:pt x="3144" y="12945"/>
                    <a:pt x="3397" y="12691"/>
                    <a:pt x="3397" y="12380"/>
                  </a:cubicBezTo>
                  <a:lnTo>
                    <a:pt x="3397" y="565"/>
                  </a:lnTo>
                  <a:cubicBezTo>
                    <a:pt x="3397" y="251"/>
                    <a:pt x="3144" y="0"/>
                    <a:pt x="28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65" name="Google Shape;465;p38"/>
            <p:cNvSpPr/>
            <p:nvPr/>
          </p:nvSpPr>
          <p:spPr>
            <a:xfrm>
              <a:off x="3282325" y="2035675"/>
              <a:ext cx="459575" cy="454825"/>
            </a:xfrm>
            <a:custGeom>
              <a:rect b="b" l="l" r="r" t="t"/>
              <a:pathLst>
                <a:path extrusionOk="0" h="18193" w="18383">
                  <a:moveTo>
                    <a:pt x="568" y="0"/>
                  </a:moveTo>
                  <a:cubicBezTo>
                    <a:pt x="254" y="0"/>
                    <a:pt x="1" y="251"/>
                    <a:pt x="1" y="565"/>
                  </a:cubicBezTo>
                  <a:lnTo>
                    <a:pt x="1" y="17625"/>
                  </a:lnTo>
                  <a:cubicBezTo>
                    <a:pt x="1" y="17939"/>
                    <a:pt x="254" y="18192"/>
                    <a:pt x="568" y="18192"/>
                  </a:cubicBezTo>
                  <a:lnTo>
                    <a:pt x="17815" y="18192"/>
                  </a:lnTo>
                  <a:cubicBezTo>
                    <a:pt x="18129" y="18192"/>
                    <a:pt x="18383" y="17939"/>
                    <a:pt x="18383" y="17625"/>
                  </a:cubicBezTo>
                  <a:cubicBezTo>
                    <a:pt x="18383" y="17311"/>
                    <a:pt x="18129" y="17060"/>
                    <a:pt x="17815" y="17060"/>
                  </a:cubicBezTo>
                  <a:lnTo>
                    <a:pt x="1133" y="17060"/>
                  </a:lnTo>
                  <a:lnTo>
                    <a:pt x="1133" y="565"/>
                  </a:lnTo>
                  <a:cubicBezTo>
                    <a:pt x="1133" y="251"/>
                    <a:pt x="879" y="0"/>
                    <a:pt x="5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466" name="Google Shape;466;p38"/>
          <p:cNvGrpSpPr/>
          <p:nvPr/>
        </p:nvGrpSpPr>
        <p:grpSpPr>
          <a:xfrm>
            <a:off x="720001" y="2408965"/>
            <a:ext cx="329177" cy="329180"/>
            <a:chOff x="-46401050" y="2333325"/>
            <a:chExt cx="300125" cy="300100"/>
          </a:xfrm>
        </p:grpSpPr>
        <p:sp>
          <p:nvSpPr>
            <p:cNvPr id="467" name="Google Shape;467;p38"/>
            <p:cNvSpPr/>
            <p:nvPr/>
          </p:nvSpPr>
          <p:spPr>
            <a:xfrm>
              <a:off x="-46401050" y="2333325"/>
              <a:ext cx="300125" cy="300100"/>
            </a:xfrm>
            <a:custGeom>
              <a:rect b="b" l="l" r="r" t="t"/>
              <a:pathLst>
                <a:path extrusionOk="0" h="12004" w="12005">
                  <a:moveTo>
                    <a:pt x="7719" y="725"/>
                  </a:moveTo>
                  <a:lnTo>
                    <a:pt x="7719" y="2111"/>
                  </a:lnTo>
                  <a:lnTo>
                    <a:pt x="7026" y="2111"/>
                  </a:lnTo>
                  <a:lnTo>
                    <a:pt x="7026" y="725"/>
                  </a:lnTo>
                  <a:close/>
                  <a:moveTo>
                    <a:pt x="9137" y="725"/>
                  </a:moveTo>
                  <a:lnTo>
                    <a:pt x="9137" y="3498"/>
                  </a:lnTo>
                  <a:lnTo>
                    <a:pt x="2805" y="3498"/>
                  </a:lnTo>
                  <a:lnTo>
                    <a:pt x="2805" y="725"/>
                  </a:lnTo>
                  <a:lnTo>
                    <a:pt x="6302" y="725"/>
                  </a:lnTo>
                  <a:lnTo>
                    <a:pt x="6302" y="2489"/>
                  </a:lnTo>
                  <a:cubicBezTo>
                    <a:pt x="6302" y="2678"/>
                    <a:pt x="6459" y="2836"/>
                    <a:pt x="6648" y="2836"/>
                  </a:cubicBezTo>
                  <a:lnTo>
                    <a:pt x="8066" y="2836"/>
                  </a:lnTo>
                  <a:cubicBezTo>
                    <a:pt x="8255" y="2836"/>
                    <a:pt x="8413" y="2678"/>
                    <a:pt x="8413" y="2489"/>
                  </a:cubicBezTo>
                  <a:lnTo>
                    <a:pt x="8413" y="725"/>
                  </a:lnTo>
                  <a:close/>
                  <a:moveTo>
                    <a:pt x="2080" y="725"/>
                  </a:moveTo>
                  <a:lnTo>
                    <a:pt x="2080" y="3876"/>
                  </a:lnTo>
                  <a:cubicBezTo>
                    <a:pt x="2080" y="4065"/>
                    <a:pt x="2238" y="4222"/>
                    <a:pt x="2427" y="4222"/>
                  </a:cubicBezTo>
                  <a:lnTo>
                    <a:pt x="9452" y="4222"/>
                  </a:lnTo>
                  <a:cubicBezTo>
                    <a:pt x="9641" y="4222"/>
                    <a:pt x="9799" y="4065"/>
                    <a:pt x="9799" y="3876"/>
                  </a:cubicBezTo>
                  <a:lnTo>
                    <a:pt x="9799" y="1166"/>
                  </a:lnTo>
                  <a:lnTo>
                    <a:pt x="11217" y="2584"/>
                  </a:lnTo>
                  <a:lnTo>
                    <a:pt x="11217" y="11311"/>
                  </a:lnTo>
                  <a:lnTo>
                    <a:pt x="662" y="11311"/>
                  </a:lnTo>
                  <a:lnTo>
                    <a:pt x="662" y="725"/>
                  </a:lnTo>
                  <a:close/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11657"/>
                  </a:lnTo>
                  <a:cubicBezTo>
                    <a:pt x="1" y="11846"/>
                    <a:pt x="158" y="12004"/>
                    <a:pt x="347" y="12004"/>
                  </a:cubicBezTo>
                  <a:lnTo>
                    <a:pt x="11658" y="12004"/>
                  </a:lnTo>
                  <a:cubicBezTo>
                    <a:pt x="11847" y="12004"/>
                    <a:pt x="12004" y="11846"/>
                    <a:pt x="12004" y="11657"/>
                  </a:cubicBezTo>
                  <a:lnTo>
                    <a:pt x="12004" y="2489"/>
                  </a:lnTo>
                  <a:cubicBezTo>
                    <a:pt x="11941" y="2395"/>
                    <a:pt x="11878" y="2300"/>
                    <a:pt x="11847" y="2237"/>
                  </a:cubicBezTo>
                  <a:lnTo>
                    <a:pt x="9736" y="127"/>
                  </a:lnTo>
                  <a:cubicBezTo>
                    <a:pt x="9641" y="32"/>
                    <a:pt x="9578" y="1"/>
                    <a:pt x="94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38"/>
            <p:cNvSpPr/>
            <p:nvPr/>
          </p:nvSpPr>
          <p:spPr>
            <a:xfrm>
              <a:off x="-46366400" y="2580650"/>
              <a:ext cx="35475" cy="17350"/>
            </a:xfrm>
            <a:custGeom>
              <a:rect b="b" l="l" r="r" t="t"/>
              <a:pathLst>
                <a:path extrusionOk="0" h="694" w="1419">
                  <a:moveTo>
                    <a:pt x="348" y="0"/>
                  </a:moveTo>
                  <a:cubicBezTo>
                    <a:pt x="159" y="0"/>
                    <a:pt x="1" y="158"/>
                    <a:pt x="1" y="347"/>
                  </a:cubicBezTo>
                  <a:cubicBezTo>
                    <a:pt x="1" y="536"/>
                    <a:pt x="159" y="693"/>
                    <a:pt x="348" y="693"/>
                  </a:cubicBezTo>
                  <a:lnTo>
                    <a:pt x="1041" y="693"/>
                  </a:lnTo>
                  <a:cubicBezTo>
                    <a:pt x="1261" y="693"/>
                    <a:pt x="1419" y="536"/>
                    <a:pt x="1419" y="347"/>
                  </a:cubicBezTo>
                  <a:cubicBezTo>
                    <a:pt x="1419" y="158"/>
                    <a:pt x="1261" y="0"/>
                    <a:pt x="10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38"/>
            <p:cNvSpPr/>
            <p:nvPr/>
          </p:nvSpPr>
          <p:spPr>
            <a:xfrm>
              <a:off x="-46313625" y="2457775"/>
              <a:ext cx="122900" cy="122100"/>
            </a:xfrm>
            <a:custGeom>
              <a:rect b="b" l="l" r="r" t="t"/>
              <a:pathLst>
                <a:path extrusionOk="0" h="4884" w="4916">
                  <a:moveTo>
                    <a:pt x="2458" y="662"/>
                  </a:moveTo>
                  <a:cubicBezTo>
                    <a:pt x="3435" y="662"/>
                    <a:pt x="4222" y="1450"/>
                    <a:pt x="4222" y="2426"/>
                  </a:cubicBezTo>
                  <a:cubicBezTo>
                    <a:pt x="4222" y="3403"/>
                    <a:pt x="3435" y="4190"/>
                    <a:pt x="2458" y="4190"/>
                  </a:cubicBezTo>
                  <a:cubicBezTo>
                    <a:pt x="1450" y="4190"/>
                    <a:pt x="662" y="3403"/>
                    <a:pt x="662" y="2426"/>
                  </a:cubicBezTo>
                  <a:cubicBezTo>
                    <a:pt x="662" y="1450"/>
                    <a:pt x="1450" y="662"/>
                    <a:pt x="2458" y="662"/>
                  </a:cubicBezTo>
                  <a:close/>
                  <a:moveTo>
                    <a:pt x="2458" y="0"/>
                  </a:moveTo>
                  <a:cubicBezTo>
                    <a:pt x="1103" y="0"/>
                    <a:pt x="1" y="1103"/>
                    <a:pt x="1" y="2426"/>
                  </a:cubicBezTo>
                  <a:cubicBezTo>
                    <a:pt x="1" y="3781"/>
                    <a:pt x="1103" y="4884"/>
                    <a:pt x="2458" y="4884"/>
                  </a:cubicBezTo>
                  <a:cubicBezTo>
                    <a:pt x="3781" y="4884"/>
                    <a:pt x="4884" y="3749"/>
                    <a:pt x="4884" y="2426"/>
                  </a:cubicBezTo>
                  <a:cubicBezTo>
                    <a:pt x="4916" y="1103"/>
                    <a:pt x="3813" y="0"/>
                    <a:pt x="24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38"/>
            <p:cNvSpPr/>
            <p:nvPr/>
          </p:nvSpPr>
          <p:spPr>
            <a:xfrm>
              <a:off x="-46278950" y="2493225"/>
              <a:ext cx="53575" cy="52775"/>
            </a:xfrm>
            <a:custGeom>
              <a:rect b="b" l="l" r="r" t="t"/>
              <a:pathLst>
                <a:path extrusionOk="0" h="2111" w="2143">
                  <a:moveTo>
                    <a:pt x="1071" y="662"/>
                  </a:moveTo>
                  <a:cubicBezTo>
                    <a:pt x="1260" y="662"/>
                    <a:pt x="1418" y="819"/>
                    <a:pt x="1418" y="1008"/>
                  </a:cubicBezTo>
                  <a:cubicBezTo>
                    <a:pt x="1418" y="1197"/>
                    <a:pt x="1260" y="1355"/>
                    <a:pt x="1071" y="1355"/>
                  </a:cubicBezTo>
                  <a:cubicBezTo>
                    <a:pt x="851" y="1355"/>
                    <a:pt x="693" y="1197"/>
                    <a:pt x="693" y="1008"/>
                  </a:cubicBezTo>
                  <a:cubicBezTo>
                    <a:pt x="693" y="819"/>
                    <a:pt x="851" y="662"/>
                    <a:pt x="1071" y="662"/>
                  </a:cubicBezTo>
                  <a:close/>
                  <a:moveTo>
                    <a:pt x="1071" y="0"/>
                  </a:moveTo>
                  <a:cubicBezTo>
                    <a:pt x="473" y="0"/>
                    <a:pt x="0" y="473"/>
                    <a:pt x="0" y="1040"/>
                  </a:cubicBezTo>
                  <a:cubicBezTo>
                    <a:pt x="0" y="1638"/>
                    <a:pt x="473" y="2111"/>
                    <a:pt x="1071" y="2111"/>
                  </a:cubicBezTo>
                  <a:cubicBezTo>
                    <a:pt x="1638" y="2111"/>
                    <a:pt x="2111" y="1638"/>
                    <a:pt x="2111" y="1040"/>
                  </a:cubicBezTo>
                  <a:cubicBezTo>
                    <a:pt x="2142" y="473"/>
                    <a:pt x="1638" y="0"/>
                    <a:pt x="10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1" name="Google Shape;471;p38"/>
          <p:cNvSpPr/>
          <p:nvPr/>
        </p:nvSpPr>
        <p:spPr>
          <a:xfrm>
            <a:off x="720012" y="4073973"/>
            <a:ext cx="329184" cy="329177"/>
          </a:xfrm>
          <a:custGeom>
            <a:rect b="b" l="l" r="r" t="t"/>
            <a:pathLst>
              <a:path extrusionOk="0" h="12091" w="11941">
                <a:moveTo>
                  <a:pt x="5955" y="796"/>
                </a:moveTo>
                <a:lnTo>
                  <a:pt x="10933" y="3915"/>
                </a:lnTo>
                <a:lnTo>
                  <a:pt x="5955" y="7034"/>
                </a:lnTo>
                <a:lnTo>
                  <a:pt x="977" y="3915"/>
                </a:lnTo>
                <a:lnTo>
                  <a:pt x="5955" y="796"/>
                </a:lnTo>
                <a:close/>
                <a:moveTo>
                  <a:pt x="9924" y="5428"/>
                </a:moveTo>
                <a:lnTo>
                  <a:pt x="10964" y="6058"/>
                </a:lnTo>
                <a:lnTo>
                  <a:pt x="5955" y="9145"/>
                </a:lnTo>
                <a:lnTo>
                  <a:pt x="977" y="6058"/>
                </a:lnTo>
                <a:lnTo>
                  <a:pt x="2017" y="5428"/>
                </a:lnTo>
                <a:lnTo>
                  <a:pt x="5797" y="7790"/>
                </a:lnTo>
                <a:cubicBezTo>
                  <a:pt x="5860" y="7822"/>
                  <a:pt x="5931" y="7838"/>
                  <a:pt x="5994" y="7838"/>
                </a:cubicBezTo>
                <a:cubicBezTo>
                  <a:pt x="6057" y="7838"/>
                  <a:pt x="6112" y="7822"/>
                  <a:pt x="6144" y="7790"/>
                </a:cubicBezTo>
                <a:lnTo>
                  <a:pt x="9924" y="5428"/>
                </a:lnTo>
                <a:close/>
                <a:moveTo>
                  <a:pt x="9956" y="7538"/>
                </a:moveTo>
                <a:lnTo>
                  <a:pt x="10964" y="8169"/>
                </a:lnTo>
                <a:lnTo>
                  <a:pt x="5986" y="11288"/>
                </a:lnTo>
                <a:lnTo>
                  <a:pt x="1040" y="8169"/>
                </a:lnTo>
                <a:lnTo>
                  <a:pt x="2048" y="7538"/>
                </a:lnTo>
                <a:lnTo>
                  <a:pt x="5829" y="9901"/>
                </a:lnTo>
                <a:cubicBezTo>
                  <a:pt x="5892" y="9949"/>
                  <a:pt x="5963" y="9972"/>
                  <a:pt x="6026" y="9972"/>
                </a:cubicBezTo>
                <a:cubicBezTo>
                  <a:pt x="6089" y="9972"/>
                  <a:pt x="6144" y="9949"/>
                  <a:pt x="6175" y="9901"/>
                </a:cubicBezTo>
                <a:lnTo>
                  <a:pt x="9956" y="7538"/>
                </a:lnTo>
                <a:close/>
                <a:moveTo>
                  <a:pt x="5959" y="1"/>
                </a:moveTo>
                <a:cubicBezTo>
                  <a:pt x="5900" y="1"/>
                  <a:pt x="5845" y="25"/>
                  <a:pt x="5797" y="72"/>
                </a:cubicBezTo>
                <a:lnTo>
                  <a:pt x="158" y="3600"/>
                </a:lnTo>
                <a:cubicBezTo>
                  <a:pt x="32" y="3695"/>
                  <a:pt x="0" y="3758"/>
                  <a:pt x="0" y="3915"/>
                </a:cubicBezTo>
                <a:cubicBezTo>
                  <a:pt x="0" y="4073"/>
                  <a:pt x="95" y="4136"/>
                  <a:pt x="158" y="4230"/>
                </a:cubicBezTo>
                <a:lnTo>
                  <a:pt x="1387" y="4987"/>
                </a:lnTo>
                <a:lnTo>
                  <a:pt x="158" y="5743"/>
                </a:lnTo>
                <a:cubicBezTo>
                  <a:pt x="32" y="5806"/>
                  <a:pt x="0" y="5869"/>
                  <a:pt x="0" y="6058"/>
                </a:cubicBezTo>
                <a:cubicBezTo>
                  <a:pt x="0" y="6152"/>
                  <a:pt x="95" y="6278"/>
                  <a:pt x="158" y="6373"/>
                </a:cubicBezTo>
                <a:lnTo>
                  <a:pt x="1387" y="7097"/>
                </a:lnTo>
                <a:lnTo>
                  <a:pt x="158" y="7854"/>
                </a:lnTo>
                <a:cubicBezTo>
                  <a:pt x="32" y="7948"/>
                  <a:pt x="0" y="8011"/>
                  <a:pt x="0" y="8169"/>
                </a:cubicBezTo>
                <a:cubicBezTo>
                  <a:pt x="0" y="8295"/>
                  <a:pt x="95" y="8421"/>
                  <a:pt x="158" y="8484"/>
                </a:cubicBezTo>
                <a:lnTo>
                  <a:pt x="5797" y="12044"/>
                </a:lnTo>
                <a:cubicBezTo>
                  <a:pt x="5860" y="12075"/>
                  <a:pt x="5931" y="12091"/>
                  <a:pt x="5994" y="12091"/>
                </a:cubicBezTo>
                <a:cubicBezTo>
                  <a:pt x="6057" y="12091"/>
                  <a:pt x="6112" y="12075"/>
                  <a:pt x="6144" y="12044"/>
                </a:cubicBezTo>
                <a:lnTo>
                  <a:pt x="11783" y="8484"/>
                </a:lnTo>
                <a:cubicBezTo>
                  <a:pt x="11909" y="8421"/>
                  <a:pt x="11941" y="8326"/>
                  <a:pt x="11941" y="8169"/>
                </a:cubicBezTo>
                <a:cubicBezTo>
                  <a:pt x="11941" y="8043"/>
                  <a:pt x="11846" y="7948"/>
                  <a:pt x="11783" y="7854"/>
                </a:cubicBezTo>
                <a:lnTo>
                  <a:pt x="10555" y="7097"/>
                </a:lnTo>
                <a:lnTo>
                  <a:pt x="11783" y="6373"/>
                </a:lnTo>
                <a:cubicBezTo>
                  <a:pt x="11909" y="6278"/>
                  <a:pt x="11941" y="6152"/>
                  <a:pt x="11941" y="6058"/>
                </a:cubicBezTo>
                <a:cubicBezTo>
                  <a:pt x="11941" y="5932"/>
                  <a:pt x="11846" y="5806"/>
                  <a:pt x="11783" y="5743"/>
                </a:cubicBezTo>
                <a:lnTo>
                  <a:pt x="10555" y="4987"/>
                </a:lnTo>
                <a:lnTo>
                  <a:pt x="11783" y="4230"/>
                </a:lnTo>
                <a:cubicBezTo>
                  <a:pt x="11909" y="4136"/>
                  <a:pt x="11941" y="4073"/>
                  <a:pt x="11941" y="3915"/>
                </a:cubicBezTo>
                <a:cubicBezTo>
                  <a:pt x="11941" y="3758"/>
                  <a:pt x="11846" y="3695"/>
                  <a:pt x="11783" y="3600"/>
                </a:cubicBezTo>
                <a:lnTo>
                  <a:pt x="6144" y="72"/>
                </a:lnTo>
                <a:cubicBezTo>
                  <a:pt x="6081" y="25"/>
                  <a:pt x="6018" y="1"/>
                  <a:pt x="595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2" name="Google Shape;472;p38"/>
          <p:cNvGrpSpPr/>
          <p:nvPr/>
        </p:nvGrpSpPr>
        <p:grpSpPr>
          <a:xfrm>
            <a:off x="719999" y="3259650"/>
            <a:ext cx="329185" cy="329185"/>
            <a:chOff x="-44528075" y="1982825"/>
            <a:chExt cx="300900" cy="301700"/>
          </a:xfrm>
        </p:grpSpPr>
        <p:sp>
          <p:nvSpPr>
            <p:cNvPr id="473" name="Google Shape;473;p38"/>
            <p:cNvSpPr/>
            <p:nvPr/>
          </p:nvSpPr>
          <p:spPr>
            <a:xfrm>
              <a:off x="-44528075" y="1982825"/>
              <a:ext cx="300900" cy="301700"/>
            </a:xfrm>
            <a:custGeom>
              <a:rect b="b" l="l" r="r" t="t"/>
              <a:pathLst>
                <a:path extrusionOk="0" h="12068" w="12036">
                  <a:moveTo>
                    <a:pt x="9547" y="2175"/>
                  </a:moveTo>
                  <a:cubicBezTo>
                    <a:pt x="9736" y="2175"/>
                    <a:pt x="9893" y="2332"/>
                    <a:pt x="9893" y="2521"/>
                  </a:cubicBezTo>
                  <a:lnTo>
                    <a:pt x="9893" y="9547"/>
                  </a:lnTo>
                  <a:cubicBezTo>
                    <a:pt x="9893" y="9736"/>
                    <a:pt x="9736" y="9893"/>
                    <a:pt x="9547" y="9893"/>
                  </a:cubicBezTo>
                  <a:lnTo>
                    <a:pt x="2552" y="9893"/>
                  </a:lnTo>
                  <a:cubicBezTo>
                    <a:pt x="2332" y="9893"/>
                    <a:pt x="2206" y="9736"/>
                    <a:pt x="2206" y="9547"/>
                  </a:cubicBezTo>
                  <a:lnTo>
                    <a:pt x="2206" y="2521"/>
                  </a:lnTo>
                  <a:cubicBezTo>
                    <a:pt x="2206" y="2332"/>
                    <a:pt x="2332" y="2175"/>
                    <a:pt x="2552" y="2175"/>
                  </a:cubicBezTo>
                  <a:close/>
                  <a:moveTo>
                    <a:pt x="3183" y="1"/>
                  </a:moveTo>
                  <a:cubicBezTo>
                    <a:pt x="2994" y="1"/>
                    <a:pt x="2836" y="158"/>
                    <a:pt x="2836" y="347"/>
                  </a:cubicBezTo>
                  <a:lnTo>
                    <a:pt x="2836" y="1419"/>
                  </a:lnTo>
                  <a:lnTo>
                    <a:pt x="2458" y="1419"/>
                  </a:lnTo>
                  <a:cubicBezTo>
                    <a:pt x="1891" y="1419"/>
                    <a:pt x="1418" y="1891"/>
                    <a:pt x="1418" y="2490"/>
                  </a:cubicBezTo>
                  <a:lnTo>
                    <a:pt x="1418" y="2836"/>
                  </a:lnTo>
                  <a:lnTo>
                    <a:pt x="347" y="2836"/>
                  </a:lnTo>
                  <a:cubicBezTo>
                    <a:pt x="158" y="2836"/>
                    <a:pt x="1" y="2994"/>
                    <a:pt x="1" y="3183"/>
                  </a:cubicBezTo>
                  <a:cubicBezTo>
                    <a:pt x="1" y="3372"/>
                    <a:pt x="158" y="3529"/>
                    <a:pt x="347" y="3529"/>
                  </a:cubicBezTo>
                  <a:lnTo>
                    <a:pt x="1418" y="3529"/>
                  </a:lnTo>
                  <a:lnTo>
                    <a:pt x="1418" y="4254"/>
                  </a:lnTo>
                  <a:lnTo>
                    <a:pt x="347" y="4254"/>
                  </a:lnTo>
                  <a:cubicBezTo>
                    <a:pt x="158" y="4254"/>
                    <a:pt x="1" y="4412"/>
                    <a:pt x="1" y="4601"/>
                  </a:cubicBezTo>
                  <a:cubicBezTo>
                    <a:pt x="1" y="4821"/>
                    <a:pt x="158" y="4979"/>
                    <a:pt x="347" y="4979"/>
                  </a:cubicBezTo>
                  <a:lnTo>
                    <a:pt x="1418" y="4979"/>
                  </a:lnTo>
                  <a:lnTo>
                    <a:pt x="1418" y="5672"/>
                  </a:lnTo>
                  <a:lnTo>
                    <a:pt x="347" y="5672"/>
                  </a:lnTo>
                  <a:cubicBezTo>
                    <a:pt x="158" y="5672"/>
                    <a:pt x="1" y="5829"/>
                    <a:pt x="1" y="6018"/>
                  </a:cubicBezTo>
                  <a:cubicBezTo>
                    <a:pt x="1" y="6239"/>
                    <a:pt x="158" y="6396"/>
                    <a:pt x="347" y="6396"/>
                  </a:cubicBezTo>
                  <a:lnTo>
                    <a:pt x="1418" y="6396"/>
                  </a:lnTo>
                  <a:lnTo>
                    <a:pt x="1418" y="7090"/>
                  </a:lnTo>
                  <a:lnTo>
                    <a:pt x="347" y="7090"/>
                  </a:lnTo>
                  <a:cubicBezTo>
                    <a:pt x="158" y="7090"/>
                    <a:pt x="1" y="7247"/>
                    <a:pt x="1" y="7436"/>
                  </a:cubicBezTo>
                  <a:cubicBezTo>
                    <a:pt x="1" y="7657"/>
                    <a:pt x="158" y="7814"/>
                    <a:pt x="347" y="7814"/>
                  </a:cubicBezTo>
                  <a:lnTo>
                    <a:pt x="1418" y="7814"/>
                  </a:lnTo>
                  <a:lnTo>
                    <a:pt x="1418" y="8507"/>
                  </a:lnTo>
                  <a:lnTo>
                    <a:pt x="347" y="8507"/>
                  </a:lnTo>
                  <a:cubicBezTo>
                    <a:pt x="158" y="8507"/>
                    <a:pt x="1" y="8665"/>
                    <a:pt x="1" y="8854"/>
                  </a:cubicBezTo>
                  <a:cubicBezTo>
                    <a:pt x="1" y="9074"/>
                    <a:pt x="158" y="9232"/>
                    <a:pt x="347" y="9232"/>
                  </a:cubicBezTo>
                  <a:lnTo>
                    <a:pt x="1418" y="9232"/>
                  </a:lnTo>
                  <a:lnTo>
                    <a:pt x="1418" y="9578"/>
                  </a:lnTo>
                  <a:cubicBezTo>
                    <a:pt x="1418" y="10177"/>
                    <a:pt x="1891" y="10650"/>
                    <a:pt x="2458" y="10650"/>
                  </a:cubicBezTo>
                  <a:lnTo>
                    <a:pt x="2836" y="10650"/>
                  </a:lnTo>
                  <a:lnTo>
                    <a:pt x="2836" y="11689"/>
                  </a:lnTo>
                  <a:cubicBezTo>
                    <a:pt x="2836" y="11910"/>
                    <a:pt x="2994" y="12067"/>
                    <a:pt x="3183" y="12067"/>
                  </a:cubicBezTo>
                  <a:cubicBezTo>
                    <a:pt x="3372" y="12067"/>
                    <a:pt x="3529" y="11910"/>
                    <a:pt x="3529" y="11689"/>
                  </a:cubicBezTo>
                  <a:lnTo>
                    <a:pt x="3529" y="10555"/>
                  </a:lnTo>
                  <a:lnTo>
                    <a:pt x="4254" y="10555"/>
                  </a:lnTo>
                  <a:lnTo>
                    <a:pt x="4254" y="11626"/>
                  </a:lnTo>
                  <a:cubicBezTo>
                    <a:pt x="4254" y="11815"/>
                    <a:pt x="4411" y="11973"/>
                    <a:pt x="4600" y="11973"/>
                  </a:cubicBezTo>
                  <a:cubicBezTo>
                    <a:pt x="4789" y="11973"/>
                    <a:pt x="4947" y="11815"/>
                    <a:pt x="4947" y="11626"/>
                  </a:cubicBezTo>
                  <a:lnTo>
                    <a:pt x="4947" y="10555"/>
                  </a:lnTo>
                  <a:lnTo>
                    <a:pt x="5671" y="10555"/>
                  </a:lnTo>
                  <a:lnTo>
                    <a:pt x="5671" y="11626"/>
                  </a:lnTo>
                  <a:cubicBezTo>
                    <a:pt x="5671" y="11815"/>
                    <a:pt x="5829" y="11973"/>
                    <a:pt x="6018" y="11973"/>
                  </a:cubicBezTo>
                  <a:cubicBezTo>
                    <a:pt x="6207" y="11973"/>
                    <a:pt x="6365" y="11815"/>
                    <a:pt x="6365" y="11626"/>
                  </a:cubicBezTo>
                  <a:lnTo>
                    <a:pt x="6365" y="10555"/>
                  </a:lnTo>
                  <a:lnTo>
                    <a:pt x="7089" y="10555"/>
                  </a:lnTo>
                  <a:lnTo>
                    <a:pt x="7089" y="11626"/>
                  </a:lnTo>
                  <a:cubicBezTo>
                    <a:pt x="7089" y="11815"/>
                    <a:pt x="7247" y="11973"/>
                    <a:pt x="7436" y="11973"/>
                  </a:cubicBezTo>
                  <a:cubicBezTo>
                    <a:pt x="7625" y="11973"/>
                    <a:pt x="7782" y="11815"/>
                    <a:pt x="7782" y="11626"/>
                  </a:cubicBezTo>
                  <a:lnTo>
                    <a:pt x="7782" y="10555"/>
                  </a:lnTo>
                  <a:lnTo>
                    <a:pt x="8507" y="10555"/>
                  </a:lnTo>
                  <a:lnTo>
                    <a:pt x="8507" y="11626"/>
                  </a:lnTo>
                  <a:cubicBezTo>
                    <a:pt x="8507" y="11815"/>
                    <a:pt x="8664" y="11973"/>
                    <a:pt x="8853" y="11973"/>
                  </a:cubicBezTo>
                  <a:cubicBezTo>
                    <a:pt x="9042" y="11973"/>
                    <a:pt x="9200" y="11815"/>
                    <a:pt x="9200" y="11626"/>
                  </a:cubicBezTo>
                  <a:lnTo>
                    <a:pt x="9200" y="10555"/>
                  </a:lnTo>
                  <a:lnTo>
                    <a:pt x="9547" y="10555"/>
                  </a:lnTo>
                  <a:cubicBezTo>
                    <a:pt x="10145" y="10555"/>
                    <a:pt x="10618" y="10082"/>
                    <a:pt x="10618" y="9484"/>
                  </a:cubicBezTo>
                  <a:lnTo>
                    <a:pt x="10618" y="9137"/>
                  </a:lnTo>
                  <a:lnTo>
                    <a:pt x="11689" y="9137"/>
                  </a:lnTo>
                  <a:cubicBezTo>
                    <a:pt x="11878" y="9137"/>
                    <a:pt x="12035" y="8980"/>
                    <a:pt x="12035" y="8791"/>
                  </a:cubicBezTo>
                  <a:cubicBezTo>
                    <a:pt x="12035" y="8602"/>
                    <a:pt x="11878" y="8444"/>
                    <a:pt x="11689" y="8444"/>
                  </a:cubicBezTo>
                  <a:lnTo>
                    <a:pt x="10618" y="8444"/>
                  </a:lnTo>
                  <a:lnTo>
                    <a:pt x="10618" y="7720"/>
                  </a:lnTo>
                  <a:lnTo>
                    <a:pt x="11689" y="7720"/>
                  </a:lnTo>
                  <a:cubicBezTo>
                    <a:pt x="11878" y="7720"/>
                    <a:pt x="12035" y="7562"/>
                    <a:pt x="12035" y="7373"/>
                  </a:cubicBezTo>
                  <a:cubicBezTo>
                    <a:pt x="12035" y="7153"/>
                    <a:pt x="11878" y="6995"/>
                    <a:pt x="11689" y="6995"/>
                  </a:cubicBezTo>
                  <a:lnTo>
                    <a:pt x="10618" y="6995"/>
                  </a:lnTo>
                  <a:lnTo>
                    <a:pt x="10618" y="6302"/>
                  </a:lnTo>
                  <a:lnTo>
                    <a:pt x="11689" y="6302"/>
                  </a:lnTo>
                  <a:cubicBezTo>
                    <a:pt x="11878" y="6302"/>
                    <a:pt x="12035" y="6144"/>
                    <a:pt x="12035" y="5955"/>
                  </a:cubicBezTo>
                  <a:cubicBezTo>
                    <a:pt x="12035" y="5735"/>
                    <a:pt x="11878" y="5577"/>
                    <a:pt x="11689" y="5577"/>
                  </a:cubicBezTo>
                  <a:lnTo>
                    <a:pt x="10618" y="5577"/>
                  </a:lnTo>
                  <a:lnTo>
                    <a:pt x="10618" y="4884"/>
                  </a:lnTo>
                  <a:lnTo>
                    <a:pt x="11689" y="4884"/>
                  </a:lnTo>
                  <a:lnTo>
                    <a:pt x="11689" y="4979"/>
                  </a:lnTo>
                  <a:cubicBezTo>
                    <a:pt x="11878" y="4979"/>
                    <a:pt x="12035" y="4821"/>
                    <a:pt x="12035" y="4601"/>
                  </a:cubicBezTo>
                  <a:cubicBezTo>
                    <a:pt x="12035" y="4412"/>
                    <a:pt x="11878" y="4254"/>
                    <a:pt x="11689" y="4254"/>
                  </a:cubicBezTo>
                  <a:lnTo>
                    <a:pt x="10618" y="4254"/>
                  </a:lnTo>
                  <a:lnTo>
                    <a:pt x="10618" y="3529"/>
                  </a:lnTo>
                  <a:lnTo>
                    <a:pt x="11689" y="3529"/>
                  </a:lnTo>
                  <a:cubicBezTo>
                    <a:pt x="11878" y="3529"/>
                    <a:pt x="12035" y="3372"/>
                    <a:pt x="12035" y="3183"/>
                  </a:cubicBezTo>
                  <a:cubicBezTo>
                    <a:pt x="12035" y="2994"/>
                    <a:pt x="11878" y="2836"/>
                    <a:pt x="11689" y="2836"/>
                  </a:cubicBezTo>
                  <a:lnTo>
                    <a:pt x="10618" y="2836"/>
                  </a:lnTo>
                  <a:lnTo>
                    <a:pt x="10618" y="2490"/>
                  </a:lnTo>
                  <a:cubicBezTo>
                    <a:pt x="10618" y="1891"/>
                    <a:pt x="10145" y="1419"/>
                    <a:pt x="9547" y="1419"/>
                  </a:cubicBezTo>
                  <a:lnTo>
                    <a:pt x="9200" y="1419"/>
                  </a:lnTo>
                  <a:lnTo>
                    <a:pt x="9200" y="347"/>
                  </a:lnTo>
                  <a:cubicBezTo>
                    <a:pt x="9200" y="158"/>
                    <a:pt x="9042" y="1"/>
                    <a:pt x="8853" y="1"/>
                  </a:cubicBezTo>
                  <a:cubicBezTo>
                    <a:pt x="8664" y="1"/>
                    <a:pt x="8507" y="158"/>
                    <a:pt x="8507" y="347"/>
                  </a:cubicBezTo>
                  <a:lnTo>
                    <a:pt x="8507" y="1419"/>
                  </a:lnTo>
                  <a:lnTo>
                    <a:pt x="7782" y="1419"/>
                  </a:lnTo>
                  <a:lnTo>
                    <a:pt x="7782" y="347"/>
                  </a:lnTo>
                  <a:cubicBezTo>
                    <a:pt x="7782" y="158"/>
                    <a:pt x="7625" y="1"/>
                    <a:pt x="7436" y="1"/>
                  </a:cubicBezTo>
                  <a:cubicBezTo>
                    <a:pt x="7247" y="1"/>
                    <a:pt x="7089" y="158"/>
                    <a:pt x="7089" y="347"/>
                  </a:cubicBezTo>
                  <a:lnTo>
                    <a:pt x="7089" y="1419"/>
                  </a:lnTo>
                  <a:lnTo>
                    <a:pt x="6365" y="1419"/>
                  </a:lnTo>
                  <a:lnTo>
                    <a:pt x="6365" y="347"/>
                  </a:lnTo>
                  <a:cubicBezTo>
                    <a:pt x="6365" y="158"/>
                    <a:pt x="6207" y="1"/>
                    <a:pt x="6018" y="1"/>
                  </a:cubicBezTo>
                  <a:cubicBezTo>
                    <a:pt x="5829" y="1"/>
                    <a:pt x="5671" y="158"/>
                    <a:pt x="5671" y="347"/>
                  </a:cubicBezTo>
                  <a:lnTo>
                    <a:pt x="5671" y="1419"/>
                  </a:lnTo>
                  <a:lnTo>
                    <a:pt x="4947" y="1419"/>
                  </a:lnTo>
                  <a:lnTo>
                    <a:pt x="4947" y="347"/>
                  </a:lnTo>
                  <a:cubicBezTo>
                    <a:pt x="4947" y="158"/>
                    <a:pt x="4789" y="1"/>
                    <a:pt x="4600" y="1"/>
                  </a:cubicBezTo>
                  <a:cubicBezTo>
                    <a:pt x="4411" y="1"/>
                    <a:pt x="4254" y="158"/>
                    <a:pt x="4254" y="347"/>
                  </a:cubicBezTo>
                  <a:lnTo>
                    <a:pt x="4254" y="1419"/>
                  </a:lnTo>
                  <a:lnTo>
                    <a:pt x="3529" y="1419"/>
                  </a:lnTo>
                  <a:lnTo>
                    <a:pt x="3529" y="347"/>
                  </a:lnTo>
                  <a:cubicBezTo>
                    <a:pt x="3529" y="158"/>
                    <a:pt x="3372" y="1"/>
                    <a:pt x="31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38"/>
            <p:cNvSpPr/>
            <p:nvPr/>
          </p:nvSpPr>
          <p:spPr>
            <a:xfrm>
              <a:off x="-44455600" y="2053725"/>
              <a:ext cx="17350" cy="18125"/>
            </a:xfrm>
            <a:custGeom>
              <a:rect b="b" l="l" r="r" t="t"/>
              <a:pathLst>
                <a:path extrusionOk="0" h="725" w="694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47" y="725"/>
                  </a:cubicBezTo>
                  <a:cubicBezTo>
                    <a:pt x="536" y="725"/>
                    <a:pt x="693" y="567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38"/>
            <p:cNvSpPr/>
            <p:nvPr/>
          </p:nvSpPr>
          <p:spPr>
            <a:xfrm>
              <a:off x="-44455600" y="2194700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38"/>
            <p:cNvSpPr/>
            <p:nvPr/>
          </p:nvSpPr>
          <p:spPr>
            <a:xfrm>
              <a:off x="-44314625" y="2194700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38"/>
            <p:cNvSpPr/>
            <p:nvPr/>
          </p:nvSpPr>
          <p:spPr>
            <a:xfrm>
              <a:off x="-44314625" y="2053725"/>
              <a:ext cx="17350" cy="18125"/>
            </a:xfrm>
            <a:custGeom>
              <a:rect b="b" l="l" r="r" t="t"/>
              <a:pathLst>
                <a:path extrusionOk="0" h="725" w="694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725"/>
                    <a:pt x="347" y="725"/>
                  </a:cubicBezTo>
                  <a:cubicBezTo>
                    <a:pt x="536" y="725"/>
                    <a:pt x="694" y="536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38"/>
            <p:cNvSpPr/>
            <p:nvPr/>
          </p:nvSpPr>
          <p:spPr>
            <a:xfrm>
              <a:off x="-44447725" y="2062375"/>
              <a:ext cx="143350" cy="140225"/>
            </a:xfrm>
            <a:custGeom>
              <a:rect b="b" l="l" r="r" t="t"/>
              <a:pathLst>
                <a:path extrusionOk="0" h="5609" w="5734">
                  <a:moveTo>
                    <a:pt x="3182" y="757"/>
                  </a:moveTo>
                  <a:lnTo>
                    <a:pt x="3182" y="883"/>
                  </a:lnTo>
                  <a:cubicBezTo>
                    <a:pt x="3182" y="1041"/>
                    <a:pt x="3277" y="1167"/>
                    <a:pt x="3434" y="1198"/>
                  </a:cubicBezTo>
                  <a:cubicBezTo>
                    <a:pt x="3623" y="1261"/>
                    <a:pt x="3812" y="1387"/>
                    <a:pt x="3970" y="1513"/>
                  </a:cubicBezTo>
                  <a:cubicBezTo>
                    <a:pt x="4049" y="1553"/>
                    <a:pt x="4142" y="1593"/>
                    <a:pt x="4231" y="1593"/>
                  </a:cubicBezTo>
                  <a:cubicBezTo>
                    <a:pt x="4282" y="1593"/>
                    <a:pt x="4333" y="1579"/>
                    <a:pt x="4379" y="1545"/>
                  </a:cubicBezTo>
                  <a:lnTo>
                    <a:pt x="4505" y="1482"/>
                  </a:lnTo>
                  <a:lnTo>
                    <a:pt x="4852" y="2049"/>
                  </a:lnTo>
                  <a:lnTo>
                    <a:pt x="4726" y="2143"/>
                  </a:lnTo>
                  <a:cubicBezTo>
                    <a:pt x="4600" y="2206"/>
                    <a:pt x="4537" y="2364"/>
                    <a:pt x="4568" y="2490"/>
                  </a:cubicBezTo>
                  <a:cubicBezTo>
                    <a:pt x="4600" y="2710"/>
                    <a:pt x="4600" y="2899"/>
                    <a:pt x="4568" y="3120"/>
                  </a:cubicBezTo>
                  <a:cubicBezTo>
                    <a:pt x="4537" y="3277"/>
                    <a:pt x="4600" y="3403"/>
                    <a:pt x="4726" y="3466"/>
                  </a:cubicBezTo>
                  <a:lnTo>
                    <a:pt x="4852" y="3561"/>
                  </a:lnTo>
                  <a:lnTo>
                    <a:pt x="4505" y="4128"/>
                  </a:lnTo>
                  <a:lnTo>
                    <a:pt x="4379" y="4065"/>
                  </a:lnTo>
                  <a:cubicBezTo>
                    <a:pt x="4323" y="4037"/>
                    <a:pt x="4260" y="4021"/>
                    <a:pt x="4196" y="4021"/>
                  </a:cubicBezTo>
                  <a:cubicBezTo>
                    <a:pt x="4118" y="4021"/>
                    <a:pt x="4039" y="4044"/>
                    <a:pt x="3970" y="4097"/>
                  </a:cubicBezTo>
                  <a:cubicBezTo>
                    <a:pt x="3812" y="4254"/>
                    <a:pt x="3623" y="4349"/>
                    <a:pt x="3434" y="4412"/>
                  </a:cubicBezTo>
                  <a:cubicBezTo>
                    <a:pt x="3277" y="4475"/>
                    <a:pt x="3182" y="4632"/>
                    <a:pt x="3182" y="4727"/>
                  </a:cubicBezTo>
                  <a:lnTo>
                    <a:pt x="3182" y="4853"/>
                  </a:lnTo>
                  <a:lnTo>
                    <a:pt x="2489" y="4853"/>
                  </a:lnTo>
                  <a:lnTo>
                    <a:pt x="2489" y="4727"/>
                  </a:lnTo>
                  <a:cubicBezTo>
                    <a:pt x="2489" y="4569"/>
                    <a:pt x="2394" y="4475"/>
                    <a:pt x="2237" y="4412"/>
                  </a:cubicBezTo>
                  <a:cubicBezTo>
                    <a:pt x="2048" y="4349"/>
                    <a:pt x="1859" y="4223"/>
                    <a:pt x="1701" y="4097"/>
                  </a:cubicBezTo>
                  <a:cubicBezTo>
                    <a:pt x="1622" y="4057"/>
                    <a:pt x="1529" y="4017"/>
                    <a:pt x="1440" y="4017"/>
                  </a:cubicBezTo>
                  <a:cubicBezTo>
                    <a:pt x="1389" y="4017"/>
                    <a:pt x="1338" y="4030"/>
                    <a:pt x="1292" y="4065"/>
                  </a:cubicBezTo>
                  <a:lnTo>
                    <a:pt x="1166" y="4128"/>
                  </a:lnTo>
                  <a:lnTo>
                    <a:pt x="819" y="3561"/>
                  </a:lnTo>
                  <a:lnTo>
                    <a:pt x="945" y="3466"/>
                  </a:lnTo>
                  <a:cubicBezTo>
                    <a:pt x="1071" y="3403"/>
                    <a:pt x="1134" y="3246"/>
                    <a:pt x="1103" y="3120"/>
                  </a:cubicBezTo>
                  <a:cubicBezTo>
                    <a:pt x="1071" y="2899"/>
                    <a:pt x="1071" y="2710"/>
                    <a:pt x="1103" y="2490"/>
                  </a:cubicBezTo>
                  <a:cubicBezTo>
                    <a:pt x="1134" y="2332"/>
                    <a:pt x="1071" y="2206"/>
                    <a:pt x="945" y="2143"/>
                  </a:cubicBezTo>
                  <a:lnTo>
                    <a:pt x="819" y="2049"/>
                  </a:lnTo>
                  <a:lnTo>
                    <a:pt x="1166" y="1482"/>
                  </a:lnTo>
                  <a:lnTo>
                    <a:pt x="1292" y="1545"/>
                  </a:lnTo>
                  <a:cubicBezTo>
                    <a:pt x="1350" y="1589"/>
                    <a:pt x="1416" y="1612"/>
                    <a:pt x="1481" y="1612"/>
                  </a:cubicBezTo>
                  <a:cubicBezTo>
                    <a:pt x="1557" y="1612"/>
                    <a:pt x="1634" y="1581"/>
                    <a:pt x="1701" y="1513"/>
                  </a:cubicBezTo>
                  <a:cubicBezTo>
                    <a:pt x="1859" y="1356"/>
                    <a:pt x="2048" y="1261"/>
                    <a:pt x="2237" y="1198"/>
                  </a:cubicBezTo>
                  <a:cubicBezTo>
                    <a:pt x="2394" y="1167"/>
                    <a:pt x="2489" y="1009"/>
                    <a:pt x="2489" y="883"/>
                  </a:cubicBezTo>
                  <a:lnTo>
                    <a:pt x="2489" y="757"/>
                  </a:lnTo>
                  <a:close/>
                  <a:moveTo>
                    <a:pt x="2174" y="1"/>
                  </a:moveTo>
                  <a:cubicBezTo>
                    <a:pt x="1953" y="1"/>
                    <a:pt x="1796" y="158"/>
                    <a:pt x="1796" y="347"/>
                  </a:cubicBezTo>
                  <a:lnTo>
                    <a:pt x="1796" y="599"/>
                  </a:lnTo>
                  <a:cubicBezTo>
                    <a:pt x="1701" y="631"/>
                    <a:pt x="1575" y="726"/>
                    <a:pt x="1481" y="789"/>
                  </a:cubicBezTo>
                  <a:lnTo>
                    <a:pt x="1292" y="663"/>
                  </a:lnTo>
                  <a:cubicBezTo>
                    <a:pt x="1242" y="643"/>
                    <a:pt x="1186" y="632"/>
                    <a:pt x="1129" y="632"/>
                  </a:cubicBezTo>
                  <a:cubicBezTo>
                    <a:pt x="1007" y="632"/>
                    <a:pt x="884" y="681"/>
                    <a:pt x="819" y="789"/>
                  </a:cubicBezTo>
                  <a:lnTo>
                    <a:pt x="126" y="2017"/>
                  </a:lnTo>
                  <a:cubicBezTo>
                    <a:pt x="32" y="2175"/>
                    <a:pt x="63" y="2395"/>
                    <a:pt x="221" y="2490"/>
                  </a:cubicBezTo>
                  <a:lnTo>
                    <a:pt x="441" y="2616"/>
                  </a:lnTo>
                  <a:lnTo>
                    <a:pt x="441" y="2994"/>
                  </a:lnTo>
                  <a:lnTo>
                    <a:pt x="221" y="3120"/>
                  </a:lnTo>
                  <a:cubicBezTo>
                    <a:pt x="95" y="3183"/>
                    <a:pt x="0" y="3435"/>
                    <a:pt x="126" y="3592"/>
                  </a:cubicBezTo>
                  <a:lnTo>
                    <a:pt x="819" y="4821"/>
                  </a:lnTo>
                  <a:cubicBezTo>
                    <a:pt x="879" y="4921"/>
                    <a:pt x="989" y="4983"/>
                    <a:pt x="1102" y="4983"/>
                  </a:cubicBezTo>
                  <a:cubicBezTo>
                    <a:pt x="1168" y="4983"/>
                    <a:pt x="1234" y="4962"/>
                    <a:pt x="1292" y="4916"/>
                  </a:cubicBezTo>
                  <a:lnTo>
                    <a:pt x="1481" y="4821"/>
                  </a:lnTo>
                  <a:cubicBezTo>
                    <a:pt x="1607" y="4884"/>
                    <a:pt x="1733" y="4979"/>
                    <a:pt x="1796" y="5010"/>
                  </a:cubicBezTo>
                  <a:lnTo>
                    <a:pt x="1796" y="5231"/>
                  </a:lnTo>
                  <a:cubicBezTo>
                    <a:pt x="1796" y="5451"/>
                    <a:pt x="1953" y="5609"/>
                    <a:pt x="2174" y="5609"/>
                  </a:cubicBezTo>
                  <a:lnTo>
                    <a:pt x="3592" y="5609"/>
                  </a:lnTo>
                  <a:cubicBezTo>
                    <a:pt x="3781" y="5609"/>
                    <a:pt x="3938" y="5451"/>
                    <a:pt x="3938" y="5231"/>
                  </a:cubicBezTo>
                  <a:lnTo>
                    <a:pt x="3938" y="5010"/>
                  </a:lnTo>
                  <a:cubicBezTo>
                    <a:pt x="4064" y="4979"/>
                    <a:pt x="4159" y="4884"/>
                    <a:pt x="4253" y="4821"/>
                  </a:cubicBezTo>
                  <a:lnTo>
                    <a:pt x="4442" y="4916"/>
                  </a:lnTo>
                  <a:cubicBezTo>
                    <a:pt x="4501" y="4951"/>
                    <a:pt x="4574" y="4969"/>
                    <a:pt x="4644" y="4969"/>
                  </a:cubicBezTo>
                  <a:cubicBezTo>
                    <a:pt x="4762" y="4969"/>
                    <a:pt x="4875" y="4920"/>
                    <a:pt x="4915" y="4821"/>
                  </a:cubicBezTo>
                  <a:lnTo>
                    <a:pt x="5639" y="3592"/>
                  </a:lnTo>
                  <a:cubicBezTo>
                    <a:pt x="5702" y="3435"/>
                    <a:pt x="5671" y="3246"/>
                    <a:pt x="5513" y="3120"/>
                  </a:cubicBezTo>
                  <a:lnTo>
                    <a:pt x="5324" y="2994"/>
                  </a:lnTo>
                  <a:lnTo>
                    <a:pt x="5324" y="2616"/>
                  </a:lnTo>
                  <a:lnTo>
                    <a:pt x="5513" y="2490"/>
                  </a:lnTo>
                  <a:cubicBezTo>
                    <a:pt x="5671" y="2395"/>
                    <a:pt x="5734" y="2175"/>
                    <a:pt x="5639" y="2017"/>
                  </a:cubicBezTo>
                  <a:lnTo>
                    <a:pt x="4915" y="789"/>
                  </a:lnTo>
                  <a:cubicBezTo>
                    <a:pt x="4872" y="681"/>
                    <a:pt x="4742" y="618"/>
                    <a:pt x="4614" y="618"/>
                  </a:cubicBezTo>
                  <a:cubicBezTo>
                    <a:pt x="4553" y="618"/>
                    <a:pt x="4493" y="632"/>
                    <a:pt x="4442" y="663"/>
                  </a:cubicBezTo>
                  <a:lnTo>
                    <a:pt x="4253" y="789"/>
                  </a:lnTo>
                  <a:cubicBezTo>
                    <a:pt x="4127" y="726"/>
                    <a:pt x="4001" y="631"/>
                    <a:pt x="3938" y="599"/>
                  </a:cubicBezTo>
                  <a:lnTo>
                    <a:pt x="3938" y="347"/>
                  </a:lnTo>
                  <a:cubicBezTo>
                    <a:pt x="3938" y="158"/>
                    <a:pt x="3781" y="1"/>
                    <a:pt x="35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8"/>
            <p:cNvSpPr/>
            <p:nvPr/>
          </p:nvSpPr>
          <p:spPr>
            <a:xfrm>
              <a:off x="-44403625" y="2107275"/>
              <a:ext cx="53575" cy="52800"/>
            </a:xfrm>
            <a:custGeom>
              <a:rect b="b" l="l" r="r" t="t"/>
              <a:pathLst>
                <a:path extrusionOk="0" h="2112" w="2143">
                  <a:moveTo>
                    <a:pt x="1072" y="662"/>
                  </a:moveTo>
                  <a:cubicBezTo>
                    <a:pt x="1261" y="662"/>
                    <a:pt x="1418" y="820"/>
                    <a:pt x="1418" y="1009"/>
                  </a:cubicBezTo>
                  <a:cubicBezTo>
                    <a:pt x="1418" y="1198"/>
                    <a:pt x="1261" y="1355"/>
                    <a:pt x="1072" y="1355"/>
                  </a:cubicBezTo>
                  <a:cubicBezTo>
                    <a:pt x="882" y="1355"/>
                    <a:pt x="725" y="1198"/>
                    <a:pt x="725" y="1009"/>
                  </a:cubicBezTo>
                  <a:cubicBezTo>
                    <a:pt x="725" y="820"/>
                    <a:pt x="882" y="662"/>
                    <a:pt x="1072" y="662"/>
                  </a:cubicBezTo>
                  <a:close/>
                  <a:moveTo>
                    <a:pt x="1072" y="1"/>
                  </a:moveTo>
                  <a:cubicBezTo>
                    <a:pt x="473" y="1"/>
                    <a:pt x="0" y="473"/>
                    <a:pt x="0" y="1040"/>
                  </a:cubicBezTo>
                  <a:cubicBezTo>
                    <a:pt x="0" y="1639"/>
                    <a:pt x="473" y="2112"/>
                    <a:pt x="1072" y="2112"/>
                  </a:cubicBezTo>
                  <a:cubicBezTo>
                    <a:pt x="1670" y="2112"/>
                    <a:pt x="2143" y="1639"/>
                    <a:pt x="2143" y="1040"/>
                  </a:cubicBezTo>
                  <a:cubicBezTo>
                    <a:pt x="2143" y="473"/>
                    <a:pt x="1670" y="1"/>
                    <a:pt x="1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80" name="Google Shape;48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883187" y="1017725"/>
            <a:ext cx="2381524" cy="3572298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82" name="Google Shape;482;p38"/>
          <p:cNvGrpSpPr/>
          <p:nvPr/>
        </p:nvGrpSpPr>
        <p:grpSpPr>
          <a:xfrm>
            <a:off x="8068236" y="2"/>
            <a:ext cx="1075752" cy="150822"/>
            <a:chOff x="921102" y="6027409"/>
            <a:chExt cx="2680001" cy="375740"/>
          </a:xfrm>
        </p:grpSpPr>
        <p:pic>
          <p:nvPicPr>
            <p:cNvPr descr="EMB0000378c3f3d" id="483" name="Google Shape;483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4" name="Google Shape;484;p3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9" name="Google Shape;48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39"/>
          <p:cNvSpPr txBox="1"/>
          <p:nvPr>
            <p:ph type="title"/>
          </p:nvPr>
        </p:nvSpPr>
        <p:spPr>
          <a:xfrm>
            <a:off x="4047175" y="2388500"/>
            <a:ext cx="4383600" cy="16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프로젝트 </a:t>
            </a:r>
            <a:r>
              <a:rPr lang="en"/>
              <a:t>구성</a:t>
            </a:r>
            <a:endParaRPr/>
          </a:p>
        </p:txBody>
      </p:sp>
      <p:sp>
        <p:nvSpPr>
          <p:cNvPr id="491" name="Google Shape;491;p39"/>
          <p:cNvSpPr txBox="1"/>
          <p:nvPr>
            <p:ph idx="2" type="title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492" name="Google Shape;492;p39"/>
          <p:cNvGrpSpPr/>
          <p:nvPr/>
        </p:nvGrpSpPr>
        <p:grpSpPr>
          <a:xfrm rot="756538">
            <a:off x="5159567" y="-1610422"/>
            <a:ext cx="4574157" cy="3479412"/>
            <a:chOff x="1522650" y="1117750"/>
            <a:chExt cx="4574075" cy="3479350"/>
          </a:xfrm>
        </p:grpSpPr>
        <p:sp>
          <p:nvSpPr>
            <p:cNvPr id="493" name="Google Shape;493;p39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39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5" name="Google Shape;495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96" name="Google Shape;496;p39"/>
          <p:cNvGrpSpPr/>
          <p:nvPr/>
        </p:nvGrpSpPr>
        <p:grpSpPr>
          <a:xfrm>
            <a:off x="8068236" y="2"/>
            <a:ext cx="1075752" cy="150822"/>
            <a:chOff x="921102" y="6027409"/>
            <a:chExt cx="2680001" cy="375740"/>
          </a:xfrm>
        </p:grpSpPr>
        <p:pic>
          <p:nvPicPr>
            <p:cNvPr descr="EMB0000378c3f3d" id="497" name="Google Shape;497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8" name="Google Shape;498;p3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프로젝트 일정 및 진행과정</a:t>
            </a:r>
            <a:endParaRPr/>
          </a:p>
        </p:txBody>
      </p:sp>
      <p:graphicFrame>
        <p:nvGraphicFramePr>
          <p:cNvPr id="504" name="Google Shape;504;p40"/>
          <p:cNvGraphicFramePr/>
          <p:nvPr/>
        </p:nvGraphicFramePr>
        <p:xfrm>
          <a:off x="788775" y="13539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{DB253C93-5D2F-45CE-8AED-97878E9F2889}</a:tableStyleId>
              </a:tblPr>
              <a:tblGrid>
                <a:gridCol w="2725950"/>
                <a:gridCol w="717450"/>
                <a:gridCol w="717450"/>
                <a:gridCol w="717450"/>
                <a:gridCol w="717450"/>
                <a:gridCol w="717450"/>
                <a:gridCol w="717450"/>
                <a:gridCol w="717450"/>
              </a:tblGrid>
              <a:tr h="441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Initiative</a:t>
                      </a:r>
                      <a:endParaRPr sz="1800">
                        <a:solidFill>
                          <a:schemeClr val="dk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11.17</a:t>
                      </a:r>
                      <a:endParaRPr sz="1200">
                        <a:solidFill>
                          <a:schemeClr val="dk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11.18</a:t>
                      </a:r>
                      <a:endParaRPr sz="1200">
                        <a:solidFill>
                          <a:schemeClr val="dk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11.19</a:t>
                      </a:r>
                      <a:endParaRPr sz="1200">
                        <a:solidFill>
                          <a:schemeClr val="dk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11.20-21</a:t>
                      </a:r>
                      <a:endParaRPr sz="1200">
                        <a:solidFill>
                          <a:schemeClr val="dk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11.22</a:t>
                      </a:r>
                      <a:endParaRPr sz="1200">
                        <a:solidFill>
                          <a:schemeClr val="dk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11.23</a:t>
                      </a:r>
                      <a:endParaRPr sz="1200">
                        <a:solidFill>
                          <a:schemeClr val="dk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11.24</a:t>
                      </a:r>
                      <a:endParaRPr sz="1200">
                        <a:solidFill>
                          <a:schemeClr val="dk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5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사전 기획</a:t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CF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데이터 수집 및 모델 조사</a:t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CF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CF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모델 학습 및 알고리즘 구현</a:t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CF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CF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모델 파이프라인 구축</a:t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모델 성능 평가 및 개선</a:t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모델 패키징</a:t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F0F7"/>
                    </a:solidFill>
                  </a:tcPr>
                </a:tc>
              </a:tr>
            </a:tbl>
          </a:graphicData>
        </a:graphic>
      </p:graphicFrame>
      <p:sp>
        <p:nvSpPr>
          <p:cNvPr id="505" name="Google Shape;505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06" name="Google Shape;506;p40"/>
          <p:cNvGrpSpPr/>
          <p:nvPr/>
        </p:nvGrpSpPr>
        <p:grpSpPr>
          <a:xfrm>
            <a:off x="8068236" y="2"/>
            <a:ext cx="1075752" cy="150822"/>
            <a:chOff x="921102" y="6027409"/>
            <a:chExt cx="2680001" cy="375740"/>
          </a:xfrm>
        </p:grpSpPr>
        <p:pic>
          <p:nvPicPr>
            <p:cNvPr descr="EMB0000378c3f3d" id="507" name="Google Shape;507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8" name="Google Shape;508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프로젝트 팀 구성 및 역할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514" name="Google Shape;514;p41"/>
          <p:cNvGraphicFramePr/>
          <p:nvPr/>
        </p:nvGraphicFramePr>
        <p:xfrm>
          <a:off x="772388" y="17321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{A49718A0-75EE-40A5-AB6A-45FAF4ED8B7A}</a:tableStyleId>
              </a:tblPr>
              <a:tblGrid>
                <a:gridCol w="2432600"/>
                <a:gridCol w="5166625"/>
              </a:tblGrid>
              <a:tr h="391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 u="sng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팀원</a:t>
                      </a:r>
                      <a:endParaRPr b="1" sz="1100" u="sng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역할</a:t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91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 u="sng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김민지</a:t>
                      </a:r>
                      <a:endParaRPr b="1" sz="1100" u="sng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말더듬 판별 모델 </a:t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91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 u="sng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김용준</a:t>
                      </a:r>
                      <a:endParaRPr b="1" sz="1100" u="sng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맞춤형 질문  제공 시스템 / LLM-based Answering</a:t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91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 u="sng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조우상</a:t>
                      </a:r>
                      <a:endParaRPr b="1" sz="1100" u="sng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전체 모델 패키징 / 웹 개발 / 주저어 판별 모델 </a:t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15" name="Google Shape;515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16" name="Google Shape;516;p41"/>
          <p:cNvGrpSpPr/>
          <p:nvPr/>
        </p:nvGrpSpPr>
        <p:grpSpPr>
          <a:xfrm>
            <a:off x="8068236" y="2"/>
            <a:ext cx="1075752" cy="150822"/>
            <a:chOff x="921102" y="6027409"/>
            <a:chExt cx="2680001" cy="375740"/>
          </a:xfrm>
        </p:grpSpPr>
        <p:pic>
          <p:nvPicPr>
            <p:cNvPr descr="EMB0000378c3f3d" id="517" name="Google Shape;517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8" name="Google Shape;518;p4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모델 전체 파이프라인 </a:t>
            </a:r>
            <a:endParaRPr/>
          </a:p>
        </p:txBody>
      </p:sp>
      <p:sp>
        <p:nvSpPr>
          <p:cNvPr id="524" name="Google Shape;524;p42"/>
          <p:cNvSpPr/>
          <p:nvPr/>
        </p:nvSpPr>
        <p:spPr>
          <a:xfrm>
            <a:off x="5674565" y="1969486"/>
            <a:ext cx="1191900" cy="599700"/>
          </a:xfrm>
          <a:prstGeom prst="roundRect">
            <a:avLst>
              <a:gd fmla="val 16667" name="adj"/>
            </a:avLst>
          </a:prstGeom>
          <a:solidFill>
            <a:srgbClr val="6FA8DC"/>
          </a:solidFill>
          <a:ln cap="flat" cmpd="sng" w="1077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00" lIns="90800" spcFirstLastPara="1" rIns="90800" wrap="square" tIns="9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7"/>
              <a:buFont typeface="Arial"/>
              <a:buNone/>
            </a:pPr>
            <a:r>
              <a:rPr b="1" lang="en" sz="9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TEXT Whisper 주저어 판별</a:t>
            </a:r>
            <a:endParaRPr b="1" sz="903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5" name="Google Shape;525;p42"/>
          <p:cNvSpPr/>
          <p:nvPr/>
        </p:nvSpPr>
        <p:spPr>
          <a:xfrm>
            <a:off x="5677240" y="2670037"/>
            <a:ext cx="1191900" cy="572700"/>
          </a:xfrm>
          <a:prstGeom prst="roundRect">
            <a:avLst>
              <a:gd fmla="val 16667" name="adj"/>
            </a:avLst>
          </a:prstGeom>
          <a:solidFill>
            <a:srgbClr val="6FA8DC"/>
          </a:solidFill>
          <a:ln cap="flat" cmpd="sng" w="1077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00" lIns="90800" spcFirstLastPara="1" rIns="90800" wrap="square" tIns="9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7"/>
              <a:buFont typeface="Arial"/>
              <a:buNone/>
            </a:pPr>
            <a:r>
              <a:rPr b="1" lang="en" sz="986">
                <a:solidFill>
                  <a:srgbClr val="FFFFFF"/>
                </a:solidFill>
              </a:rPr>
              <a:t>Wav2Vec2</a:t>
            </a:r>
            <a:endParaRPr b="1" sz="986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7"/>
              <a:buFont typeface="Arial"/>
              <a:buNone/>
            </a:pPr>
            <a:r>
              <a:rPr b="1" lang="en" sz="986">
                <a:solidFill>
                  <a:srgbClr val="FFFFFF"/>
                </a:solidFill>
              </a:rPr>
              <a:t>말더듬 판별</a:t>
            </a:r>
            <a:endParaRPr b="1" sz="986">
              <a:solidFill>
                <a:srgbClr val="FFFFFF"/>
              </a:solidFill>
            </a:endParaRPr>
          </a:p>
        </p:txBody>
      </p:sp>
      <p:sp>
        <p:nvSpPr>
          <p:cNvPr id="526" name="Google Shape;526;p42"/>
          <p:cNvSpPr/>
          <p:nvPr/>
        </p:nvSpPr>
        <p:spPr>
          <a:xfrm>
            <a:off x="7433200" y="2373035"/>
            <a:ext cx="1191900" cy="4680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 cap="flat" cmpd="sng" w="1077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00" lIns="90800" spcFirstLastPara="1" rIns="90800" wrap="square" tIns="9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986">
                <a:solidFill>
                  <a:srgbClr val="FFFFFF"/>
                </a:solidFill>
              </a:rPr>
              <a:t>유창성 Score</a:t>
            </a:r>
            <a:endParaRPr sz="986">
              <a:solidFill>
                <a:srgbClr val="FFFFFF"/>
              </a:solidFill>
            </a:endParaRPr>
          </a:p>
        </p:txBody>
      </p:sp>
      <p:sp>
        <p:nvSpPr>
          <p:cNvPr id="527" name="Google Shape;527;p42"/>
          <p:cNvSpPr/>
          <p:nvPr/>
        </p:nvSpPr>
        <p:spPr>
          <a:xfrm>
            <a:off x="4517770" y="2547629"/>
            <a:ext cx="674100" cy="5997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45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00" lIns="90800" spcFirstLastPara="1" rIns="90800" wrap="square" tIns="9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1"/>
              <a:buFont typeface="Arial"/>
              <a:buNone/>
            </a:pPr>
            <a:r>
              <a:rPr lang="en" sz="842">
                <a:solidFill>
                  <a:srgbClr val="FFFFFF"/>
                </a:solidFill>
              </a:rPr>
              <a:t>사용자</a:t>
            </a:r>
            <a:endParaRPr sz="842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1"/>
              <a:buFont typeface="Arial"/>
              <a:buNone/>
            </a:pPr>
            <a:r>
              <a:rPr lang="en" sz="842">
                <a:solidFill>
                  <a:srgbClr val="FFFFFF"/>
                </a:solidFill>
              </a:rPr>
              <a:t>음성 입력 </a:t>
            </a:r>
            <a:endParaRPr sz="842">
              <a:solidFill>
                <a:srgbClr val="FFFFFF"/>
              </a:solidFill>
            </a:endParaRPr>
          </a:p>
        </p:txBody>
      </p:sp>
      <p:sp>
        <p:nvSpPr>
          <p:cNvPr id="528" name="Google Shape;528;p42"/>
          <p:cNvSpPr/>
          <p:nvPr/>
        </p:nvSpPr>
        <p:spPr>
          <a:xfrm>
            <a:off x="5352163" y="2751966"/>
            <a:ext cx="195900" cy="144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0566D"/>
          </a:solidFill>
          <a:ln cap="flat" cmpd="sng" w="1077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325" lIns="103325" spcFirstLastPara="1" rIns="103325" wrap="square" tIns="103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2"/>
              <a:buFont typeface="Arial"/>
              <a:buNone/>
            </a:pPr>
            <a:r>
              <a:t/>
            </a:r>
            <a:endParaRPr b="0" i="0" sz="1582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9" name="Google Shape;529;p42"/>
          <p:cNvSpPr txBox="1"/>
          <p:nvPr/>
        </p:nvSpPr>
        <p:spPr>
          <a:xfrm>
            <a:off x="720000" y="1017725"/>
            <a:ext cx="762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▶ 음성 기반 Multimodal 분석으로 면접 답변의 유창성, </a:t>
            </a:r>
            <a:r>
              <a:rPr lang="en"/>
              <a:t>논리성을 </a:t>
            </a:r>
            <a:r>
              <a:rPr lang="en"/>
              <a:t>평가하는 </a:t>
            </a:r>
            <a:r>
              <a:rPr lang="en"/>
              <a:t>모델</a:t>
            </a:r>
            <a:endParaRPr/>
          </a:p>
        </p:txBody>
      </p:sp>
      <p:sp>
        <p:nvSpPr>
          <p:cNvPr id="530" name="Google Shape;530;p42"/>
          <p:cNvSpPr/>
          <p:nvPr/>
        </p:nvSpPr>
        <p:spPr>
          <a:xfrm>
            <a:off x="340070" y="2607075"/>
            <a:ext cx="937800" cy="4680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45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750" lIns="79750" spcFirstLastPara="1" rIns="79750" wrap="square" tIns="79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1" lang="en" sz="874"/>
              <a:t>&lt;input&gt;</a:t>
            </a:r>
            <a:endParaRPr b="1" sz="874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1" lang="en" sz="874"/>
              <a:t>사용자 </a:t>
            </a:r>
            <a:br>
              <a:rPr b="1" lang="en" sz="874"/>
            </a:br>
            <a:r>
              <a:rPr b="1" lang="en" sz="874"/>
              <a:t>직무 / 키워드</a:t>
            </a:r>
            <a:endParaRPr b="1" sz="874"/>
          </a:p>
        </p:txBody>
      </p:sp>
      <p:sp>
        <p:nvSpPr>
          <p:cNvPr id="531" name="Google Shape;531;p42"/>
          <p:cNvSpPr/>
          <p:nvPr/>
        </p:nvSpPr>
        <p:spPr>
          <a:xfrm>
            <a:off x="3269150" y="2516350"/>
            <a:ext cx="873600" cy="5997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45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600" lIns="60600" spcFirstLastPara="1" rIns="60600" wrap="square" tIns="60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1"/>
              <a:buFont typeface="Arial"/>
              <a:buNone/>
            </a:pPr>
            <a:r>
              <a:rPr lang="en" sz="842">
                <a:solidFill>
                  <a:srgbClr val="FFFFFF"/>
                </a:solidFill>
              </a:rPr>
              <a:t>&lt;가이드 제공&gt;</a:t>
            </a:r>
            <a:endParaRPr sz="842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1"/>
              <a:buFont typeface="Arial"/>
              <a:buNone/>
            </a:pPr>
            <a:r>
              <a:rPr lang="en" sz="750">
                <a:solidFill>
                  <a:srgbClr val="FFFFFF"/>
                </a:solidFill>
              </a:rPr>
              <a:t>답변예시,</a:t>
            </a:r>
            <a:endParaRPr sz="75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1"/>
              <a:buFont typeface="Arial"/>
              <a:buNone/>
            </a:pPr>
            <a:r>
              <a:rPr lang="en" sz="750">
                <a:solidFill>
                  <a:srgbClr val="FFFFFF"/>
                </a:solidFill>
              </a:rPr>
              <a:t>평가포인트 등</a:t>
            </a:r>
            <a:endParaRPr sz="75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1"/>
              <a:buFont typeface="Arial"/>
              <a:buNone/>
            </a:pPr>
            <a:r>
              <a:rPr lang="en" sz="750">
                <a:solidFill>
                  <a:srgbClr val="FFFFFF"/>
                </a:solidFill>
              </a:rPr>
              <a:t>先 정보 제공</a:t>
            </a:r>
            <a:endParaRPr sz="750">
              <a:solidFill>
                <a:srgbClr val="FFFFFF"/>
              </a:solidFill>
            </a:endParaRPr>
          </a:p>
        </p:txBody>
      </p:sp>
      <p:sp>
        <p:nvSpPr>
          <p:cNvPr id="532" name="Google Shape;532;p42"/>
          <p:cNvSpPr/>
          <p:nvPr/>
        </p:nvSpPr>
        <p:spPr>
          <a:xfrm>
            <a:off x="4213716" y="2743903"/>
            <a:ext cx="195900" cy="144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0566D"/>
          </a:solidFill>
          <a:ln cap="flat" cmpd="sng" w="1077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325" lIns="103325" spcFirstLastPara="1" rIns="103325" wrap="square" tIns="103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2"/>
              <a:buFont typeface="Arial"/>
              <a:buNone/>
            </a:pPr>
            <a:r>
              <a:t/>
            </a:r>
            <a:endParaRPr b="0" i="0" sz="1582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3" name="Google Shape;533;p42"/>
          <p:cNvSpPr/>
          <p:nvPr/>
        </p:nvSpPr>
        <p:spPr>
          <a:xfrm>
            <a:off x="7161726" y="2534727"/>
            <a:ext cx="195900" cy="144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0566D"/>
          </a:solidFill>
          <a:ln cap="flat" cmpd="sng" w="1077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325" lIns="103325" spcFirstLastPara="1" rIns="103325" wrap="square" tIns="103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2"/>
              <a:buFont typeface="Arial"/>
              <a:buNone/>
            </a:pPr>
            <a:r>
              <a:t/>
            </a:r>
            <a:endParaRPr b="0" i="0" sz="1582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4" name="Google Shape;534;p42"/>
          <p:cNvSpPr/>
          <p:nvPr/>
        </p:nvSpPr>
        <p:spPr>
          <a:xfrm>
            <a:off x="3018207" y="2757832"/>
            <a:ext cx="195900" cy="144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0566D"/>
          </a:solidFill>
          <a:ln cap="flat" cmpd="sng" w="1077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325" lIns="103325" spcFirstLastPara="1" rIns="103325" wrap="square" tIns="103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2"/>
              <a:buFont typeface="Arial"/>
              <a:buNone/>
            </a:pPr>
            <a:r>
              <a:t/>
            </a:r>
            <a:endParaRPr b="0" i="0" sz="1582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5" name="Google Shape;535;p42"/>
          <p:cNvSpPr/>
          <p:nvPr/>
        </p:nvSpPr>
        <p:spPr>
          <a:xfrm>
            <a:off x="1398750" y="2757832"/>
            <a:ext cx="195900" cy="144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0566D"/>
          </a:solidFill>
          <a:ln cap="flat" cmpd="sng" w="1077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325" lIns="103325" spcFirstLastPara="1" rIns="103325" wrap="square" tIns="103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2"/>
              <a:buFont typeface="Arial"/>
              <a:buNone/>
            </a:pPr>
            <a:r>
              <a:t/>
            </a:r>
            <a:endParaRPr b="0" i="0" sz="1582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6" name="Google Shape;536;p42"/>
          <p:cNvSpPr/>
          <p:nvPr/>
        </p:nvSpPr>
        <p:spPr>
          <a:xfrm>
            <a:off x="5677240" y="3343587"/>
            <a:ext cx="1191900" cy="572700"/>
          </a:xfrm>
          <a:prstGeom prst="roundRect">
            <a:avLst>
              <a:gd fmla="val 16667" name="adj"/>
            </a:avLst>
          </a:prstGeom>
          <a:solidFill>
            <a:srgbClr val="6FA8DC"/>
          </a:solidFill>
          <a:ln cap="flat" cmpd="sng" w="1077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00" lIns="90800" spcFirstLastPara="1" rIns="90800" wrap="square" tIns="9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7"/>
              <a:buFont typeface="Arial"/>
              <a:buNone/>
            </a:pPr>
            <a:r>
              <a:rPr b="1" lang="en" sz="986">
                <a:solidFill>
                  <a:srgbClr val="FFFFFF"/>
                </a:solidFill>
              </a:rPr>
              <a:t>LLM 프롬프트</a:t>
            </a:r>
            <a:endParaRPr b="1" sz="986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7"/>
              <a:buFont typeface="Arial"/>
              <a:buNone/>
            </a:pPr>
            <a:r>
              <a:rPr b="1" lang="en" sz="986">
                <a:solidFill>
                  <a:srgbClr val="FFFFFF"/>
                </a:solidFill>
              </a:rPr>
              <a:t>논리성 판단</a:t>
            </a:r>
            <a:endParaRPr b="1" sz="986">
              <a:solidFill>
                <a:srgbClr val="FFFFFF"/>
              </a:solidFill>
            </a:endParaRPr>
          </a:p>
        </p:txBody>
      </p:sp>
      <p:sp>
        <p:nvSpPr>
          <p:cNvPr id="537" name="Google Shape;537;p42"/>
          <p:cNvSpPr/>
          <p:nvPr/>
        </p:nvSpPr>
        <p:spPr>
          <a:xfrm>
            <a:off x="7041157" y="3591468"/>
            <a:ext cx="195900" cy="144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0566D"/>
          </a:solidFill>
          <a:ln cap="flat" cmpd="sng" w="1077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325" lIns="103325" spcFirstLastPara="1" rIns="103325" wrap="square" tIns="103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2"/>
              <a:buFont typeface="Arial"/>
              <a:buNone/>
            </a:pPr>
            <a:r>
              <a:t/>
            </a:r>
            <a:endParaRPr b="0" i="0" sz="1582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8" name="Google Shape;538;p42"/>
          <p:cNvSpPr/>
          <p:nvPr/>
        </p:nvSpPr>
        <p:spPr>
          <a:xfrm>
            <a:off x="7433200" y="3429775"/>
            <a:ext cx="1191900" cy="4680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 cap="flat" cmpd="sng" w="1077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00" lIns="90800" spcFirstLastPara="1" rIns="90800" wrap="square" tIns="9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986">
                <a:solidFill>
                  <a:srgbClr val="FFFFFF"/>
                </a:solidFill>
              </a:rPr>
              <a:t>논리</a:t>
            </a:r>
            <a:r>
              <a:rPr lang="en" sz="986">
                <a:solidFill>
                  <a:srgbClr val="FFFFFF"/>
                </a:solidFill>
              </a:rPr>
              <a:t>성 Score</a:t>
            </a:r>
            <a:endParaRPr sz="986">
              <a:solidFill>
                <a:srgbClr val="FFFFFF"/>
              </a:solidFill>
            </a:endParaRPr>
          </a:p>
        </p:txBody>
      </p:sp>
      <p:cxnSp>
        <p:nvCxnSpPr>
          <p:cNvPr id="539" name="Google Shape;539;p42"/>
          <p:cNvCxnSpPr>
            <a:stCxn id="524" idx="3"/>
            <a:endCxn id="525" idx="3"/>
          </p:cNvCxnSpPr>
          <p:nvPr/>
        </p:nvCxnSpPr>
        <p:spPr>
          <a:xfrm>
            <a:off x="6866465" y="2269336"/>
            <a:ext cx="2700" cy="687000"/>
          </a:xfrm>
          <a:prstGeom prst="curvedConnector3">
            <a:avLst>
              <a:gd fmla="val 8918519" name="adj1"/>
            </a:avLst>
          </a:prstGeom>
          <a:noFill/>
          <a:ln cap="flat" cmpd="sng" w="717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0" name="Google Shape;540;p42"/>
          <p:cNvSpPr/>
          <p:nvPr/>
        </p:nvSpPr>
        <p:spPr>
          <a:xfrm>
            <a:off x="1754907" y="2607075"/>
            <a:ext cx="1118700" cy="4680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45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750" lIns="79750" spcFirstLastPara="1" rIns="79750" wrap="square" tIns="79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1" lang="en" sz="874"/>
              <a:t>Sentence 임베딩</a:t>
            </a:r>
            <a:endParaRPr b="1" sz="874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1" lang="en" sz="874"/>
              <a:t>질문리스트 제공</a:t>
            </a:r>
            <a:endParaRPr b="1" sz="874"/>
          </a:p>
        </p:txBody>
      </p:sp>
      <p:sp>
        <p:nvSpPr>
          <p:cNvPr id="541" name="Google Shape;541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42" name="Google Shape;542;p42"/>
          <p:cNvGrpSpPr/>
          <p:nvPr/>
        </p:nvGrpSpPr>
        <p:grpSpPr>
          <a:xfrm>
            <a:off x="8068236" y="2"/>
            <a:ext cx="1075752" cy="150822"/>
            <a:chOff x="921102" y="6027409"/>
            <a:chExt cx="2680001" cy="375740"/>
          </a:xfrm>
        </p:grpSpPr>
        <p:pic>
          <p:nvPicPr>
            <p:cNvPr descr="EMB0000378c3f3d" id="543" name="Google Shape;543;p4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4" name="Google Shape;544;p4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3"/>
          <p:cNvSpPr txBox="1"/>
          <p:nvPr>
            <p:ph type="title"/>
          </p:nvPr>
        </p:nvSpPr>
        <p:spPr>
          <a:xfrm>
            <a:off x="593550" y="4197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유창성 Score </a:t>
            </a:r>
            <a:r>
              <a:rPr lang="en"/>
              <a:t>판별</a:t>
            </a:r>
            <a:r>
              <a:rPr lang="en"/>
              <a:t> 기준</a:t>
            </a:r>
            <a:endParaRPr/>
          </a:p>
        </p:txBody>
      </p:sp>
      <p:sp>
        <p:nvSpPr>
          <p:cNvPr id="550" name="Google Shape;550;p43"/>
          <p:cNvSpPr txBox="1"/>
          <p:nvPr>
            <p:ph idx="4" type="subTitle"/>
          </p:nvPr>
        </p:nvSpPr>
        <p:spPr>
          <a:xfrm>
            <a:off x="719988" y="1457653"/>
            <a:ext cx="6870300" cy="45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말더듬</a:t>
            </a:r>
            <a:endParaRPr/>
          </a:p>
        </p:txBody>
      </p:sp>
      <p:sp>
        <p:nvSpPr>
          <p:cNvPr id="551" name="Google Shape;551;p43"/>
          <p:cNvSpPr txBox="1"/>
          <p:nvPr>
            <p:ph idx="2" type="subTitle"/>
          </p:nvPr>
        </p:nvSpPr>
        <p:spPr>
          <a:xfrm>
            <a:off x="720000" y="1949926"/>
            <a:ext cx="6870300" cy="8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비자발적(Non-volitional) 발화 장애로 신경학적·언어처리적 이유로 본인의 의도와 상관없고 통제가 어려움</a:t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음향적 특징: 소리 반복(“ㅅㅅㅅ사람”) 단어 반복(“저는 저는…”), 연장(“ㅁㅁㅁ만나…”), 블록(말막힘, 발성 안 나옴)</a:t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552" name="Google Shape;552;p43"/>
          <p:cNvSpPr txBox="1"/>
          <p:nvPr>
            <p:ph idx="4" type="subTitle"/>
          </p:nvPr>
        </p:nvSpPr>
        <p:spPr>
          <a:xfrm>
            <a:off x="720000" y="3112650"/>
            <a:ext cx="8142600" cy="35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주저어 </a:t>
            </a:r>
            <a:endParaRPr sz="1200"/>
          </a:p>
        </p:txBody>
      </p:sp>
      <p:sp>
        <p:nvSpPr>
          <p:cNvPr id="553" name="Google Shape;553;p43"/>
          <p:cNvSpPr txBox="1"/>
          <p:nvPr>
            <p:ph idx="2" type="subTitle"/>
          </p:nvPr>
        </p:nvSpPr>
        <p:spPr>
          <a:xfrm>
            <a:off x="809175" y="3472350"/>
            <a:ext cx="5531400" cy="6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의도적(Volitional) 발화로 말을 생각하는 시간을 벌기 위해 발화자가 의도적으로 넣는 말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대표적인 언어적 주저어: “어”, “음”, “그”, “그뭐지”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554" name="Google Shape;554;p43"/>
          <p:cNvSpPr txBox="1"/>
          <p:nvPr>
            <p:ph idx="2" type="subTitle"/>
          </p:nvPr>
        </p:nvSpPr>
        <p:spPr>
          <a:xfrm>
            <a:off x="-38325" y="4814150"/>
            <a:ext cx="6786900" cy="3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Arial"/>
                <a:ea typeface="Arial"/>
                <a:cs typeface="Arial"/>
                <a:sym typeface="Arial"/>
              </a:rPr>
              <a:t>논문 : </a:t>
            </a:r>
            <a:r>
              <a:rPr i="1" lang="en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Exploring measures and perceptions of fluency in the speech of second language learners</a:t>
            </a:r>
            <a:r>
              <a:rPr lang="en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일본인 한국어 학습자의 비유창성 요소 사용 양상 연구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56" name="Google Shape;556;p43"/>
          <p:cNvGrpSpPr/>
          <p:nvPr/>
        </p:nvGrpSpPr>
        <p:grpSpPr>
          <a:xfrm>
            <a:off x="8068236" y="2"/>
            <a:ext cx="1075752" cy="150822"/>
            <a:chOff x="921102" y="6027409"/>
            <a:chExt cx="2680001" cy="375740"/>
          </a:xfrm>
        </p:grpSpPr>
        <p:pic>
          <p:nvPicPr>
            <p:cNvPr descr="EMB0000378c3f3d" id="557" name="Google Shape;557;p4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8" name="Google Shape;558;p4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" name="Google Shape;56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44"/>
          <p:cNvSpPr txBox="1"/>
          <p:nvPr>
            <p:ph type="title"/>
          </p:nvPr>
        </p:nvSpPr>
        <p:spPr>
          <a:xfrm>
            <a:off x="4047175" y="2388500"/>
            <a:ext cx="4902300" cy="10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모델 구현 및 평가</a:t>
            </a:r>
            <a:endParaRPr/>
          </a:p>
        </p:txBody>
      </p:sp>
      <p:sp>
        <p:nvSpPr>
          <p:cNvPr id="565" name="Google Shape;565;p44"/>
          <p:cNvSpPr txBox="1"/>
          <p:nvPr>
            <p:ph idx="2" type="title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566" name="Google Shape;566;p44"/>
          <p:cNvGrpSpPr/>
          <p:nvPr/>
        </p:nvGrpSpPr>
        <p:grpSpPr>
          <a:xfrm rot="756538">
            <a:off x="5159567" y="-1610422"/>
            <a:ext cx="4574157" cy="3479412"/>
            <a:chOff x="1522650" y="1117750"/>
            <a:chExt cx="4574075" cy="3479350"/>
          </a:xfrm>
        </p:grpSpPr>
        <p:sp>
          <p:nvSpPr>
            <p:cNvPr id="567" name="Google Shape;567;p44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44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9" name="Google Shape;569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70" name="Google Shape;570;p44"/>
          <p:cNvGrpSpPr/>
          <p:nvPr/>
        </p:nvGrpSpPr>
        <p:grpSpPr>
          <a:xfrm>
            <a:off x="8068236" y="2"/>
            <a:ext cx="1075752" cy="150822"/>
            <a:chOff x="921102" y="6027409"/>
            <a:chExt cx="2680001" cy="375740"/>
          </a:xfrm>
        </p:grpSpPr>
        <p:pic>
          <p:nvPicPr>
            <p:cNvPr descr="EMB0000378c3f3d" id="571" name="Google Shape;571;p4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2" name="Google Shape;572;p4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45"/>
          <p:cNvSpPr txBox="1"/>
          <p:nvPr>
            <p:ph type="title"/>
          </p:nvPr>
        </p:nvSpPr>
        <p:spPr>
          <a:xfrm>
            <a:off x="-73150" y="0"/>
            <a:ext cx="2983200" cy="51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/>
              <a:t> 맞춤형 </a:t>
            </a:r>
            <a:endParaRPr i="1"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/>
              <a:t>질문 제공 시스템</a:t>
            </a:r>
            <a:endParaRPr i="1" sz="3000"/>
          </a:p>
        </p:txBody>
      </p:sp>
      <p:pic>
        <p:nvPicPr>
          <p:cNvPr id="578" name="Google Shape;578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73149" y="14150"/>
            <a:ext cx="27833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45"/>
          <p:cNvSpPr/>
          <p:nvPr/>
        </p:nvSpPr>
        <p:spPr>
          <a:xfrm>
            <a:off x="6801866" y="1985552"/>
            <a:ext cx="845100" cy="425400"/>
          </a:xfrm>
          <a:prstGeom prst="roundRect">
            <a:avLst>
              <a:gd fmla="val 16667" name="adj"/>
            </a:avLst>
          </a:prstGeom>
          <a:solidFill>
            <a:srgbClr val="6FA8DC"/>
          </a:solidFill>
          <a:ln cap="flat" cmpd="sng" w="765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375" lIns="64375" spcFirstLastPara="1" rIns="64375" wrap="square" tIns="64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1"/>
              <a:buFont typeface="Arial"/>
              <a:buNone/>
            </a:pPr>
            <a:r>
              <a:rPr b="1" lang="en" sz="6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TEXT Whisper 주저어 </a:t>
            </a:r>
            <a:r>
              <a:rPr b="1" lang="en" sz="6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판별</a:t>
            </a:r>
            <a:endParaRPr b="1" sz="64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0" name="Google Shape;580;p45"/>
          <p:cNvSpPr/>
          <p:nvPr/>
        </p:nvSpPr>
        <p:spPr>
          <a:xfrm>
            <a:off x="6803762" y="2482220"/>
            <a:ext cx="845100" cy="406200"/>
          </a:xfrm>
          <a:prstGeom prst="roundRect">
            <a:avLst>
              <a:gd fmla="val 16667" name="adj"/>
            </a:avLst>
          </a:prstGeom>
          <a:solidFill>
            <a:srgbClr val="6FA8DC"/>
          </a:solidFill>
          <a:ln cap="flat" cmpd="sng" w="765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375" lIns="64375" spcFirstLastPara="1" rIns="64375" wrap="square" tIns="64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1"/>
              <a:buFont typeface="Arial"/>
              <a:buNone/>
            </a:pPr>
            <a:r>
              <a:rPr b="1" lang="en" sz="699">
                <a:solidFill>
                  <a:srgbClr val="FFFFFF"/>
                </a:solidFill>
              </a:rPr>
              <a:t>Wav2Vec2</a:t>
            </a:r>
            <a:endParaRPr b="1" sz="699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1"/>
              <a:buFont typeface="Arial"/>
              <a:buNone/>
            </a:pPr>
            <a:r>
              <a:rPr b="1" lang="en" sz="699">
                <a:solidFill>
                  <a:srgbClr val="FFFFFF"/>
                </a:solidFill>
              </a:rPr>
              <a:t>말더듬 </a:t>
            </a:r>
            <a:r>
              <a:rPr b="1" lang="en" sz="699">
                <a:solidFill>
                  <a:srgbClr val="FFFFFF"/>
                </a:solidFill>
              </a:rPr>
              <a:t>판별</a:t>
            </a:r>
            <a:endParaRPr b="1" sz="699">
              <a:solidFill>
                <a:srgbClr val="FFFFFF"/>
              </a:solidFill>
            </a:endParaRPr>
          </a:p>
        </p:txBody>
      </p:sp>
      <p:sp>
        <p:nvSpPr>
          <p:cNvPr id="581" name="Google Shape;581;p45"/>
          <p:cNvSpPr/>
          <p:nvPr/>
        </p:nvSpPr>
        <p:spPr>
          <a:xfrm>
            <a:off x="8048683" y="2271655"/>
            <a:ext cx="845100" cy="3318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 cap="flat" cmpd="sng" w="765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375" lIns="64375" spcFirstLastPara="1" rIns="64375" wrap="square" tIns="64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1"/>
              <a:buFont typeface="Arial"/>
              <a:buNone/>
            </a:pPr>
            <a:r>
              <a:rPr lang="en" sz="699">
                <a:solidFill>
                  <a:srgbClr val="FFFFFF"/>
                </a:solidFill>
              </a:rPr>
              <a:t>유창성 Score</a:t>
            </a:r>
            <a:endParaRPr sz="699">
              <a:solidFill>
                <a:srgbClr val="FFFFFF"/>
              </a:solidFill>
            </a:endParaRPr>
          </a:p>
        </p:txBody>
      </p:sp>
      <p:sp>
        <p:nvSpPr>
          <p:cNvPr id="582" name="Google Shape;582;p45"/>
          <p:cNvSpPr/>
          <p:nvPr/>
        </p:nvSpPr>
        <p:spPr>
          <a:xfrm>
            <a:off x="5981734" y="2395437"/>
            <a:ext cx="477900" cy="4254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670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375" lIns="64375" spcFirstLastPara="1" rIns="64375" wrap="square" tIns="64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9"/>
              <a:buFont typeface="Arial"/>
              <a:buNone/>
            </a:pPr>
            <a:r>
              <a:rPr lang="en" sz="597">
                <a:solidFill>
                  <a:srgbClr val="FFFFFF"/>
                </a:solidFill>
              </a:rPr>
              <a:t>사용자</a:t>
            </a:r>
            <a:endParaRPr sz="597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9"/>
              <a:buFont typeface="Arial"/>
              <a:buNone/>
            </a:pPr>
            <a:r>
              <a:rPr lang="en" sz="597">
                <a:solidFill>
                  <a:srgbClr val="FFFFFF"/>
                </a:solidFill>
              </a:rPr>
              <a:t>음성입력 </a:t>
            </a:r>
            <a:endParaRPr sz="597">
              <a:solidFill>
                <a:srgbClr val="FFFFFF"/>
              </a:solidFill>
            </a:endParaRPr>
          </a:p>
        </p:txBody>
      </p:sp>
      <p:sp>
        <p:nvSpPr>
          <p:cNvPr id="583" name="Google Shape;583;p45"/>
          <p:cNvSpPr/>
          <p:nvPr/>
        </p:nvSpPr>
        <p:spPr>
          <a:xfrm>
            <a:off x="6573292" y="2540306"/>
            <a:ext cx="138900" cy="10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0566D"/>
          </a:solidFill>
          <a:ln cap="flat" cmpd="sng" w="765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t/>
            </a:r>
            <a:endParaRPr b="0" i="0" sz="1121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4" name="Google Shape;584;p45"/>
          <p:cNvSpPr/>
          <p:nvPr/>
        </p:nvSpPr>
        <p:spPr>
          <a:xfrm>
            <a:off x="5743976" y="2534589"/>
            <a:ext cx="138900" cy="10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0566D"/>
          </a:solidFill>
          <a:ln cap="flat" cmpd="sng" w="765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t/>
            </a:r>
            <a:endParaRPr b="0" i="0" sz="1121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5" name="Google Shape;585;p45"/>
          <p:cNvSpPr/>
          <p:nvPr/>
        </p:nvSpPr>
        <p:spPr>
          <a:xfrm>
            <a:off x="7856217" y="2386290"/>
            <a:ext cx="138900" cy="10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0566D"/>
          </a:solidFill>
          <a:ln cap="flat" cmpd="sng" w="765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t/>
            </a:r>
            <a:endParaRPr b="0" i="0" sz="1121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586" name="Google Shape;586;p45"/>
          <p:cNvCxnSpPr>
            <a:stCxn id="579" idx="3"/>
            <a:endCxn id="580" idx="3"/>
          </p:cNvCxnSpPr>
          <p:nvPr/>
        </p:nvCxnSpPr>
        <p:spPr>
          <a:xfrm>
            <a:off x="7646966" y="2198252"/>
            <a:ext cx="1800" cy="487200"/>
          </a:xfrm>
          <a:prstGeom prst="curvedConnector3">
            <a:avLst>
              <a:gd fmla="val 13334527" name="adj1"/>
            </a:avLst>
          </a:prstGeom>
          <a:noFill/>
          <a:ln cap="flat" cmpd="sng" w="510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7" name="Google Shape;587;p45"/>
          <p:cNvSpPr/>
          <p:nvPr/>
        </p:nvSpPr>
        <p:spPr>
          <a:xfrm>
            <a:off x="2910050" y="1678375"/>
            <a:ext cx="6234000" cy="1834800"/>
          </a:xfrm>
          <a:prstGeom prst="rect">
            <a:avLst/>
          </a:prstGeom>
          <a:solidFill>
            <a:srgbClr val="807871">
              <a:alpha val="4528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588" name="Google Shape;588;p45"/>
          <p:cNvSpPr/>
          <p:nvPr/>
        </p:nvSpPr>
        <p:spPr>
          <a:xfrm>
            <a:off x="3019875" y="2437582"/>
            <a:ext cx="664800" cy="3318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"/>
              <a:buFont typeface="Arial"/>
              <a:buNone/>
            </a:pPr>
            <a:r>
              <a:rPr b="1" lang="en" sz="620"/>
              <a:t>&lt;input&gt;</a:t>
            </a:r>
            <a:endParaRPr b="1" sz="62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"/>
              <a:buFont typeface="Arial"/>
              <a:buNone/>
            </a:pPr>
            <a:r>
              <a:rPr b="1" lang="en" sz="620"/>
              <a:t>사용자 </a:t>
            </a:r>
            <a:br>
              <a:rPr b="1" lang="en" sz="620"/>
            </a:br>
            <a:r>
              <a:rPr b="1" lang="en" sz="620"/>
              <a:t>직무 / 키워드</a:t>
            </a:r>
            <a:endParaRPr b="1" sz="620"/>
          </a:p>
        </p:txBody>
      </p:sp>
      <p:sp>
        <p:nvSpPr>
          <p:cNvPr id="589" name="Google Shape;589;p45"/>
          <p:cNvSpPr/>
          <p:nvPr/>
        </p:nvSpPr>
        <p:spPr>
          <a:xfrm>
            <a:off x="5147230" y="2373261"/>
            <a:ext cx="564000" cy="4254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975" lIns="42975" spcFirstLastPara="1" rIns="42975" wrap="square" tIns="429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9"/>
              <a:buFont typeface="Arial"/>
              <a:buNone/>
            </a:pPr>
            <a:r>
              <a:rPr lang="en" sz="526">
                <a:solidFill>
                  <a:srgbClr val="FFFFFF"/>
                </a:solidFill>
              </a:rPr>
              <a:t>&lt;가이드 제공&gt;</a:t>
            </a:r>
            <a:endParaRPr sz="526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9"/>
              <a:buFont typeface="Arial"/>
              <a:buNone/>
            </a:pPr>
            <a:r>
              <a:rPr lang="en" sz="460">
                <a:solidFill>
                  <a:srgbClr val="FFFFFF"/>
                </a:solidFill>
              </a:rPr>
              <a:t>답변예시</a:t>
            </a:r>
            <a:endParaRPr sz="46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9"/>
              <a:buFont typeface="Arial"/>
              <a:buNone/>
            </a:pPr>
            <a:r>
              <a:rPr lang="en" sz="460">
                <a:solidFill>
                  <a:srgbClr val="FFFFFF"/>
                </a:solidFill>
              </a:rPr>
              <a:t>평가포인트 등</a:t>
            </a:r>
            <a:endParaRPr sz="46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9"/>
              <a:buFont typeface="Arial"/>
              <a:buNone/>
            </a:pPr>
            <a:r>
              <a:rPr lang="en" sz="460">
                <a:solidFill>
                  <a:srgbClr val="FFFFFF"/>
                </a:solidFill>
              </a:rPr>
              <a:t>先 정보 제공</a:t>
            </a:r>
            <a:endParaRPr sz="460">
              <a:solidFill>
                <a:srgbClr val="FFFFFF"/>
              </a:solidFill>
            </a:endParaRPr>
          </a:p>
        </p:txBody>
      </p:sp>
      <p:sp>
        <p:nvSpPr>
          <p:cNvPr id="590" name="Google Shape;590;p45"/>
          <p:cNvSpPr/>
          <p:nvPr/>
        </p:nvSpPr>
        <p:spPr>
          <a:xfrm>
            <a:off x="3770446" y="2544465"/>
            <a:ext cx="138900" cy="10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0566D"/>
          </a:solidFill>
          <a:ln cap="flat" cmpd="sng" w="765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t/>
            </a:r>
            <a:endParaRPr b="0" i="0" sz="1121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1" name="Google Shape;591;p45"/>
          <p:cNvSpPr/>
          <p:nvPr/>
        </p:nvSpPr>
        <p:spPr>
          <a:xfrm>
            <a:off x="6803762" y="2959746"/>
            <a:ext cx="845100" cy="406200"/>
          </a:xfrm>
          <a:prstGeom prst="roundRect">
            <a:avLst>
              <a:gd fmla="val 16667" name="adj"/>
            </a:avLst>
          </a:prstGeom>
          <a:solidFill>
            <a:srgbClr val="6FA8DC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375" lIns="64375" spcFirstLastPara="1" rIns="64375" wrap="square" tIns="64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1"/>
              <a:buFont typeface="Arial"/>
              <a:buNone/>
            </a:pPr>
            <a:r>
              <a:rPr b="1" lang="en" sz="699">
                <a:solidFill>
                  <a:srgbClr val="FFFFFF"/>
                </a:solidFill>
              </a:rPr>
              <a:t>LLM 프롬프트</a:t>
            </a:r>
            <a:endParaRPr b="1" sz="699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1"/>
              <a:buFont typeface="Arial"/>
              <a:buNone/>
            </a:pPr>
            <a:r>
              <a:rPr b="1" lang="en" sz="699">
                <a:solidFill>
                  <a:srgbClr val="FFFFFF"/>
                </a:solidFill>
              </a:rPr>
              <a:t>논리성 </a:t>
            </a:r>
            <a:r>
              <a:rPr b="1" lang="en" sz="699">
                <a:solidFill>
                  <a:srgbClr val="FFFFFF"/>
                </a:solidFill>
              </a:rPr>
              <a:t>판단</a:t>
            </a:r>
            <a:endParaRPr b="1" sz="699">
              <a:solidFill>
                <a:srgbClr val="FFFFFF"/>
              </a:solidFill>
            </a:endParaRPr>
          </a:p>
        </p:txBody>
      </p:sp>
      <p:sp>
        <p:nvSpPr>
          <p:cNvPr id="592" name="Google Shape;592;p45"/>
          <p:cNvSpPr/>
          <p:nvPr/>
        </p:nvSpPr>
        <p:spPr>
          <a:xfrm>
            <a:off x="7770737" y="3135486"/>
            <a:ext cx="138900" cy="10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0566D"/>
          </a:solidFill>
          <a:ln cap="flat" cmpd="sng" w="765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t/>
            </a:r>
            <a:endParaRPr b="0" i="0" sz="1121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3" name="Google Shape;593;p45"/>
          <p:cNvSpPr/>
          <p:nvPr/>
        </p:nvSpPr>
        <p:spPr>
          <a:xfrm>
            <a:off x="8048683" y="3020851"/>
            <a:ext cx="845100" cy="3318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375" lIns="64375" spcFirstLastPara="1" rIns="64375" wrap="square" tIns="64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1"/>
              <a:buFont typeface="Arial"/>
              <a:buNone/>
            </a:pPr>
            <a:r>
              <a:rPr lang="en" sz="699">
                <a:solidFill>
                  <a:srgbClr val="FFFFFF"/>
                </a:solidFill>
              </a:rPr>
              <a:t>논리성 Score</a:t>
            </a:r>
            <a:endParaRPr sz="699">
              <a:solidFill>
                <a:srgbClr val="FFFFFF"/>
              </a:solidFill>
            </a:endParaRPr>
          </a:p>
        </p:txBody>
      </p:sp>
      <p:sp>
        <p:nvSpPr>
          <p:cNvPr id="594" name="Google Shape;594;p45"/>
          <p:cNvSpPr/>
          <p:nvPr/>
        </p:nvSpPr>
        <p:spPr>
          <a:xfrm>
            <a:off x="4047875" y="2437575"/>
            <a:ext cx="732000" cy="3318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1" lang="en" sz="620"/>
              <a:t>Sentence 임베딩</a:t>
            </a:r>
            <a:endParaRPr b="1" sz="62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1" lang="en" sz="620"/>
              <a:t>질문리스트 제공</a:t>
            </a:r>
            <a:endParaRPr b="1" sz="620"/>
          </a:p>
        </p:txBody>
      </p:sp>
      <p:sp>
        <p:nvSpPr>
          <p:cNvPr id="595" name="Google Shape;595;p45"/>
          <p:cNvSpPr/>
          <p:nvPr/>
        </p:nvSpPr>
        <p:spPr>
          <a:xfrm>
            <a:off x="4894096" y="2544465"/>
            <a:ext cx="138900" cy="10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0566D"/>
          </a:solidFill>
          <a:ln cap="flat" cmpd="sng" w="765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t/>
            </a:r>
            <a:endParaRPr b="0" i="0" sz="1121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6" name="Google Shape;596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97" name="Google Shape;597;p45"/>
          <p:cNvGrpSpPr/>
          <p:nvPr/>
        </p:nvGrpSpPr>
        <p:grpSpPr>
          <a:xfrm>
            <a:off x="8068236" y="2"/>
            <a:ext cx="1075752" cy="150822"/>
            <a:chOff x="921102" y="6027409"/>
            <a:chExt cx="2680001" cy="375740"/>
          </a:xfrm>
        </p:grpSpPr>
        <p:pic>
          <p:nvPicPr>
            <p:cNvPr descr="EMB0000378c3f3d" id="598" name="Google Shape;598;p4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9" name="Google Shape;599;p4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46"/>
          <p:cNvSpPr txBox="1"/>
          <p:nvPr>
            <p:ph type="title"/>
          </p:nvPr>
        </p:nvSpPr>
        <p:spPr>
          <a:xfrm>
            <a:off x="799300" y="680302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Dataset_ </a:t>
            </a:r>
            <a:r>
              <a:rPr lang="en" sz="2000"/>
              <a:t>AI Hub 채용 면접 인터뷰 데이터</a:t>
            </a:r>
            <a:endParaRPr sz="2000"/>
          </a:p>
        </p:txBody>
      </p:sp>
      <p:sp>
        <p:nvSpPr>
          <p:cNvPr id="605" name="Google Shape;605;p46"/>
          <p:cNvSpPr txBox="1"/>
          <p:nvPr>
            <p:ph idx="4294967295" type="title"/>
          </p:nvPr>
        </p:nvSpPr>
        <p:spPr>
          <a:xfrm>
            <a:off x="5221000" y="1746327"/>
            <a:ext cx="3013500" cy="35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질문 텍스트 (Question_col)</a:t>
            </a:r>
            <a:endParaRPr sz="1800"/>
          </a:p>
        </p:txBody>
      </p:sp>
      <p:sp>
        <p:nvSpPr>
          <p:cNvPr id="606" name="Google Shape;606;p46"/>
          <p:cNvSpPr txBox="1"/>
          <p:nvPr>
            <p:ph idx="4294967295" type="title"/>
          </p:nvPr>
        </p:nvSpPr>
        <p:spPr>
          <a:xfrm>
            <a:off x="5176000" y="3219189"/>
            <a:ext cx="2915100" cy="35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요약 답변 (Summary_col)</a:t>
            </a:r>
            <a:endParaRPr sz="1800"/>
          </a:p>
        </p:txBody>
      </p:sp>
      <p:sp>
        <p:nvSpPr>
          <p:cNvPr id="607" name="Google Shape;607;p46"/>
          <p:cNvSpPr/>
          <p:nvPr/>
        </p:nvSpPr>
        <p:spPr>
          <a:xfrm>
            <a:off x="5023425" y="1799670"/>
            <a:ext cx="173700" cy="1737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08" name="Google Shape;60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625" y="1935645"/>
            <a:ext cx="2915101" cy="2970263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46"/>
          <p:cNvSpPr/>
          <p:nvPr/>
        </p:nvSpPr>
        <p:spPr>
          <a:xfrm>
            <a:off x="5023425" y="3252082"/>
            <a:ext cx="173700" cy="1737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46"/>
          <p:cNvSpPr txBox="1"/>
          <p:nvPr/>
        </p:nvSpPr>
        <p:spPr>
          <a:xfrm>
            <a:off x="799300" y="11353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약 76,000여개의 인터뷰 데이터 셋을 활용해 사용자의 직무,키워드에 가장 적합한 질문리스트와 답변(예시) 을 제공합니다.</a:t>
            </a:r>
            <a:endParaRPr sz="11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611" name="Google Shape;611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3975" y="2087493"/>
            <a:ext cx="3404152" cy="99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03975" y="3595294"/>
            <a:ext cx="3404150" cy="1095524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46"/>
          <p:cNvSpPr txBox="1"/>
          <p:nvPr>
            <p:ph type="title"/>
          </p:nvPr>
        </p:nvSpPr>
        <p:spPr>
          <a:xfrm>
            <a:off x="313650" y="203550"/>
            <a:ext cx="2584800" cy="358800"/>
          </a:xfrm>
          <a:prstGeom prst="rect">
            <a:avLst/>
          </a:prstGeom>
          <a:solidFill>
            <a:srgbClr val="FFF2CC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맞춤형 질문 제공 시스템</a:t>
            </a:r>
            <a:endParaRPr sz="1500"/>
          </a:p>
        </p:txBody>
      </p:sp>
      <p:sp>
        <p:nvSpPr>
          <p:cNvPr id="614" name="Google Shape;614;p46"/>
          <p:cNvSpPr txBox="1"/>
          <p:nvPr>
            <p:ph idx="4294967295" type="title"/>
          </p:nvPr>
        </p:nvSpPr>
        <p:spPr>
          <a:xfrm>
            <a:off x="413475" y="1655950"/>
            <a:ext cx="4283400" cy="35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직무별 카테고리 비율(전체 76,000개중) </a:t>
            </a:r>
            <a:endParaRPr sz="1300"/>
          </a:p>
        </p:txBody>
      </p:sp>
      <p:sp>
        <p:nvSpPr>
          <p:cNvPr id="615" name="Google Shape;615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16" name="Google Shape;616;p46"/>
          <p:cNvGrpSpPr/>
          <p:nvPr/>
        </p:nvGrpSpPr>
        <p:grpSpPr>
          <a:xfrm>
            <a:off x="8068236" y="2"/>
            <a:ext cx="1075752" cy="150822"/>
            <a:chOff x="921102" y="6027409"/>
            <a:chExt cx="2680001" cy="375740"/>
          </a:xfrm>
        </p:grpSpPr>
        <p:pic>
          <p:nvPicPr>
            <p:cNvPr descr="EMB0000378c3f3d" id="617" name="Google Shape;617;p4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8" name="Google Shape;618;p4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47"/>
          <p:cNvSpPr txBox="1"/>
          <p:nvPr>
            <p:ph type="title"/>
          </p:nvPr>
        </p:nvSpPr>
        <p:spPr>
          <a:xfrm>
            <a:off x="720000" y="635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질문 제공 프로세스 </a:t>
            </a:r>
            <a:endParaRPr sz="2300"/>
          </a:p>
        </p:txBody>
      </p:sp>
      <p:sp>
        <p:nvSpPr>
          <p:cNvPr id="624" name="Google Shape;624;p47"/>
          <p:cNvSpPr/>
          <p:nvPr/>
        </p:nvSpPr>
        <p:spPr>
          <a:xfrm>
            <a:off x="6825571" y="1586273"/>
            <a:ext cx="190800" cy="17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47"/>
          <p:cNvSpPr txBox="1"/>
          <p:nvPr/>
        </p:nvSpPr>
        <p:spPr>
          <a:xfrm flipH="1">
            <a:off x="46700" y="1895899"/>
            <a:ext cx="26712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팀 프로젝트 협업과정에서 </a:t>
            </a:r>
            <a:endParaRPr sz="9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어려움은 없었나요? </a:t>
            </a:r>
            <a:endParaRPr sz="9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00FF"/>
                </a:solidFill>
                <a:latin typeface="Cairo"/>
                <a:ea typeface="Cairo"/>
                <a:cs typeface="Cairo"/>
                <a:sym typeface="Cairo"/>
              </a:rPr>
              <a:t>[0.23,-011,0.52,0.44…)</a:t>
            </a:r>
            <a:endParaRPr sz="900">
              <a:solidFill>
                <a:srgbClr val="0000FF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	                             ….	</a:t>
            </a:r>
            <a:endParaRPr sz="9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          </a:t>
            </a:r>
            <a:endParaRPr sz="9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626" name="Google Shape;626;p47"/>
          <p:cNvSpPr txBox="1"/>
          <p:nvPr/>
        </p:nvSpPr>
        <p:spPr>
          <a:xfrm flipH="1">
            <a:off x="3099000" y="1866654"/>
            <a:ext cx="19596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“[협업]” → </a:t>
            </a:r>
            <a:r>
              <a:rPr lang="en" sz="800">
                <a:solidFill>
                  <a:srgbClr val="134F5C"/>
                </a:solidFill>
                <a:latin typeface="Cairo"/>
                <a:ea typeface="Cairo"/>
                <a:cs typeface="Cairo"/>
                <a:sym typeface="Cairo"/>
              </a:rPr>
              <a:t>“</a:t>
            </a:r>
            <a:r>
              <a:rPr lang="en" sz="800">
                <a:solidFill>
                  <a:srgbClr val="134F5C"/>
                </a:solidFill>
                <a:latin typeface="Cairo"/>
                <a:ea typeface="Cairo"/>
                <a:cs typeface="Cairo"/>
                <a:sym typeface="Cairo"/>
              </a:rPr>
              <a:t>협업, 팀워크, 팀 프로젝트</a:t>
            </a:r>
            <a:br>
              <a:rPr lang="en" sz="800">
                <a:solidFill>
                  <a:srgbClr val="134F5C"/>
                </a:solidFill>
                <a:latin typeface="Cairo"/>
                <a:ea typeface="Cairo"/>
                <a:cs typeface="Cairo"/>
                <a:sym typeface="Cairo"/>
              </a:rPr>
            </a:br>
            <a:r>
              <a:rPr lang="en" sz="800">
                <a:solidFill>
                  <a:srgbClr val="134F5C"/>
                </a:solidFill>
                <a:latin typeface="Cairo"/>
                <a:ea typeface="Cairo"/>
                <a:cs typeface="Cairo"/>
                <a:sym typeface="Cairo"/>
              </a:rPr>
              <a:t>협력에 대한 면접 질문”</a:t>
            </a:r>
            <a:endParaRPr sz="800">
              <a:solidFill>
                <a:srgbClr val="134F5C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627" name="Google Shape;627;p47"/>
          <p:cNvSpPr txBox="1"/>
          <p:nvPr/>
        </p:nvSpPr>
        <p:spPr>
          <a:xfrm flipH="1">
            <a:off x="6151308" y="1853703"/>
            <a:ext cx="1959600" cy="8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질문 : </a:t>
            </a:r>
            <a:r>
              <a:rPr lang="en" sz="900">
                <a:solidFill>
                  <a:srgbClr val="0000FF"/>
                </a:solidFill>
                <a:latin typeface="Cairo"/>
                <a:ea typeface="Cairo"/>
                <a:cs typeface="Cairo"/>
                <a:sym typeface="Cairo"/>
              </a:rPr>
              <a:t>[0.23,-0.11,0.52 …)</a:t>
            </a:r>
            <a:endParaRPr sz="9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키워드 : </a:t>
            </a:r>
            <a:r>
              <a:rPr lang="en" sz="900">
                <a:solidFill>
                  <a:srgbClr val="FF9900"/>
                </a:solidFill>
                <a:latin typeface="Cairo"/>
                <a:ea typeface="Cairo"/>
                <a:cs typeface="Cairo"/>
                <a:sym typeface="Cairo"/>
              </a:rPr>
              <a:t>[0.42,-0.32, 0.23…)</a:t>
            </a:r>
            <a:endParaRPr sz="9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의미적 cos 유사도 계산</a:t>
            </a:r>
            <a:endParaRPr sz="9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cxnSp>
        <p:nvCxnSpPr>
          <p:cNvPr id="628" name="Google Shape;628;p47"/>
          <p:cNvCxnSpPr>
            <a:stCxn id="629" idx="3"/>
            <a:endCxn id="624" idx="2"/>
          </p:cNvCxnSpPr>
          <p:nvPr/>
        </p:nvCxnSpPr>
        <p:spPr>
          <a:xfrm>
            <a:off x="1785658" y="1674473"/>
            <a:ext cx="504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0" name="Google Shape;630;p47"/>
          <p:cNvSpPr/>
          <p:nvPr/>
        </p:nvSpPr>
        <p:spPr>
          <a:xfrm>
            <a:off x="1594675" y="3422248"/>
            <a:ext cx="176400" cy="17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7"/>
          <p:cNvSpPr/>
          <p:nvPr/>
        </p:nvSpPr>
        <p:spPr>
          <a:xfrm>
            <a:off x="3831275" y="3401498"/>
            <a:ext cx="176400" cy="17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47"/>
          <p:cNvSpPr txBox="1"/>
          <p:nvPr/>
        </p:nvSpPr>
        <p:spPr>
          <a:xfrm flipH="1">
            <a:off x="2835575" y="3686525"/>
            <a:ext cx="2006400" cy="8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1. 유사도 순 Top 20 질문 추출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2. 같은의미, 중복질문 제거 </a:t>
            </a:r>
            <a:br>
              <a:rPr lang="en" sz="900"/>
            </a:br>
            <a:r>
              <a:rPr lang="en" sz="900"/>
              <a:t>    (threshold 0.9↑ 경우 제거.)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3. 최종 Top5개 질문list 제공</a:t>
            </a:r>
            <a:endParaRPr sz="9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cxnSp>
        <p:nvCxnSpPr>
          <p:cNvPr id="633" name="Google Shape;633;p47"/>
          <p:cNvCxnSpPr>
            <a:stCxn id="630" idx="6"/>
            <a:endCxn id="631" idx="2"/>
          </p:cNvCxnSpPr>
          <p:nvPr/>
        </p:nvCxnSpPr>
        <p:spPr>
          <a:xfrm flipH="1" rot="10800000">
            <a:off x="1771075" y="3489748"/>
            <a:ext cx="2060100" cy="20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4" name="Google Shape;634;p47"/>
          <p:cNvCxnSpPr>
            <a:stCxn id="624" idx="6"/>
            <a:endCxn id="630" idx="2"/>
          </p:cNvCxnSpPr>
          <p:nvPr/>
        </p:nvCxnSpPr>
        <p:spPr>
          <a:xfrm flipH="1">
            <a:off x="1594771" y="1674473"/>
            <a:ext cx="5421600" cy="1836000"/>
          </a:xfrm>
          <a:prstGeom prst="bentConnector5">
            <a:avLst>
              <a:gd fmla="val -18940" name="adj1"/>
              <a:gd fmla="val 64620" name="adj2"/>
              <a:gd fmla="val 104394" name="adj3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9" name="Google Shape;629;p47"/>
          <p:cNvSpPr txBox="1"/>
          <p:nvPr/>
        </p:nvSpPr>
        <p:spPr>
          <a:xfrm>
            <a:off x="936058" y="1502423"/>
            <a:ext cx="849600" cy="34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질문 임베딩</a:t>
            </a:r>
            <a:endParaRPr b="1" sz="9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35" name="Google Shape;635;p47"/>
          <p:cNvSpPr txBox="1"/>
          <p:nvPr/>
        </p:nvSpPr>
        <p:spPr>
          <a:xfrm>
            <a:off x="6768000" y="1502423"/>
            <a:ext cx="849600" cy="34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질문 /키워드 간 유사도계산 </a:t>
            </a:r>
            <a:endParaRPr b="1" sz="9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36" name="Google Shape;636;p47"/>
          <p:cNvSpPr/>
          <p:nvPr/>
        </p:nvSpPr>
        <p:spPr>
          <a:xfrm>
            <a:off x="1655642" y="3377384"/>
            <a:ext cx="190800" cy="17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7"/>
          <p:cNvSpPr/>
          <p:nvPr/>
        </p:nvSpPr>
        <p:spPr>
          <a:xfrm>
            <a:off x="3696660" y="3377384"/>
            <a:ext cx="190800" cy="17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38" name="Google Shape;638;p47"/>
          <p:cNvCxnSpPr/>
          <p:nvPr/>
        </p:nvCxnSpPr>
        <p:spPr>
          <a:xfrm>
            <a:off x="4202675" y="3468382"/>
            <a:ext cx="1711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9" name="Google Shape;639;p47"/>
          <p:cNvSpPr txBox="1"/>
          <p:nvPr/>
        </p:nvSpPr>
        <p:spPr>
          <a:xfrm>
            <a:off x="1116365" y="3338409"/>
            <a:ext cx="833700" cy="34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카테고리</a:t>
            </a:r>
            <a:endParaRPr b="1" sz="9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가중치 적용</a:t>
            </a:r>
            <a:endParaRPr b="1" sz="9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40" name="Google Shape;640;p47"/>
          <p:cNvSpPr txBox="1"/>
          <p:nvPr/>
        </p:nvSpPr>
        <p:spPr>
          <a:xfrm>
            <a:off x="3248167" y="3293534"/>
            <a:ext cx="833700" cy="34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TOP-K 질문 필터링 </a:t>
            </a:r>
            <a:endParaRPr b="1" sz="9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41" name="Google Shape;641;p47"/>
          <p:cNvSpPr txBox="1"/>
          <p:nvPr/>
        </p:nvSpPr>
        <p:spPr>
          <a:xfrm>
            <a:off x="7477967" y="3293534"/>
            <a:ext cx="833700" cy="34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C2C2C2"/>
                </a:solidFill>
                <a:latin typeface="Space Grotesk"/>
                <a:ea typeface="Space Grotesk"/>
                <a:cs typeface="Space Grotesk"/>
                <a:sym typeface="Space Grotesk"/>
              </a:rPr>
              <a:t>주저어 판별 모델</a:t>
            </a:r>
            <a:endParaRPr b="1" sz="900">
              <a:solidFill>
                <a:srgbClr val="C2C2C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42" name="Google Shape;642;p47"/>
          <p:cNvSpPr txBox="1"/>
          <p:nvPr/>
        </p:nvSpPr>
        <p:spPr>
          <a:xfrm>
            <a:off x="7477967" y="3712934"/>
            <a:ext cx="833700" cy="34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C2C2C2"/>
                </a:solidFill>
                <a:latin typeface="Space Grotesk"/>
                <a:ea typeface="Space Grotesk"/>
                <a:cs typeface="Space Grotesk"/>
                <a:sym typeface="Space Grotesk"/>
              </a:rPr>
              <a:t>말더듬 판별</a:t>
            </a:r>
            <a:endParaRPr b="1" sz="900">
              <a:solidFill>
                <a:srgbClr val="C2C2C2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C2C2C2"/>
                </a:solidFill>
                <a:latin typeface="Space Grotesk"/>
                <a:ea typeface="Space Grotesk"/>
                <a:cs typeface="Space Grotesk"/>
                <a:sym typeface="Space Grotesk"/>
              </a:rPr>
              <a:t>모</a:t>
            </a:r>
            <a:r>
              <a:rPr b="1" lang="en" sz="900">
                <a:solidFill>
                  <a:srgbClr val="C2C2C2"/>
                </a:solidFill>
                <a:latin typeface="Space Grotesk"/>
                <a:ea typeface="Space Grotesk"/>
                <a:cs typeface="Space Grotesk"/>
                <a:sym typeface="Space Grotesk"/>
              </a:rPr>
              <a:t>델</a:t>
            </a:r>
            <a:endParaRPr b="1" sz="900">
              <a:solidFill>
                <a:srgbClr val="C2C2C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cxnSp>
        <p:nvCxnSpPr>
          <p:cNvPr id="643" name="Google Shape;643;p47"/>
          <p:cNvCxnSpPr>
            <a:stCxn id="642" idx="1"/>
            <a:endCxn id="644" idx="3"/>
          </p:cNvCxnSpPr>
          <p:nvPr/>
        </p:nvCxnSpPr>
        <p:spPr>
          <a:xfrm rot="10800000">
            <a:off x="7198367" y="3465584"/>
            <a:ext cx="279600" cy="419400"/>
          </a:xfrm>
          <a:prstGeom prst="bentConnector3">
            <a:avLst>
              <a:gd fmla="val 49987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5" name="Google Shape;645;p47"/>
          <p:cNvCxnSpPr>
            <a:stCxn id="646" idx="1"/>
            <a:endCxn id="644" idx="3"/>
          </p:cNvCxnSpPr>
          <p:nvPr/>
        </p:nvCxnSpPr>
        <p:spPr>
          <a:xfrm rot="10800000">
            <a:off x="7198367" y="3465584"/>
            <a:ext cx="279600" cy="838800"/>
          </a:xfrm>
          <a:prstGeom prst="bentConnector3">
            <a:avLst>
              <a:gd fmla="val 49987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7" name="Google Shape;647;p47"/>
          <p:cNvSpPr txBox="1"/>
          <p:nvPr/>
        </p:nvSpPr>
        <p:spPr>
          <a:xfrm>
            <a:off x="3492511" y="1502423"/>
            <a:ext cx="1018500" cy="34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단순 키워드-&gt; </a:t>
            </a:r>
            <a:endParaRPr b="1" sz="9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  문장의미 확장</a:t>
            </a:r>
            <a:endParaRPr b="1" sz="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48" name="Google Shape;648;p47"/>
          <p:cNvSpPr txBox="1"/>
          <p:nvPr/>
        </p:nvSpPr>
        <p:spPr>
          <a:xfrm flipH="1">
            <a:off x="5020424" y="3826173"/>
            <a:ext cx="1868700" cy="8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cxnSp>
        <p:nvCxnSpPr>
          <p:cNvPr id="649" name="Google Shape;649;p47"/>
          <p:cNvCxnSpPr>
            <a:endCxn id="641" idx="1"/>
          </p:cNvCxnSpPr>
          <p:nvPr/>
        </p:nvCxnSpPr>
        <p:spPr>
          <a:xfrm flipH="1" rot="10800000">
            <a:off x="5347367" y="3465584"/>
            <a:ext cx="2130600" cy="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4" name="Google Shape;644;p47"/>
          <p:cNvSpPr txBox="1"/>
          <p:nvPr/>
        </p:nvSpPr>
        <p:spPr>
          <a:xfrm>
            <a:off x="6216538" y="3293523"/>
            <a:ext cx="981900" cy="34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C2C2C2"/>
                </a:solidFill>
                <a:latin typeface="Space Grotesk"/>
                <a:ea typeface="Space Grotesk"/>
                <a:cs typeface="Space Grotesk"/>
                <a:sym typeface="Space Grotesk"/>
              </a:rPr>
              <a:t>가상 면접 시작</a:t>
            </a:r>
            <a:br>
              <a:rPr b="1" lang="en" sz="900">
                <a:solidFill>
                  <a:srgbClr val="C2C2C2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b="1" lang="en" sz="900">
                <a:solidFill>
                  <a:srgbClr val="C2C2C2"/>
                </a:solidFill>
                <a:latin typeface="Space Grotesk"/>
                <a:ea typeface="Space Grotesk"/>
                <a:cs typeface="Space Grotesk"/>
                <a:sym typeface="Space Grotesk"/>
              </a:rPr>
              <a:t>(음성-&gt;텍스트)</a:t>
            </a:r>
            <a:endParaRPr b="1" sz="9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46" name="Google Shape;646;p47"/>
          <p:cNvSpPr txBox="1"/>
          <p:nvPr/>
        </p:nvSpPr>
        <p:spPr>
          <a:xfrm>
            <a:off x="7477967" y="4132334"/>
            <a:ext cx="833700" cy="34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LLM 2차코칭</a:t>
            </a:r>
            <a:endParaRPr b="1" sz="9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(피드백제공)</a:t>
            </a:r>
            <a:endParaRPr b="1" sz="9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50" name="Google Shape;650;p47"/>
          <p:cNvSpPr txBox="1"/>
          <p:nvPr/>
        </p:nvSpPr>
        <p:spPr>
          <a:xfrm flipH="1">
            <a:off x="4990425" y="3776848"/>
            <a:ext cx="1374000" cy="6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651" name="Google Shape;651;p47"/>
          <p:cNvSpPr txBox="1"/>
          <p:nvPr/>
        </p:nvSpPr>
        <p:spPr>
          <a:xfrm>
            <a:off x="5006589" y="3244044"/>
            <a:ext cx="833700" cy="532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LLM 1차 코칭</a:t>
            </a:r>
            <a:br>
              <a:rPr b="1" lang="en" sz="9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b="1" lang="en" sz="9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(가이드제공)</a:t>
            </a:r>
            <a:endParaRPr b="1" sz="9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52" name="Google Shape;652;p47"/>
          <p:cNvSpPr txBox="1"/>
          <p:nvPr/>
        </p:nvSpPr>
        <p:spPr>
          <a:xfrm>
            <a:off x="5140483" y="1502423"/>
            <a:ext cx="849600" cy="34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키워드</a:t>
            </a:r>
            <a:r>
              <a:rPr b="1" lang="en" sz="9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 임베딩</a:t>
            </a:r>
            <a:endParaRPr b="1" sz="9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53" name="Google Shape;653;p47"/>
          <p:cNvSpPr txBox="1"/>
          <p:nvPr/>
        </p:nvSpPr>
        <p:spPr>
          <a:xfrm flipH="1">
            <a:off x="4618672" y="1866650"/>
            <a:ext cx="19596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212121"/>
                </a:solidFill>
                <a:latin typeface="Cairo"/>
                <a:ea typeface="Cairo"/>
                <a:cs typeface="Cairo"/>
                <a:sym typeface="Cairo"/>
              </a:rPr>
              <a:t>확장된 문장의미 키워드</a:t>
            </a:r>
            <a:r>
              <a:rPr lang="en" sz="800">
                <a:solidFill>
                  <a:srgbClr val="134F5C"/>
                </a:solidFill>
                <a:latin typeface="Cairo"/>
                <a:ea typeface="Cairo"/>
                <a:cs typeface="Cairo"/>
                <a:sym typeface="Cairo"/>
              </a:rPr>
              <a:t>-&gt;</a:t>
            </a:r>
            <a:endParaRPr sz="800">
              <a:solidFill>
                <a:srgbClr val="134F5C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9900"/>
                </a:solidFill>
                <a:latin typeface="Cairo"/>
                <a:ea typeface="Cairo"/>
                <a:cs typeface="Cairo"/>
                <a:sym typeface="Cairo"/>
              </a:rPr>
              <a:t>[0.42.-0.32,0.23…]</a:t>
            </a:r>
            <a:endParaRPr sz="900">
              <a:solidFill>
                <a:srgbClr val="FF9900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654" name="Google Shape;654;p47"/>
          <p:cNvSpPr txBox="1"/>
          <p:nvPr>
            <p:ph type="title"/>
          </p:nvPr>
        </p:nvSpPr>
        <p:spPr>
          <a:xfrm>
            <a:off x="313650" y="203550"/>
            <a:ext cx="2584800" cy="358800"/>
          </a:xfrm>
          <a:prstGeom prst="rect">
            <a:avLst/>
          </a:prstGeom>
          <a:solidFill>
            <a:srgbClr val="FFF2CC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맞춤형 질문 제공 시스템</a:t>
            </a:r>
            <a:endParaRPr sz="1500"/>
          </a:p>
        </p:txBody>
      </p:sp>
      <p:sp>
        <p:nvSpPr>
          <p:cNvPr id="655" name="Google Shape;655;p47"/>
          <p:cNvSpPr/>
          <p:nvPr/>
        </p:nvSpPr>
        <p:spPr>
          <a:xfrm>
            <a:off x="2245505" y="1518497"/>
            <a:ext cx="849600" cy="2925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      키워드 : 협업</a:t>
            </a:r>
            <a:endParaRPr b="1" sz="7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카테고리 : ICT</a:t>
            </a:r>
            <a:endParaRPr b="1" sz="7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56" name="Google Shape;656;p47"/>
          <p:cNvSpPr txBox="1"/>
          <p:nvPr/>
        </p:nvSpPr>
        <p:spPr>
          <a:xfrm>
            <a:off x="1170300" y="1271526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&lt;input&gt;</a:t>
            </a:r>
            <a:endParaRPr sz="1600"/>
          </a:p>
        </p:txBody>
      </p:sp>
      <p:sp>
        <p:nvSpPr>
          <p:cNvPr id="657" name="Google Shape;657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58" name="Google Shape;658;p47"/>
          <p:cNvGrpSpPr/>
          <p:nvPr/>
        </p:nvGrpSpPr>
        <p:grpSpPr>
          <a:xfrm>
            <a:off x="8068236" y="2"/>
            <a:ext cx="1075752" cy="150822"/>
            <a:chOff x="921102" y="6027409"/>
            <a:chExt cx="2680001" cy="375740"/>
          </a:xfrm>
        </p:grpSpPr>
        <p:pic>
          <p:nvPicPr>
            <p:cNvPr descr="EMB0000378c3f3d" id="659" name="Google Shape;659;p4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0" name="Google Shape;660;p4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48"/>
          <p:cNvSpPr txBox="1"/>
          <p:nvPr/>
        </p:nvSpPr>
        <p:spPr>
          <a:xfrm>
            <a:off x="484975" y="5623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1160"/>
                </a:solidFill>
                <a:latin typeface="Space Grotesk"/>
                <a:ea typeface="Space Grotesk"/>
                <a:cs typeface="Space Grotesk"/>
                <a:sym typeface="Space Grotesk"/>
              </a:rPr>
              <a:t>LLM 1차 프롬프트</a:t>
            </a:r>
            <a:r>
              <a:rPr lang="en" sz="2100">
                <a:solidFill>
                  <a:srgbClr val="241160"/>
                </a:solidFill>
                <a:latin typeface="Space Grotesk"/>
                <a:ea typeface="Space Grotesk"/>
                <a:cs typeface="Space Grotesk"/>
                <a:sym typeface="Space Grotesk"/>
              </a:rPr>
              <a:t>_답변</a:t>
            </a:r>
            <a:r>
              <a:rPr lang="en" sz="2100">
                <a:solidFill>
                  <a:srgbClr val="241160"/>
                </a:solidFill>
                <a:latin typeface="Space Grotesk"/>
                <a:ea typeface="Space Grotesk"/>
                <a:cs typeface="Space Grotesk"/>
                <a:sym typeface="Space Grotesk"/>
              </a:rPr>
              <a:t> 전</a:t>
            </a:r>
            <a:r>
              <a:rPr lang="en" sz="2100">
                <a:solidFill>
                  <a:srgbClr val="241160"/>
                </a:solidFill>
                <a:latin typeface="Space Grotesk"/>
                <a:ea typeface="Space Grotesk"/>
                <a:cs typeface="Space Grotesk"/>
                <a:sym typeface="Space Grotesk"/>
              </a:rPr>
              <a:t> 가이드 제공</a:t>
            </a:r>
            <a:endParaRPr sz="2600">
              <a:solidFill>
                <a:srgbClr val="24116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66" name="Google Shape;666;p48"/>
          <p:cNvSpPr txBox="1"/>
          <p:nvPr/>
        </p:nvSpPr>
        <p:spPr>
          <a:xfrm flipH="1">
            <a:off x="5174488" y="975640"/>
            <a:ext cx="3634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CFE2F3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rPr>
              <a:t>답변 전 사전지식 제공을 위한!</a:t>
            </a:r>
            <a:endParaRPr sz="1300">
              <a:solidFill>
                <a:schemeClr val="dk1"/>
              </a:solidFill>
              <a:highlight>
                <a:srgbClr val="CFE2F3"/>
              </a:highlight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CFE2F3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rPr>
              <a:t>&lt;답변 예시 , 질문의 평가 의도, 체크리스트 제시  &gt;</a:t>
            </a:r>
            <a:endParaRPr sz="1300">
              <a:solidFill>
                <a:schemeClr val="dk1"/>
              </a:solidFill>
              <a:highlight>
                <a:srgbClr val="CFE2F3"/>
              </a:highlight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pic>
        <p:nvPicPr>
          <p:cNvPr id="667" name="Google Shape;66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4335" y="1489726"/>
            <a:ext cx="3894511" cy="32286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68" name="Google Shape;668;p48"/>
          <p:cNvSpPr/>
          <p:nvPr/>
        </p:nvSpPr>
        <p:spPr>
          <a:xfrm>
            <a:off x="4676763" y="2957475"/>
            <a:ext cx="296100" cy="293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669" name="Google Shape;669;p48"/>
          <p:cNvSpPr txBox="1"/>
          <p:nvPr>
            <p:ph type="title"/>
          </p:nvPr>
        </p:nvSpPr>
        <p:spPr>
          <a:xfrm>
            <a:off x="313650" y="203550"/>
            <a:ext cx="2584800" cy="358800"/>
          </a:xfrm>
          <a:prstGeom prst="rect">
            <a:avLst/>
          </a:prstGeom>
          <a:solidFill>
            <a:srgbClr val="FFF2CC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맞춤형 질문 제공 시스템</a:t>
            </a:r>
            <a:endParaRPr sz="1500"/>
          </a:p>
        </p:txBody>
      </p:sp>
      <p:pic>
        <p:nvPicPr>
          <p:cNvPr id="670" name="Google Shape;670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5840" y="1475291"/>
            <a:ext cx="4254124" cy="3228600"/>
          </a:xfrm>
          <a:prstGeom prst="rect">
            <a:avLst/>
          </a:prstGeom>
          <a:noFill/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71" name="Google Shape;671;p48"/>
          <p:cNvSpPr/>
          <p:nvPr/>
        </p:nvSpPr>
        <p:spPr>
          <a:xfrm>
            <a:off x="2066250" y="2957475"/>
            <a:ext cx="677700" cy="182700"/>
          </a:xfrm>
          <a:prstGeom prst="rect">
            <a:avLst/>
          </a:prstGeom>
          <a:solidFill>
            <a:srgbClr val="F19261">
              <a:alpha val="0"/>
            </a:srgbClr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672" name="Google Shape;672;p48"/>
          <p:cNvSpPr/>
          <p:nvPr/>
        </p:nvSpPr>
        <p:spPr>
          <a:xfrm>
            <a:off x="673825" y="3830050"/>
            <a:ext cx="677700" cy="182700"/>
          </a:xfrm>
          <a:prstGeom prst="rect">
            <a:avLst/>
          </a:prstGeom>
          <a:solidFill>
            <a:srgbClr val="F19261">
              <a:alpha val="0"/>
            </a:srgbClr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673" name="Google Shape;673;p48"/>
          <p:cNvSpPr/>
          <p:nvPr/>
        </p:nvSpPr>
        <p:spPr>
          <a:xfrm>
            <a:off x="2568600" y="4261225"/>
            <a:ext cx="677700" cy="182700"/>
          </a:xfrm>
          <a:prstGeom prst="rect">
            <a:avLst/>
          </a:prstGeom>
          <a:solidFill>
            <a:srgbClr val="F19261">
              <a:alpha val="0"/>
            </a:srgbClr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674" name="Google Shape;674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75" name="Google Shape;675;p48"/>
          <p:cNvGrpSpPr/>
          <p:nvPr/>
        </p:nvGrpSpPr>
        <p:grpSpPr>
          <a:xfrm>
            <a:off x="8068236" y="2"/>
            <a:ext cx="1075752" cy="150822"/>
            <a:chOff x="921102" y="6027409"/>
            <a:chExt cx="2680001" cy="375740"/>
          </a:xfrm>
        </p:grpSpPr>
        <p:pic>
          <p:nvPicPr>
            <p:cNvPr descr="EMB0000378c3f3d" id="676" name="Google Shape;676;p4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7" name="Google Shape;677;p4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49"/>
          <p:cNvSpPr txBox="1"/>
          <p:nvPr/>
        </p:nvSpPr>
        <p:spPr>
          <a:xfrm>
            <a:off x="5115450" y="994875"/>
            <a:ext cx="37359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CFE2F3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rPr>
              <a:t>답변내용의 논리성 판단!</a:t>
            </a:r>
            <a:endParaRPr sz="1200">
              <a:solidFill>
                <a:schemeClr val="dk1"/>
              </a:solidFill>
              <a:highlight>
                <a:srgbClr val="CFE2F3"/>
              </a:highlight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CFE2F3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rPr>
              <a:t>&lt;강점, </a:t>
            </a:r>
            <a:r>
              <a:rPr lang="en" sz="1200">
                <a:solidFill>
                  <a:schemeClr val="dk1"/>
                </a:solidFill>
                <a:highlight>
                  <a:srgbClr val="CFE2F3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rPr>
              <a:t>보완점</a:t>
            </a:r>
            <a:r>
              <a:rPr lang="en" sz="1200">
                <a:solidFill>
                  <a:schemeClr val="dk1"/>
                </a:solidFill>
                <a:highlight>
                  <a:srgbClr val="CFE2F3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rPr>
              <a:t>, </a:t>
            </a:r>
            <a:r>
              <a:rPr lang="en" sz="1200">
                <a:solidFill>
                  <a:schemeClr val="dk1"/>
                </a:solidFill>
                <a:highlight>
                  <a:srgbClr val="CFE2F3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rPr>
              <a:t>논리성 평가,</a:t>
            </a:r>
            <a:r>
              <a:rPr lang="en" sz="1200">
                <a:solidFill>
                  <a:schemeClr val="dk1"/>
                </a:solidFill>
                <a:highlight>
                  <a:srgbClr val="CFE2F3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rPr>
              <a:t>수정 제안, 모범 답변 제시&gt;</a:t>
            </a:r>
            <a:endParaRPr sz="1200">
              <a:solidFill>
                <a:schemeClr val="dk1"/>
              </a:solidFill>
              <a:highlight>
                <a:srgbClr val="CFE2F3"/>
              </a:highlight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683" name="Google Shape;683;p49"/>
          <p:cNvSpPr txBox="1"/>
          <p:nvPr/>
        </p:nvSpPr>
        <p:spPr>
          <a:xfrm>
            <a:off x="484975" y="562350"/>
            <a:ext cx="5733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41160"/>
                </a:solidFill>
                <a:latin typeface="Space Grotesk"/>
                <a:ea typeface="Space Grotesk"/>
                <a:cs typeface="Space Grotesk"/>
                <a:sym typeface="Space Grotesk"/>
              </a:rPr>
              <a:t>LLM 2차 프롬프트</a:t>
            </a:r>
            <a:r>
              <a:rPr lang="en" sz="2100">
                <a:solidFill>
                  <a:srgbClr val="241160"/>
                </a:solidFill>
                <a:latin typeface="Space Grotesk"/>
                <a:ea typeface="Space Grotesk"/>
                <a:cs typeface="Space Grotesk"/>
                <a:sym typeface="Space Grotesk"/>
              </a:rPr>
              <a:t>(답변</a:t>
            </a:r>
            <a:r>
              <a:rPr lang="en" sz="2100">
                <a:solidFill>
                  <a:srgbClr val="241160"/>
                </a:solidFill>
                <a:latin typeface="Space Grotesk"/>
                <a:ea typeface="Space Grotesk"/>
                <a:cs typeface="Space Grotesk"/>
                <a:sym typeface="Space Grotesk"/>
              </a:rPr>
              <a:t>내용</a:t>
            </a:r>
            <a:r>
              <a:rPr lang="en" sz="2100">
                <a:solidFill>
                  <a:srgbClr val="241160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2100">
                <a:solidFill>
                  <a:srgbClr val="241160"/>
                </a:solidFill>
                <a:latin typeface="Space Grotesk"/>
                <a:ea typeface="Space Grotesk"/>
                <a:cs typeface="Space Grotesk"/>
                <a:sym typeface="Space Grotesk"/>
              </a:rPr>
              <a:t>피드백</a:t>
            </a:r>
            <a:r>
              <a:rPr lang="en" sz="2100">
                <a:solidFill>
                  <a:srgbClr val="241160"/>
                </a:solidFill>
                <a:latin typeface="Space Grotesk"/>
                <a:ea typeface="Space Grotesk"/>
                <a:cs typeface="Space Grotesk"/>
                <a:sym typeface="Space Grotesk"/>
              </a:rPr>
              <a:t> 제공)</a:t>
            </a:r>
            <a:endParaRPr sz="2600">
              <a:solidFill>
                <a:srgbClr val="24116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684" name="Google Shape;68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7529" y="1481049"/>
            <a:ext cx="3991735" cy="31873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85" name="Google Shape;685;p49"/>
          <p:cNvSpPr/>
          <p:nvPr/>
        </p:nvSpPr>
        <p:spPr>
          <a:xfrm>
            <a:off x="4662109" y="2957475"/>
            <a:ext cx="296100" cy="293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686" name="Google Shape;686;p49"/>
          <p:cNvSpPr txBox="1"/>
          <p:nvPr>
            <p:ph type="title"/>
          </p:nvPr>
        </p:nvSpPr>
        <p:spPr>
          <a:xfrm>
            <a:off x="313650" y="203550"/>
            <a:ext cx="2584800" cy="358800"/>
          </a:xfrm>
          <a:prstGeom prst="rect">
            <a:avLst/>
          </a:prstGeom>
          <a:solidFill>
            <a:srgbClr val="FFF2CC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맞춤형 질문 제공 시스템</a:t>
            </a:r>
            <a:endParaRPr sz="1500"/>
          </a:p>
        </p:txBody>
      </p:sp>
      <p:pic>
        <p:nvPicPr>
          <p:cNvPr id="687" name="Google Shape;687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514" y="1509907"/>
            <a:ext cx="4212200" cy="3187300"/>
          </a:xfrm>
          <a:prstGeom prst="rect">
            <a:avLst/>
          </a:prstGeom>
          <a:noFill/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88" name="Google Shape;688;p49"/>
          <p:cNvSpPr/>
          <p:nvPr/>
        </p:nvSpPr>
        <p:spPr>
          <a:xfrm>
            <a:off x="351000" y="1510375"/>
            <a:ext cx="855900" cy="358800"/>
          </a:xfrm>
          <a:prstGeom prst="rect">
            <a:avLst/>
          </a:prstGeom>
          <a:solidFill>
            <a:srgbClr val="F19261">
              <a:alpha val="0"/>
            </a:srgbClr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689" name="Google Shape;689;p49"/>
          <p:cNvSpPr/>
          <p:nvPr/>
        </p:nvSpPr>
        <p:spPr>
          <a:xfrm>
            <a:off x="445725" y="2069900"/>
            <a:ext cx="562800" cy="139200"/>
          </a:xfrm>
          <a:prstGeom prst="rect">
            <a:avLst/>
          </a:prstGeom>
          <a:solidFill>
            <a:srgbClr val="F19261">
              <a:alpha val="0"/>
            </a:srgbClr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690" name="Google Shape;690;p49"/>
          <p:cNvSpPr/>
          <p:nvPr/>
        </p:nvSpPr>
        <p:spPr>
          <a:xfrm>
            <a:off x="445725" y="4264475"/>
            <a:ext cx="3102000" cy="293100"/>
          </a:xfrm>
          <a:prstGeom prst="rect">
            <a:avLst/>
          </a:prstGeom>
          <a:solidFill>
            <a:srgbClr val="F19261">
              <a:alpha val="0"/>
            </a:srgbClr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691" name="Google Shape;691;p49"/>
          <p:cNvSpPr/>
          <p:nvPr/>
        </p:nvSpPr>
        <p:spPr>
          <a:xfrm>
            <a:off x="445725" y="2209100"/>
            <a:ext cx="562800" cy="139200"/>
          </a:xfrm>
          <a:prstGeom prst="rect">
            <a:avLst/>
          </a:prstGeom>
          <a:solidFill>
            <a:srgbClr val="F19261">
              <a:alpha val="0"/>
            </a:srgbClr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692" name="Google Shape;692;p49"/>
          <p:cNvSpPr/>
          <p:nvPr/>
        </p:nvSpPr>
        <p:spPr>
          <a:xfrm>
            <a:off x="445725" y="2343825"/>
            <a:ext cx="726000" cy="139200"/>
          </a:xfrm>
          <a:prstGeom prst="rect">
            <a:avLst/>
          </a:prstGeom>
          <a:solidFill>
            <a:srgbClr val="F19261">
              <a:alpha val="0"/>
            </a:srgbClr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693" name="Google Shape;693;p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94" name="Google Shape;694;p49"/>
          <p:cNvGrpSpPr/>
          <p:nvPr/>
        </p:nvGrpSpPr>
        <p:grpSpPr>
          <a:xfrm>
            <a:off x="8068236" y="2"/>
            <a:ext cx="1075752" cy="150822"/>
            <a:chOff x="921102" y="6027409"/>
            <a:chExt cx="2680001" cy="375740"/>
          </a:xfrm>
        </p:grpSpPr>
        <p:pic>
          <p:nvPicPr>
            <p:cNvPr descr="EMB0000378c3f3d" id="695" name="Google Shape;695;p4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6" name="Google Shape;696;p4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50"/>
          <p:cNvSpPr/>
          <p:nvPr/>
        </p:nvSpPr>
        <p:spPr>
          <a:xfrm>
            <a:off x="5147230" y="2373261"/>
            <a:ext cx="564000" cy="4254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rgbClr val="9CDC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975" lIns="42975" spcFirstLastPara="1" rIns="42975" wrap="square" tIns="429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9"/>
              <a:buFont typeface="Arial"/>
              <a:buNone/>
            </a:pPr>
            <a:r>
              <a:rPr lang="en" sz="526">
                <a:solidFill>
                  <a:srgbClr val="FFFFFF"/>
                </a:solidFill>
              </a:rPr>
              <a:t>&lt;가이드 제공&gt;</a:t>
            </a:r>
            <a:endParaRPr sz="526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9"/>
              <a:buFont typeface="Arial"/>
              <a:buNone/>
            </a:pPr>
            <a:r>
              <a:rPr lang="en" sz="460">
                <a:solidFill>
                  <a:srgbClr val="FFFFFF"/>
                </a:solidFill>
              </a:rPr>
              <a:t>답변예시</a:t>
            </a:r>
            <a:endParaRPr sz="46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9"/>
              <a:buFont typeface="Arial"/>
              <a:buNone/>
            </a:pPr>
            <a:r>
              <a:rPr lang="en" sz="460">
                <a:solidFill>
                  <a:srgbClr val="FFFFFF"/>
                </a:solidFill>
              </a:rPr>
              <a:t>평가포인트 등</a:t>
            </a:r>
            <a:endParaRPr sz="46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9"/>
              <a:buFont typeface="Arial"/>
              <a:buNone/>
            </a:pPr>
            <a:r>
              <a:rPr lang="en" sz="460">
                <a:solidFill>
                  <a:srgbClr val="FFFFFF"/>
                </a:solidFill>
              </a:rPr>
              <a:t>先 정보 제공</a:t>
            </a:r>
            <a:endParaRPr sz="460">
              <a:solidFill>
                <a:srgbClr val="FFFFFF"/>
              </a:solidFill>
            </a:endParaRPr>
          </a:p>
        </p:txBody>
      </p:sp>
      <p:sp>
        <p:nvSpPr>
          <p:cNvPr id="702" name="Google Shape;702;p50"/>
          <p:cNvSpPr/>
          <p:nvPr/>
        </p:nvSpPr>
        <p:spPr>
          <a:xfrm>
            <a:off x="4047875" y="2437575"/>
            <a:ext cx="732000" cy="3318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670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"/>
              <a:buFont typeface="Arial"/>
              <a:buNone/>
            </a:pPr>
            <a:r>
              <a:rPr b="1" lang="en" sz="620"/>
              <a:t>Sentence 임베딩</a:t>
            </a:r>
            <a:endParaRPr b="1" sz="62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1" lang="en" sz="620"/>
              <a:t>질문리스트 제공</a:t>
            </a:r>
            <a:endParaRPr b="1" sz="620"/>
          </a:p>
        </p:txBody>
      </p:sp>
      <p:sp>
        <p:nvSpPr>
          <p:cNvPr id="703" name="Google Shape;703;p50"/>
          <p:cNvSpPr/>
          <p:nvPr/>
        </p:nvSpPr>
        <p:spPr>
          <a:xfrm>
            <a:off x="4894096" y="2544465"/>
            <a:ext cx="138900" cy="10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0566D"/>
          </a:solidFill>
          <a:ln cap="flat" cmpd="sng" w="765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t/>
            </a:r>
            <a:endParaRPr b="0" i="0" sz="1121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4" name="Google Shape;704;p50"/>
          <p:cNvSpPr txBox="1"/>
          <p:nvPr>
            <p:ph type="title"/>
          </p:nvPr>
        </p:nvSpPr>
        <p:spPr>
          <a:xfrm>
            <a:off x="2500" y="0"/>
            <a:ext cx="2931600" cy="51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/>
              <a:t>주저어 사용</a:t>
            </a:r>
            <a:endParaRPr i="1"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/>
              <a:t>판별 모델</a:t>
            </a:r>
            <a:endParaRPr i="1" sz="3000"/>
          </a:p>
        </p:txBody>
      </p:sp>
      <p:pic>
        <p:nvPicPr>
          <p:cNvPr id="705" name="Google Shape;705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2625" y="0"/>
            <a:ext cx="2931475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6" name="Google Shape;706;p50"/>
          <p:cNvGrpSpPr/>
          <p:nvPr/>
        </p:nvGrpSpPr>
        <p:grpSpPr>
          <a:xfrm flipH="1">
            <a:off x="4937389" y="-1739617"/>
            <a:ext cx="4574075" cy="3479350"/>
            <a:chOff x="1522650" y="1117750"/>
            <a:chExt cx="4574075" cy="3479350"/>
          </a:xfrm>
        </p:grpSpPr>
        <p:sp>
          <p:nvSpPr>
            <p:cNvPr id="707" name="Google Shape;707;p50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50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9" name="Google Shape;709;p50"/>
          <p:cNvSpPr/>
          <p:nvPr/>
        </p:nvSpPr>
        <p:spPr>
          <a:xfrm>
            <a:off x="6803762" y="2482220"/>
            <a:ext cx="845100" cy="406200"/>
          </a:xfrm>
          <a:prstGeom prst="roundRect">
            <a:avLst>
              <a:gd fmla="val 16667" name="adj"/>
            </a:avLst>
          </a:prstGeom>
          <a:solidFill>
            <a:srgbClr val="6FA8DC"/>
          </a:solidFill>
          <a:ln cap="flat" cmpd="sng" w="765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375" lIns="64375" spcFirstLastPara="1" rIns="64375" wrap="square" tIns="64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1"/>
              <a:buFont typeface="Arial"/>
              <a:buNone/>
            </a:pPr>
            <a:r>
              <a:rPr b="1" lang="en" sz="699">
                <a:solidFill>
                  <a:srgbClr val="FFFFFF"/>
                </a:solidFill>
              </a:rPr>
              <a:t>Wav2Vec2</a:t>
            </a:r>
            <a:endParaRPr b="1" sz="699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1"/>
              <a:buFont typeface="Arial"/>
              <a:buNone/>
            </a:pPr>
            <a:r>
              <a:rPr b="1" lang="en" sz="699">
                <a:solidFill>
                  <a:srgbClr val="FFFFFF"/>
                </a:solidFill>
              </a:rPr>
              <a:t>말더듬 판별</a:t>
            </a:r>
            <a:endParaRPr b="1" sz="699">
              <a:solidFill>
                <a:srgbClr val="FFFFFF"/>
              </a:solidFill>
            </a:endParaRPr>
          </a:p>
        </p:txBody>
      </p:sp>
      <p:sp>
        <p:nvSpPr>
          <p:cNvPr id="710" name="Google Shape;710;p50"/>
          <p:cNvSpPr/>
          <p:nvPr/>
        </p:nvSpPr>
        <p:spPr>
          <a:xfrm>
            <a:off x="3019875" y="2437582"/>
            <a:ext cx="664800" cy="3318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670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"/>
              <a:buFont typeface="Arial"/>
              <a:buNone/>
            </a:pPr>
            <a:r>
              <a:rPr b="1" lang="en" sz="620"/>
              <a:t>&lt;input&gt;</a:t>
            </a:r>
            <a:endParaRPr b="1" sz="62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"/>
              <a:buFont typeface="Arial"/>
              <a:buNone/>
            </a:pPr>
            <a:r>
              <a:rPr b="1" lang="en" sz="620"/>
              <a:t>사용자 </a:t>
            </a:r>
            <a:br>
              <a:rPr b="1" lang="en" sz="620"/>
            </a:br>
            <a:r>
              <a:rPr b="1" lang="en" sz="620"/>
              <a:t>직무 / 키워드</a:t>
            </a:r>
            <a:endParaRPr b="1" sz="620"/>
          </a:p>
        </p:txBody>
      </p:sp>
      <p:sp>
        <p:nvSpPr>
          <p:cNvPr id="711" name="Google Shape;711;p50"/>
          <p:cNvSpPr/>
          <p:nvPr/>
        </p:nvSpPr>
        <p:spPr>
          <a:xfrm>
            <a:off x="5147230" y="2373261"/>
            <a:ext cx="564000" cy="4254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670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975" lIns="42975" spcFirstLastPara="1" rIns="42975" wrap="square" tIns="429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9"/>
              <a:buFont typeface="Arial"/>
              <a:buNone/>
            </a:pPr>
            <a:r>
              <a:rPr lang="en" sz="526">
                <a:solidFill>
                  <a:srgbClr val="FFFFFF"/>
                </a:solidFill>
              </a:rPr>
              <a:t>&lt;가이드 제공&gt;</a:t>
            </a:r>
            <a:endParaRPr sz="526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9"/>
              <a:buFont typeface="Arial"/>
              <a:buNone/>
            </a:pPr>
            <a:r>
              <a:rPr lang="en" sz="460">
                <a:solidFill>
                  <a:srgbClr val="FFFFFF"/>
                </a:solidFill>
              </a:rPr>
              <a:t>답변예시</a:t>
            </a:r>
            <a:endParaRPr sz="46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9"/>
              <a:buFont typeface="Arial"/>
              <a:buNone/>
            </a:pPr>
            <a:r>
              <a:rPr lang="en" sz="460">
                <a:solidFill>
                  <a:srgbClr val="FFFFFF"/>
                </a:solidFill>
              </a:rPr>
              <a:t>평가포인트 등</a:t>
            </a:r>
            <a:endParaRPr sz="46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9"/>
              <a:buFont typeface="Arial"/>
              <a:buNone/>
            </a:pPr>
            <a:r>
              <a:rPr lang="en" sz="460">
                <a:solidFill>
                  <a:srgbClr val="FFFFFF"/>
                </a:solidFill>
              </a:rPr>
              <a:t>先 정보 제공</a:t>
            </a:r>
            <a:endParaRPr sz="460">
              <a:solidFill>
                <a:srgbClr val="FFFFFF"/>
              </a:solidFill>
            </a:endParaRPr>
          </a:p>
        </p:txBody>
      </p:sp>
      <p:sp>
        <p:nvSpPr>
          <p:cNvPr id="712" name="Google Shape;712;p50"/>
          <p:cNvSpPr/>
          <p:nvPr/>
        </p:nvSpPr>
        <p:spPr>
          <a:xfrm>
            <a:off x="5743976" y="2534589"/>
            <a:ext cx="138900" cy="10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0566D"/>
          </a:solidFill>
          <a:ln cap="flat" cmpd="sng" w="765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t/>
            </a:r>
            <a:endParaRPr b="0" i="0" sz="1121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3" name="Google Shape;713;p50"/>
          <p:cNvSpPr/>
          <p:nvPr/>
        </p:nvSpPr>
        <p:spPr>
          <a:xfrm>
            <a:off x="3770446" y="2544465"/>
            <a:ext cx="138900" cy="10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0566D"/>
          </a:solidFill>
          <a:ln cap="flat" cmpd="sng" w="765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t/>
            </a:r>
            <a:endParaRPr b="0" i="0" sz="1121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4" name="Google Shape;714;p50"/>
          <p:cNvSpPr/>
          <p:nvPr/>
        </p:nvSpPr>
        <p:spPr>
          <a:xfrm>
            <a:off x="6803762" y="2959746"/>
            <a:ext cx="845100" cy="406200"/>
          </a:xfrm>
          <a:prstGeom prst="roundRect">
            <a:avLst>
              <a:gd fmla="val 16667" name="adj"/>
            </a:avLst>
          </a:prstGeom>
          <a:solidFill>
            <a:srgbClr val="6FA8DC"/>
          </a:solidFill>
          <a:ln cap="flat" cmpd="sng" w="765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375" lIns="64375" spcFirstLastPara="1" rIns="64375" wrap="square" tIns="64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1"/>
              <a:buFont typeface="Arial"/>
              <a:buNone/>
            </a:pPr>
            <a:r>
              <a:rPr b="1" lang="en" sz="699">
                <a:solidFill>
                  <a:srgbClr val="FFFFFF"/>
                </a:solidFill>
              </a:rPr>
              <a:t>LLM 프롬프트</a:t>
            </a:r>
            <a:endParaRPr b="1" sz="699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1"/>
              <a:buFont typeface="Arial"/>
              <a:buNone/>
            </a:pPr>
            <a:r>
              <a:rPr b="1" lang="en" sz="699">
                <a:solidFill>
                  <a:srgbClr val="FFFFFF"/>
                </a:solidFill>
              </a:rPr>
              <a:t>논리성 판단</a:t>
            </a:r>
            <a:endParaRPr b="1" sz="699">
              <a:solidFill>
                <a:srgbClr val="FFFFFF"/>
              </a:solidFill>
            </a:endParaRPr>
          </a:p>
        </p:txBody>
      </p:sp>
      <p:sp>
        <p:nvSpPr>
          <p:cNvPr id="715" name="Google Shape;715;p50"/>
          <p:cNvSpPr/>
          <p:nvPr/>
        </p:nvSpPr>
        <p:spPr>
          <a:xfrm>
            <a:off x="7770737" y="3135486"/>
            <a:ext cx="138900" cy="10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0566D"/>
          </a:solidFill>
          <a:ln cap="flat" cmpd="sng" w="765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t/>
            </a:r>
            <a:endParaRPr b="0" i="0" sz="1121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6" name="Google Shape;716;p50"/>
          <p:cNvSpPr/>
          <p:nvPr/>
        </p:nvSpPr>
        <p:spPr>
          <a:xfrm>
            <a:off x="8048683" y="3020851"/>
            <a:ext cx="845100" cy="3318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 cap="flat" cmpd="sng" w="765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375" lIns="64375" spcFirstLastPara="1" rIns="64375" wrap="square" tIns="64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1"/>
              <a:buFont typeface="Arial"/>
              <a:buNone/>
            </a:pPr>
            <a:r>
              <a:rPr lang="en" sz="699">
                <a:solidFill>
                  <a:srgbClr val="FFFFFF"/>
                </a:solidFill>
              </a:rPr>
              <a:t>논리성 Score</a:t>
            </a:r>
            <a:endParaRPr sz="699">
              <a:solidFill>
                <a:srgbClr val="FFFFFF"/>
              </a:solidFill>
            </a:endParaRPr>
          </a:p>
        </p:txBody>
      </p:sp>
      <p:cxnSp>
        <p:nvCxnSpPr>
          <p:cNvPr id="717" name="Google Shape;717;p50"/>
          <p:cNvCxnSpPr>
            <a:stCxn id="718" idx="3"/>
            <a:endCxn id="709" idx="3"/>
          </p:cNvCxnSpPr>
          <p:nvPr/>
        </p:nvCxnSpPr>
        <p:spPr>
          <a:xfrm>
            <a:off x="7646966" y="2198252"/>
            <a:ext cx="1800" cy="487200"/>
          </a:xfrm>
          <a:prstGeom prst="curvedConnector3">
            <a:avLst>
              <a:gd fmla="val 8918519" name="adj1"/>
            </a:avLst>
          </a:prstGeom>
          <a:noFill/>
          <a:ln cap="flat" cmpd="sng" w="510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9" name="Google Shape;719;p50"/>
          <p:cNvSpPr/>
          <p:nvPr/>
        </p:nvSpPr>
        <p:spPr>
          <a:xfrm>
            <a:off x="6573292" y="2540306"/>
            <a:ext cx="138900" cy="10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0566D"/>
          </a:solidFill>
          <a:ln cap="flat" cmpd="sng" w="765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t/>
            </a:r>
            <a:endParaRPr b="0" i="0" sz="1121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0" name="Google Shape;720;p50"/>
          <p:cNvSpPr/>
          <p:nvPr/>
        </p:nvSpPr>
        <p:spPr>
          <a:xfrm>
            <a:off x="2934100" y="1767925"/>
            <a:ext cx="6226500" cy="1834800"/>
          </a:xfrm>
          <a:prstGeom prst="rect">
            <a:avLst/>
          </a:prstGeom>
          <a:solidFill>
            <a:srgbClr val="807871">
              <a:alpha val="4528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718" name="Google Shape;718;p50"/>
          <p:cNvSpPr/>
          <p:nvPr/>
        </p:nvSpPr>
        <p:spPr>
          <a:xfrm>
            <a:off x="6801866" y="1985552"/>
            <a:ext cx="845100" cy="425400"/>
          </a:xfrm>
          <a:prstGeom prst="roundRect">
            <a:avLst>
              <a:gd fmla="val 16667" name="adj"/>
            </a:avLst>
          </a:prstGeom>
          <a:solidFill>
            <a:srgbClr val="6FA8DC"/>
          </a:solidFill>
          <a:ln cap="flat" cmpd="sng" w="76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375" lIns="64375" spcFirstLastPara="1" rIns="64375" wrap="square" tIns="64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1"/>
              <a:buFont typeface="Arial"/>
              <a:buNone/>
            </a:pPr>
            <a:r>
              <a:rPr b="1" lang="en" sz="6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TEXT Whisper 주저어 판별</a:t>
            </a:r>
            <a:endParaRPr b="1" sz="64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1" name="Google Shape;721;p50"/>
          <p:cNvSpPr/>
          <p:nvPr/>
        </p:nvSpPr>
        <p:spPr>
          <a:xfrm>
            <a:off x="5981734" y="2395437"/>
            <a:ext cx="477900" cy="4254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6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375" lIns="64375" spcFirstLastPara="1" rIns="64375" wrap="square" tIns="64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9"/>
              <a:buFont typeface="Arial"/>
              <a:buNone/>
            </a:pPr>
            <a:r>
              <a:rPr lang="en" sz="597">
                <a:solidFill>
                  <a:srgbClr val="FFFFFF"/>
                </a:solidFill>
              </a:rPr>
              <a:t>사용자</a:t>
            </a:r>
            <a:endParaRPr sz="597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9"/>
              <a:buFont typeface="Arial"/>
              <a:buNone/>
            </a:pPr>
            <a:r>
              <a:rPr lang="en" sz="597">
                <a:solidFill>
                  <a:srgbClr val="FFFFFF"/>
                </a:solidFill>
              </a:rPr>
              <a:t>음성입력 </a:t>
            </a:r>
            <a:endParaRPr sz="597">
              <a:solidFill>
                <a:srgbClr val="FFFFFF"/>
              </a:solidFill>
            </a:endParaRPr>
          </a:p>
        </p:txBody>
      </p:sp>
      <p:sp>
        <p:nvSpPr>
          <p:cNvPr id="722" name="Google Shape;722;p50"/>
          <p:cNvSpPr/>
          <p:nvPr/>
        </p:nvSpPr>
        <p:spPr>
          <a:xfrm>
            <a:off x="8048683" y="2271655"/>
            <a:ext cx="845100" cy="3318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 cap="flat" cmpd="sng" w="76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375" lIns="64375" spcFirstLastPara="1" rIns="64375" wrap="square" tIns="64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1"/>
              <a:buFont typeface="Arial"/>
              <a:buNone/>
            </a:pPr>
            <a:r>
              <a:rPr lang="en" sz="699">
                <a:solidFill>
                  <a:srgbClr val="FFFFFF"/>
                </a:solidFill>
              </a:rPr>
              <a:t>유창성 Score</a:t>
            </a:r>
            <a:endParaRPr sz="699">
              <a:solidFill>
                <a:srgbClr val="FFFFFF"/>
              </a:solidFill>
            </a:endParaRPr>
          </a:p>
        </p:txBody>
      </p:sp>
      <p:sp>
        <p:nvSpPr>
          <p:cNvPr id="723" name="Google Shape;723;p50"/>
          <p:cNvSpPr/>
          <p:nvPr/>
        </p:nvSpPr>
        <p:spPr>
          <a:xfrm>
            <a:off x="7856217" y="2386290"/>
            <a:ext cx="138900" cy="10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0566D"/>
          </a:solidFill>
          <a:ln cap="flat" cmpd="sng" w="765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t/>
            </a:r>
            <a:endParaRPr b="0" i="0" sz="1121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4" name="Google Shape;724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725" name="Google Shape;725;p50"/>
          <p:cNvGrpSpPr/>
          <p:nvPr/>
        </p:nvGrpSpPr>
        <p:grpSpPr>
          <a:xfrm>
            <a:off x="8068236" y="2"/>
            <a:ext cx="1075752" cy="150822"/>
            <a:chOff x="921102" y="6027409"/>
            <a:chExt cx="2680001" cy="375740"/>
          </a:xfrm>
        </p:grpSpPr>
        <p:pic>
          <p:nvPicPr>
            <p:cNvPr descr="EMB0000378c3f3d" id="726" name="Google Shape;726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7" name="Google Shape;727;p5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51"/>
          <p:cNvSpPr/>
          <p:nvPr/>
        </p:nvSpPr>
        <p:spPr>
          <a:xfrm>
            <a:off x="679350" y="1335005"/>
            <a:ext cx="3356400" cy="2968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733" name="Google Shape;733;p51"/>
          <p:cNvSpPr txBox="1"/>
          <p:nvPr>
            <p:ph type="title"/>
          </p:nvPr>
        </p:nvSpPr>
        <p:spPr>
          <a:xfrm>
            <a:off x="679350" y="520075"/>
            <a:ext cx="7371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34" name="Google Shape;734;p51"/>
          <p:cNvGraphicFramePr/>
          <p:nvPr/>
        </p:nvGraphicFramePr>
        <p:xfrm>
          <a:off x="5124438" y="239957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{DB253C93-5D2F-45CE-8AED-97878E9F2889}</a:tableStyleId>
              </a:tblPr>
              <a:tblGrid>
                <a:gridCol w="893625"/>
                <a:gridCol w="2514375"/>
              </a:tblGrid>
              <a:tr h="320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label</a:t>
                      </a:r>
                      <a:endParaRPr sz="1200">
                        <a:solidFill>
                          <a:schemeClr val="dk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내용</a:t>
                      </a:r>
                      <a:endParaRPr sz="1200">
                        <a:solidFill>
                          <a:schemeClr val="dk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249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O</a:t>
                      </a:r>
                      <a:endParaRPr sz="6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정상단어</a:t>
                      </a:r>
                      <a:endParaRPr sz="9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9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FIL(/)</a:t>
                      </a:r>
                      <a:endParaRPr/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주저어</a:t>
                      </a:r>
                      <a:endParaRPr sz="9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735" name="Google Shape;735;p51"/>
          <p:cNvSpPr txBox="1"/>
          <p:nvPr>
            <p:ph idx="4294967295" type="subTitle"/>
          </p:nvPr>
        </p:nvSpPr>
        <p:spPr>
          <a:xfrm>
            <a:off x="5001525" y="1904262"/>
            <a:ext cx="3847500" cy="4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주저어</a:t>
            </a:r>
            <a:r>
              <a:rPr b="1" lang="en"/>
              <a:t>: </a:t>
            </a: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["음", "어", "아", "그러니까", "그게", "저", "뭐랄까", "에"]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736" name="Google Shape;736;p51"/>
          <p:cNvSpPr txBox="1"/>
          <p:nvPr/>
        </p:nvSpPr>
        <p:spPr>
          <a:xfrm>
            <a:off x="0" y="4878300"/>
            <a:ext cx="79908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논문</a:t>
            </a:r>
            <a:r>
              <a:rPr lang="en" sz="6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 : 구어 전사 말뭉치의 언어학적 주석과 활용, 21세기 세종계획</a:t>
            </a:r>
            <a:endParaRPr sz="6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737" name="Google Shape;737;p51"/>
          <p:cNvSpPr txBox="1"/>
          <p:nvPr>
            <p:ph idx="4294967295" type="subTitle"/>
          </p:nvPr>
        </p:nvSpPr>
        <p:spPr>
          <a:xfrm>
            <a:off x="838350" y="1466254"/>
            <a:ext cx="3038400" cy="26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Space Grotesk"/>
                <a:ea typeface="Space Grotesk"/>
                <a:cs typeface="Space Grotesk"/>
                <a:sym typeface="Space Grotesk"/>
              </a:rPr>
              <a:t>Ai Hub 한국어음성 데이터</a:t>
            </a:r>
            <a:endParaRPr sz="1800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총 음성 길이(Train+Dev): 약 969시간 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총 발화 수(Train+Dev): 622,545 발화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단어를 특수한 형태들로 구분해놓은  /, +. * 기호를 사용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latin typeface="Space Grotesk"/>
                <a:ea typeface="Space Grotesk"/>
                <a:cs typeface="Space Grotesk"/>
                <a:sym typeface="Space Grotesk"/>
              </a:rPr>
              <a:t>한국어 특화된 주저어</a:t>
            </a:r>
            <a:endParaRPr sz="1800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“어”의 이중의미 (“어.” / “어제”, “어떤”, “어디서”)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맥락에 따라 주저어 단독 발화, 정상단어로 해석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738" name="Google Shape;738;p51"/>
          <p:cNvSpPr/>
          <p:nvPr/>
        </p:nvSpPr>
        <p:spPr>
          <a:xfrm>
            <a:off x="4294371" y="2644500"/>
            <a:ext cx="621900" cy="349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739" name="Google Shape;739;p51"/>
          <p:cNvSpPr txBox="1"/>
          <p:nvPr>
            <p:ph type="title"/>
          </p:nvPr>
        </p:nvSpPr>
        <p:spPr>
          <a:xfrm>
            <a:off x="151300" y="163350"/>
            <a:ext cx="1949700" cy="391800"/>
          </a:xfrm>
          <a:prstGeom prst="rect">
            <a:avLst/>
          </a:prstGeom>
          <a:solidFill>
            <a:srgbClr val="CFE2F3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주저어 사용 판별 모델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740" name="Google Shape;740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1" name="Google Shape;741;p51"/>
          <p:cNvSpPr txBox="1"/>
          <p:nvPr/>
        </p:nvSpPr>
        <p:spPr>
          <a:xfrm>
            <a:off x="2216250" y="170275"/>
            <a:ext cx="57744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주저어 : </a:t>
            </a:r>
            <a:r>
              <a:rPr lang="en" sz="10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말을 생각하는 시간을 벌기 위해 발화자가 의도적으로 넣는 말</a:t>
            </a:r>
            <a:endParaRPr sz="10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grpSp>
        <p:nvGrpSpPr>
          <p:cNvPr id="742" name="Google Shape;742;p51"/>
          <p:cNvGrpSpPr/>
          <p:nvPr/>
        </p:nvGrpSpPr>
        <p:grpSpPr>
          <a:xfrm>
            <a:off x="8068236" y="2"/>
            <a:ext cx="1075752" cy="150822"/>
            <a:chOff x="921102" y="6027409"/>
            <a:chExt cx="2680001" cy="375740"/>
          </a:xfrm>
        </p:grpSpPr>
        <p:pic>
          <p:nvPicPr>
            <p:cNvPr descr="EMB0000378c3f3d" id="743" name="Google Shape;743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4" name="Google Shape;744;p5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52"/>
          <p:cNvSpPr txBox="1"/>
          <p:nvPr>
            <p:ph type="title"/>
          </p:nvPr>
        </p:nvSpPr>
        <p:spPr>
          <a:xfrm>
            <a:off x="720000" y="758638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Structure</a:t>
            </a:r>
            <a:endParaRPr/>
          </a:p>
        </p:txBody>
      </p:sp>
      <p:sp>
        <p:nvSpPr>
          <p:cNvPr id="750" name="Google Shape;750;p52"/>
          <p:cNvSpPr txBox="1"/>
          <p:nvPr>
            <p:ph idx="4294967295" type="subTitle"/>
          </p:nvPr>
        </p:nvSpPr>
        <p:spPr>
          <a:xfrm>
            <a:off x="645045" y="1654086"/>
            <a:ext cx="22995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Open AI - Whisper</a:t>
            </a:r>
            <a:endParaRPr b="1" sz="1300"/>
          </a:p>
        </p:txBody>
      </p:sp>
      <p:sp>
        <p:nvSpPr>
          <p:cNvPr id="751" name="Google Shape;751;p52"/>
          <p:cNvSpPr txBox="1"/>
          <p:nvPr>
            <p:ph idx="1" type="subTitle"/>
          </p:nvPr>
        </p:nvSpPr>
        <p:spPr>
          <a:xfrm>
            <a:off x="645050" y="2098300"/>
            <a:ext cx="4601100" cy="14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기존 텍스트 기반 모델 성능 한계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BERT/roberta-large(KLUE)로 </a:t>
            </a:r>
            <a:r>
              <a:rPr lang="en" sz="1000"/>
              <a:t>진행 했을때</a:t>
            </a:r>
            <a:r>
              <a:rPr lang="en" sz="1000"/>
              <a:t>,  텍스트만으로는 주저어 판별 어려움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Whisper 가중치 제공 + 재학습 가능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공식 checkpoint 공개하여 재학습·추론 가능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Whisper Encoder–Decoder 구조로 활용  용이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Wav2Vec2는 디코더가 없어 커스텀 헤드 추가가 복잡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752" name="Google Shape;752;p52"/>
          <p:cNvSpPr txBox="1"/>
          <p:nvPr>
            <p:ph idx="1" type="subTitle"/>
          </p:nvPr>
        </p:nvSpPr>
        <p:spPr>
          <a:xfrm>
            <a:off x="5324713" y="2340300"/>
            <a:ext cx="3023100" cy="85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입력: 음성 데이터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CNN이 포함된 encoder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Transformer기반 decoder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출력: word </a:t>
            </a:r>
            <a:endParaRPr sz="1000"/>
          </a:p>
        </p:txBody>
      </p:sp>
      <p:sp>
        <p:nvSpPr>
          <p:cNvPr id="753" name="Google Shape;753;p52"/>
          <p:cNvSpPr txBox="1"/>
          <p:nvPr>
            <p:ph idx="4294967295" type="subTitle"/>
          </p:nvPr>
        </p:nvSpPr>
        <p:spPr>
          <a:xfrm>
            <a:off x="5246145" y="1948499"/>
            <a:ext cx="22995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모델 아키텍처</a:t>
            </a:r>
            <a:endParaRPr b="1" sz="1300"/>
          </a:p>
        </p:txBody>
      </p:sp>
      <p:sp>
        <p:nvSpPr>
          <p:cNvPr id="754" name="Google Shape;754;p52"/>
          <p:cNvSpPr txBox="1"/>
          <p:nvPr>
            <p:ph idx="1" type="subTitle"/>
          </p:nvPr>
        </p:nvSpPr>
        <p:spPr>
          <a:xfrm>
            <a:off x="633675" y="4201980"/>
            <a:ext cx="77469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Whisper decoder를 통과한 이후 MLP 헤드를 추가하여 Whisper를 통과한 음성 정보를 같이 학습한 이진 분류기 </a:t>
            </a:r>
            <a:r>
              <a:rPr lang="en" sz="1000"/>
              <a:t>추가</a:t>
            </a:r>
            <a:endParaRPr sz="1000"/>
          </a:p>
        </p:txBody>
      </p:sp>
      <p:sp>
        <p:nvSpPr>
          <p:cNvPr id="755" name="Google Shape;755;p52"/>
          <p:cNvSpPr txBox="1"/>
          <p:nvPr>
            <p:ph idx="4294967295" type="subTitle"/>
          </p:nvPr>
        </p:nvSpPr>
        <p:spPr>
          <a:xfrm>
            <a:off x="633676" y="3848000"/>
            <a:ext cx="26838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highlight>
                  <a:srgbClr val="FFFF00"/>
                </a:highlight>
              </a:rPr>
              <a:t>주저어 </a:t>
            </a:r>
            <a:r>
              <a:rPr b="1" lang="en" sz="1300">
                <a:highlight>
                  <a:srgbClr val="FFFF00"/>
                </a:highlight>
              </a:rPr>
              <a:t>이진 분류용 MLP 헤드 추가 </a:t>
            </a:r>
            <a:endParaRPr b="1" sz="1300"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</p:txBody>
      </p:sp>
      <p:cxnSp>
        <p:nvCxnSpPr>
          <p:cNvPr id="756" name="Google Shape;756;p52"/>
          <p:cNvCxnSpPr/>
          <p:nvPr/>
        </p:nvCxnSpPr>
        <p:spPr>
          <a:xfrm flipH="1" rot="10800000">
            <a:off x="550275" y="1563875"/>
            <a:ext cx="7913700" cy="37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7" name="Google Shape;757;p52"/>
          <p:cNvCxnSpPr/>
          <p:nvPr/>
        </p:nvCxnSpPr>
        <p:spPr>
          <a:xfrm>
            <a:off x="569200" y="1592225"/>
            <a:ext cx="9600" cy="2042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8" name="Google Shape;758;p52"/>
          <p:cNvCxnSpPr/>
          <p:nvPr/>
        </p:nvCxnSpPr>
        <p:spPr>
          <a:xfrm flipH="1" rot="10800000">
            <a:off x="561650" y="3573700"/>
            <a:ext cx="7913700" cy="37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9" name="Google Shape;759;p52"/>
          <p:cNvCxnSpPr/>
          <p:nvPr/>
        </p:nvCxnSpPr>
        <p:spPr>
          <a:xfrm>
            <a:off x="8463975" y="1550550"/>
            <a:ext cx="9600" cy="2042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0" name="Google Shape;760;p52"/>
          <p:cNvSpPr txBox="1"/>
          <p:nvPr>
            <p:ph type="title"/>
          </p:nvPr>
        </p:nvSpPr>
        <p:spPr>
          <a:xfrm>
            <a:off x="151300" y="163350"/>
            <a:ext cx="1949700" cy="391800"/>
          </a:xfrm>
          <a:prstGeom prst="rect">
            <a:avLst/>
          </a:prstGeom>
          <a:solidFill>
            <a:srgbClr val="CFE2F3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주저어 사용 판별 모델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761" name="Google Shape;761;p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2" name="Google Shape;762;p52"/>
          <p:cNvSpPr txBox="1"/>
          <p:nvPr/>
        </p:nvSpPr>
        <p:spPr>
          <a:xfrm>
            <a:off x="0" y="4878300"/>
            <a:ext cx="79908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논문 : </a:t>
            </a:r>
            <a:r>
              <a:rPr lang="en" sz="6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Robust Speech Recognition via Large-Scale Weak Supervision</a:t>
            </a:r>
            <a:endParaRPr sz="6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grpSp>
        <p:nvGrpSpPr>
          <p:cNvPr id="763" name="Google Shape;763;p52"/>
          <p:cNvGrpSpPr/>
          <p:nvPr/>
        </p:nvGrpSpPr>
        <p:grpSpPr>
          <a:xfrm>
            <a:off x="8068236" y="2"/>
            <a:ext cx="1075752" cy="150822"/>
            <a:chOff x="921102" y="6027409"/>
            <a:chExt cx="2680001" cy="375740"/>
          </a:xfrm>
        </p:grpSpPr>
        <p:pic>
          <p:nvPicPr>
            <p:cNvPr descr="EMB0000378c3f3d" id="764" name="Google Shape;764;p5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5" name="Google Shape;765;p5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53"/>
          <p:cNvSpPr/>
          <p:nvPr/>
        </p:nvSpPr>
        <p:spPr>
          <a:xfrm>
            <a:off x="1254300" y="1607025"/>
            <a:ext cx="6635400" cy="2830500"/>
          </a:xfrm>
          <a:prstGeom prst="roundRect">
            <a:avLst>
              <a:gd fmla="val 16667" name="adj"/>
            </a:avLst>
          </a:prstGeom>
          <a:solidFill>
            <a:srgbClr val="E2E4F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53"/>
          <p:cNvSpPr txBox="1"/>
          <p:nvPr>
            <p:ph type="title"/>
          </p:nvPr>
        </p:nvSpPr>
        <p:spPr>
          <a:xfrm>
            <a:off x="720000" y="758638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Train</a:t>
            </a:r>
            <a:endParaRPr/>
          </a:p>
        </p:txBody>
      </p:sp>
      <p:sp>
        <p:nvSpPr>
          <p:cNvPr id="772" name="Google Shape;772;p53"/>
          <p:cNvSpPr txBox="1"/>
          <p:nvPr>
            <p:ph idx="1" type="subTitle"/>
          </p:nvPr>
        </p:nvSpPr>
        <p:spPr>
          <a:xfrm>
            <a:off x="1466300" y="1866750"/>
            <a:ext cx="5682900" cy="24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클래스간 데이터의 불균형 존재</a:t>
            </a:r>
            <a:endParaRPr b="1"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0</a:t>
            </a:r>
            <a:r>
              <a:rPr lang="en" sz="1000"/>
              <a:t>: 정상발화 &gt; 1: 주저어</a:t>
            </a:r>
            <a:endParaRPr b="1"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두 클래스의 비율을 계산해서 filler class weight 설정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컴퓨팅 파워 및 시간의 한계</a:t>
            </a:r>
            <a:endParaRPr b="1"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약 15만개 데이터 사용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Whisper </a:t>
            </a:r>
            <a:r>
              <a:rPr lang="en" sz="1000"/>
              <a:t>Small 모델 사용 (</a:t>
            </a:r>
            <a:r>
              <a:rPr lang="en" sz="1000"/>
              <a:t>large: OOM)</a:t>
            </a:r>
            <a:endParaRPr sz="1000"/>
          </a:p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목적에 따른 가중치 부여</a:t>
            </a:r>
            <a:endParaRPr b="1"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더 정확한 이진분류를 위해 MLP의 </a:t>
            </a:r>
            <a:r>
              <a:rPr lang="en" sz="1000"/>
              <a:t>오차에 더 많은</a:t>
            </a:r>
            <a:r>
              <a:rPr lang="en" sz="1000"/>
              <a:t> 가중치 부여</a:t>
            </a:r>
            <a:endParaRPr sz="1000"/>
          </a:p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FineTuning _</a:t>
            </a:r>
            <a:r>
              <a:rPr lang="en" sz="1000"/>
              <a:t>이미 잘 학습된 모델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Encoder freeze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Learning rate: 3e-6으로 아주 작게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Epoch:  3epoch</a:t>
            </a:r>
            <a:endParaRPr sz="1000"/>
          </a:p>
        </p:txBody>
      </p:sp>
      <p:sp>
        <p:nvSpPr>
          <p:cNvPr id="773" name="Google Shape;773;p53"/>
          <p:cNvSpPr txBox="1"/>
          <p:nvPr>
            <p:ph idx="4294967295" type="subTitle"/>
          </p:nvPr>
        </p:nvSpPr>
        <p:spPr>
          <a:xfrm>
            <a:off x="3422238" y="1442842"/>
            <a:ext cx="22995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highlight>
                  <a:srgbClr val="B4A7D6"/>
                </a:highlight>
              </a:rPr>
              <a:t>설정 및 하이퍼파라미터</a:t>
            </a:r>
            <a:endParaRPr b="1" sz="1300">
              <a:highlight>
                <a:srgbClr val="B4A7D6"/>
              </a:highlight>
            </a:endParaRPr>
          </a:p>
        </p:txBody>
      </p:sp>
      <p:sp>
        <p:nvSpPr>
          <p:cNvPr id="774" name="Google Shape;774;p53"/>
          <p:cNvSpPr txBox="1"/>
          <p:nvPr>
            <p:ph type="title"/>
          </p:nvPr>
        </p:nvSpPr>
        <p:spPr>
          <a:xfrm>
            <a:off x="151300" y="163350"/>
            <a:ext cx="1949700" cy="391800"/>
          </a:xfrm>
          <a:prstGeom prst="rect">
            <a:avLst/>
          </a:prstGeom>
          <a:solidFill>
            <a:srgbClr val="CFE2F3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주저어 사용 판별 모델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775" name="Google Shape;775;p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776" name="Google Shape;776;p53"/>
          <p:cNvGrpSpPr/>
          <p:nvPr/>
        </p:nvGrpSpPr>
        <p:grpSpPr>
          <a:xfrm>
            <a:off x="8068236" y="2"/>
            <a:ext cx="1075752" cy="150822"/>
            <a:chOff x="921102" y="6027409"/>
            <a:chExt cx="2680001" cy="375740"/>
          </a:xfrm>
        </p:grpSpPr>
        <p:pic>
          <p:nvPicPr>
            <p:cNvPr descr="EMB0000378c3f3d" id="777" name="Google Shape;777;p5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8" name="Google Shape;778;p5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54"/>
          <p:cNvSpPr/>
          <p:nvPr/>
        </p:nvSpPr>
        <p:spPr>
          <a:xfrm>
            <a:off x="414575" y="1853945"/>
            <a:ext cx="3852000" cy="2016300"/>
          </a:xfrm>
          <a:prstGeom prst="roundRect">
            <a:avLst>
              <a:gd fmla="val 16667" name="adj"/>
            </a:avLst>
          </a:prstGeom>
          <a:solidFill>
            <a:srgbClr val="E2E4FC"/>
          </a:solidFill>
          <a:ln cap="flat" cmpd="sng" w="8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600" lIns="79600" spcFirstLastPara="1" rIns="79600" wrap="square" tIns="79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54"/>
          <p:cNvSpPr txBox="1"/>
          <p:nvPr>
            <p:ph type="title"/>
          </p:nvPr>
        </p:nvSpPr>
        <p:spPr>
          <a:xfrm>
            <a:off x="720000" y="769850"/>
            <a:ext cx="3852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Evaluation</a:t>
            </a:r>
            <a:endParaRPr sz="2100">
              <a:solidFill>
                <a:srgbClr val="E8EAED"/>
              </a:solidFill>
              <a:highlight>
                <a:srgbClr val="303134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54"/>
          <p:cNvSpPr txBox="1"/>
          <p:nvPr>
            <p:ph idx="1" type="subTitle"/>
          </p:nvPr>
        </p:nvSpPr>
        <p:spPr>
          <a:xfrm>
            <a:off x="398975" y="1969096"/>
            <a:ext cx="3852000" cy="1901100"/>
          </a:xfrm>
          <a:prstGeom prst="rect">
            <a:avLst/>
          </a:prstGeom>
        </p:spPr>
        <p:txBody>
          <a:bodyPr anchorCtr="0" anchor="t" bIns="79600" lIns="79600" spcFirstLastPara="1" rIns="79600" wrap="square" tIns="79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70"/>
              <a:t>메인 평가지표: Recall</a:t>
            </a:r>
            <a:endParaRPr b="1" sz="87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70"/>
              <a:t>개선을 위해 실제 주저어를 정확하게 판별하는 것이 중요</a:t>
            </a:r>
            <a:endParaRPr sz="87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7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70"/>
              <a:t>목표 수치 설정 </a:t>
            </a:r>
            <a:r>
              <a:rPr b="1" lang="en" sz="870"/>
              <a:t> : 최소치 0.75 / 실제 배포시 : 0.9</a:t>
            </a:r>
            <a:endParaRPr b="1" sz="87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70"/>
              <a:t>현재 공개된 대규모 주저어 검출 연구의 성능 분포 최저 0.75수준</a:t>
            </a:r>
            <a:endParaRPr sz="87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7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70"/>
              <a:t>Class weight 설정</a:t>
            </a:r>
            <a:endParaRPr b="1" sz="87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70"/>
              <a:t>비율을 그대로 사용 했을 때 너무 과한 가중치가 반영되는 것으로 생각됨</a:t>
            </a:r>
            <a:endParaRPr sz="87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70"/>
              <a:t>정상발화 =  1.0,  주저어 = 20.0으로 한번 더 진행</a:t>
            </a:r>
            <a:endParaRPr sz="870"/>
          </a:p>
          <a:p>
            <a:pPr indent="398005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7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70"/>
              <a:t>최종 모델 선택</a:t>
            </a:r>
            <a:endParaRPr b="1" sz="87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70"/>
              <a:t>threshold 0.5 기준인 Precision 0.412 recall 0.873으로 선택</a:t>
            </a:r>
            <a:endParaRPr sz="87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7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70"/>
          </a:p>
        </p:txBody>
      </p:sp>
      <p:sp>
        <p:nvSpPr>
          <p:cNvPr id="786" name="Google Shape;786;p54"/>
          <p:cNvSpPr txBox="1"/>
          <p:nvPr>
            <p:ph idx="4294967295" type="subTitle"/>
          </p:nvPr>
        </p:nvSpPr>
        <p:spPr>
          <a:xfrm>
            <a:off x="1339614" y="1658522"/>
            <a:ext cx="2001900" cy="341100"/>
          </a:xfrm>
          <a:prstGeom prst="rect">
            <a:avLst/>
          </a:prstGeom>
        </p:spPr>
        <p:txBody>
          <a:bodyPr anchorCtr="0" anchor="t" bIns="79600" lIns="79600" spcFirstLastPara="1" rIns="79600" wrap="square" tIns="79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31">
                <a:highlight>
                  <a:srgbClr val="B4A7D6"/>
                </a:highlight>
              </a:rPr>
              <a:t>평가지표</a:t>
            </a:r>
            <a:endParaRPr b="1" sz="1231">
              <a:highlight>
                <a:srgbClr val="B4A7D6"/>
              </a:highlight>
            </a:endParaRPr>
          </a:p>
        </p:txBody>
      </p:sp>
      <p:pic>
        <p:nvPicPr>
          <p:cNvPr id="787" name="Google Shape;787;p54"/>
          <p:cNvPicPr preferRelativeResize="0"/>
          <p:nvPr/>
        </p:nvPicPr>
        <p:blipFill rotWithShape="1">
          <a:blip r:embed="rId3">
            <a:alphaModFix/>
          </a:blip>
          <a:srcRect b="0" l="1980" r="1893" t="32065"/>
          <a:stretch/>
        </p:blipFill>
        <p:spPr>
          <a:xfrm>
            <a:off x="4551825" y="3276600"/>
            <a:ext cx="2437400" cy="1556275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54"/>
          <p:cNvSpPr txBox="1"/>
          <p:nvPr/>
        </p:nvSpPr>
        <p:spPr>
          <a:xfrm>
            <a:off x="4652654" y="846508"/>
            <a:ext cx="31476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[정상발화(0):  0.50,  주저어(1):  59.2]</a:t>
            </a:r>
            <a:endParaRPr b="1" sz="10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789" name="Google Shape;789;p54"/>
          <p:cNvSpPr txBox="1"/>
          <p:nvPr/>
        </p:nvSpPr>
        <p:spPr>
          <a:xfrm>
            <a:off x="4652650" y="2864368"/>
            <a:ext cx="41049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[정상발화(0):</a:t>
            </a:r>
            <a:r>
              <a:rPr b="1" lang="en" sz="10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  1.0,  </a:t>
            </a:r>
            <a:r>
              <a:rPr b="1" lang="en" sz="10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주저어(1):</a:t>
            </a:r>
            <a:r>
              <a:rPr b="1" lang="en" sz="10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 20.0]</a:t>
            </a:r>
            <a:endParaRPr b="1" sz="10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790" name="Google Shape;790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96618" y="1172492"/>
            <a:ext cx="2485476" cy="1464424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54"/>
          <p:cNvSpPr txBox="1"/>
          <p:nvPr/>
        </p:nvSpPr>
        <p:spPr>
          <a:xfrm>
            <a:off x="7950" y="4852725"/>
            <a:ext cx="46548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논문 : </a:t>
            </a:r>
            <a:r>
              <a:rPr lang="en" sz="6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Filler Word Detection and Classification: A Dataset and Benchmark</a:t>
            </a:r>
            <a:endParaRPr sz="6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           TRANSCRIPTION FREE FILLER WORD DETECTION WITH NEURAL SEMI-CRFS </a:t>
            </a:r>
            <a:endParaRPr sz="6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792" name="Google Shape;792;p54"/>
          <p:cNvSpPr txBox="1"/>
          <p:nvPr>
            <p:ph type="title"/>
          </p:nvPr>
        </p:nvSpPr>
        <p:spPr>
          <a:xfrm>
            <a:off x="151300" y="163350"/>
            <a:ext cx="1949700" cy="391800"/>
          </a:xfrm>
          <a:prstGeom prst="rect">
            <a:avLst/>
          </a:prstGeom>
          <a:solidFill>
            <a:srgbClr val="CFE2F3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주저어 사용 판별 모델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793" name="Google Shape;793;p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94" name="Google Shape;794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82100" y="1521302"/>
            <a:ext cx="2056975" cy="76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5" name="Google Shape;795;p54"/>
          <p:cNvPicPr preferRelativeResize="0"/>
          <p:nvPr/>
        </p:nvPicPr>
        <p:blipFill rotWithShape="1">
          <a:blip r:embed="rId3">
            <a:alphaModFix/>
          </a:blip>
          <a:srcRect b="68870" l="0" r="14792" t="0"/>
          <a:stretch/>
        </p:blipFill>
        <p:spPr>
          <a:xfrm>
            <a:off x="7054804" y="3682933"/>
            <a:ext cx="2117900" cy="713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6" name="Google Shape;796;p54"/>
          <p:cNvGrpSpPr/>
          <p:nvPr/>
        </p:nvGrpSpPr>
        <p:grpSpPr>
          <a:xfrm>
            <a:off x="8068236" y="2"/>
            <a:ext cx="1075752" cy="150822"/>
            <a:chOff x="921102" y="6027409"/>
            <a:chExt cx="2680001" cy="375740"/>
          </a:xfrm>
        </p:grpSpPr>
        <p:pic>
          <p:nvPicPr>
            <p:cNvPr descr="EMB0000378c3f3d" id="797" name="Google Shape;797;p5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8" name="Google Shape;798;p5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55"/>
          <p:cNvSpPr/>
          <p:nvPr/>
        </p:nvSpPr>
        <p:spPr>
          <a:xfrm>
            <a:off x="6801866" y="1985552"/>
            <a:ext cx="845100" cy="425400"/>
          </a:xfrm>
          <a:prstGeom prst="roundRect">
            <a:avLst>
              <a:gd fmla="val 16667" name="adj"/>
            </a:avLst>
          </a:prstGeom>
          <a:solidFill>
            <a:srgbClr val="6FA8DC"/>
          </a:solidFill>
          <a:ln cap="flat" cmpd="sng" w="765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375" lIns="64375" spcFirstLastPara="1" rIns="64375" wrap="square" tIns="64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1"/>
              <a:buFont typeface="Arial"/>
              <a:buNone/>
            </a:pPr>
            <a:r>
              <a:rPr b="1" lang="en" sz="699">
                <a:solidFill>
                  <a:srgbClr val="FFFFFF"/>
                </a:solidFill>
              </a:rPr>
              <a:t>TEXT Whisper 주저어 판별</a:t>
            </a:r>
            <a:endParaRPr b="1" sz="699">
              <a:solidFill>
                <a:srgbClr val="FFFFFF"/>
              </a:solidFill>
            </a:endParaRPr>
          </a:p>
        </p:txBody>
      </p:sp>
      <p:sp>
        <p:nvSpPr>
          <p:cNvPr id="804" name="Google Shape;804;p55"/>
          <p:cNvSpPr txBox="1"/>
          <p:nvPr>
            <p:ph type="title"/>
          </p:nvPr>
        </p:nvSpPr>
        <p:spPr>
          <a:xfrm>
            <a:off x="-73150" y="0"/>
            <a:ext cx="2931600" cy="51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/>
              <a:t>말더듬 사용</a:t>
            </a:r>
            <a:endParaRPr i="1"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/>
              <a:t>판별 모델</a:t>
            </a:r>
            <a:endParaRPr i="1" sz="3000"/>
          </a:p>
        </p:txBody>
      </p:sp>
      <p:grpSp>
        <p:nvGrpSpPr>
          <p:cNvPr id="805" name="Google Shape;805;p55"/>
          <p:cNvGrpSpPr/>
          <p:nvPr/>
        </p:nvGrpSpPr>
        <p:grpSpPr>
          <a:xfrm flipH="1">
            <a:off x="4937389" y="-1739617"/>
            <a:ext cx="4574075" cy="3479350"/>
            <a:chOff x="1522650" y="1117750"/>
            <a:chExt cx="4574075" cy="3479350"/>
          </a:xfrm>
        </p:grpSpPr>
        <p:sp>
          <p:nvSpPr>
            <p:cNvPr id="806" name="Google Shape;806;p55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55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8" name="Google Shape;808;p55"/>
          <p:cNvSpPr/>
          <p:nvPr/>
        </p:nvSpPr>
        <p:spPr>
          <a:xfrm>
            <a:off x="5147230" y="2373261"/>
            <a:ext cx="564000" cy="4254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rgbClr val="9CDC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975" lIns="42975" spcFirstLastPara="1" rIns="42975" wrap="square" tIns="429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9"/>
              <a:buFont typeface="Arial"/>
              <a:buNone/>
            </a:pPr>
            <a:r>
              <a:rPr lang="en" sz="526">
                <a:solidFill>
                  <a:srgbClr val="FFFFFF"/>
                </a:solidFill>
              </a:rPr>
              <a:t>&lt;가이드 제공&gt;</a:t>
            </a:r>
            <a:endParaRPr sz="526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9"/>
              <a:buFont typeface="Arial"/>
              <a:buNone/>
            </a:pPr>
            <a:r>
              <a:rPr lang="en" sz="460">
                <a:solidFill>
                  <a:srgbClr val="FFFFFF"/>
                </a:solidFill>
              </a:rPr>
              <a:t>답변예시</a:t>
            </a:r>
            <a:endParaRPr sz="46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9"/>
              <a:buFont typeface="Arial"/>
              <a:buNone/>
            </a:pPr>
            <a:r>
              <a:rPr lang="en" sz="460">
                <a:solidFill>
                  <a:srgbClr val="FFFFFF"/>
                </a:solidFill>
              </a:rPr>
              <a:t>평가포인트 등</a:t>
            </a:r>
            <a:endParaRPr sz="46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9"/>
              <a:buFont typeface="Arial"/>
              <a:buNone/>
            </a:pPr>
            <a:r>
              <a:rPr lang="en" sz="460">
                <a:solidFill>
                  <a:srgbClr val="FFFFFF"/>
                </a:solidFill>
              </a:rPr>
              <a:t>先 정보 제공</a:t>
            </a:r>
            <a:endParaRPr sz="460">
              <a:solidFill>
                <a:srgbClr val="FFFFFF"/>
              </a:solidFill>
            </a:endParaRPr>
          </a:p>
        </p:txBody>
      </p:sp>
      <p:sp>
        <p:nvSpPr>
          <p:cNvPr id="809" name="Google Shape;809;p55"/>
          <p:cNvSpPr/>
          <p:nvPr/>
        </p:nvSpPr>
        <p:spPr>
          <a:xfrm>
            <a:off x="4047875" y="2437575"/>
            <a:ext cx="732000" cy="3318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670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"/>
              <a:buFont typeface="Arial"/>
              <a:buNone/>
            </a:pPr>
            <a:r>
              <a:rPr b="1" lang="en" sz="620"/>
              <a:t>Sentence 임베딩</a:t>
            </a:r>
            <a:endParaRPr b="1" sz="62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1" lang="en" sz="620"/>
              <a:t>질문리스트 제공</a:t>
            </a:r>
            <a:endParaRPr b="1" sz="620"/>
          </a:p>
        </p:txBody>
      </p:sp>
      <p:sp>
        <p:nvSpPr>
          <p:cNvPr id="810" name="Google Shape;810;p55"/>
          <p:cNvSpPr/>
          <p:nvPr/>
        </p:nvSpPr>
        <p:spPr>
          <a:xfrm>
            <a:off x="4894096" y="2544465"/>
            <a:ext cx="138900" cy="10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0566D"/>
          </a:solidFill>
          <a:ln cap="flat" cmpd="sng" w="765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t/>
            </a:r>
            <a:endParaRPr b="0" i="0" sz="1121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1" name="Google Shape;811;p55"/>
          <p:cNvSpPr/>
          <p:nvPr/>
        </p:nvSpPr>
        <p:spPr>
          <a:xfrm>
            <a:off x="3019875" y="2437582"/>
            <a:ext cx="664800" cy="3318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670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"/>
              <a:buFont typeface="Arial"/>
              <a:buNone/>
            </a:pPr>
            <a:r>
              <a:rPr b="1" lang="en" sz="620"/>
              <a:t>&lt;input&gt;</a:t>
            </a:r>
            <a:endParaRPr b="1" sz="62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"/>
              <a:buFont typeface="Arial"/>
              <a:buNone/>
            </a:pPr>
            <a:r>
              <a:rPr b="1" lang="en" sz="620"/>
              <a:t>사용자 </a:t>
            </a:r>
            <a:br>
              <a:rPr b="1" lang="en" sz="620"/>
            </a:br>
            <a:r>
              <a:rPr b="1" lang="en" sz="620"/>
              <a:t>직무 / 키워드</a:t>
            </a:r>
            <a:endParaRPr b="1" sz="620"/>
          </a:p>
        </p:txBody>
      </p:sp>
      <p:sp>
        <p:nvSpPr>
          <p:cNvPr id="812" name="Google Shape;812;p55"/>
          <p:cNvSpPr/>
          <p:nvPr/>
        </p:nvSpPr>
        <p:spPr>
          <a:xfrm>
            <a:off x="5147230" y="2373261"/>
            <a:ext cx="564000" cy="4254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670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975" lIns="42975" spcFirstLastPara="1" rIns="42975" wrap="square" tIns="429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9"/>
              <a:buFont typeface="Arial"/>
              <a:buNone/>
            </a:pPr>
            <a:r>
              <a:rPr lang="en" sz="526">
                <a:solidFill>
                  <a:srgbClr val="FFFFFF"/>
                </a:solidFill>
              </a:rPr>
              <a:t>&lt;가이드 제공&gt;</a:t>
            </a:r>
            <a:endParaRPr sz="526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9"/>
              <a:buFont typeface="Arial"/>
              <a:buNone/>
            </a:pPr>
            <a:r>
              <a:rPr lang="en" sz="460">
                <a:solidFill>
                  <a:srgbClr val="FFFFFF"/>
                </a:solidFill>
              </a:rPr>
              <a:t>답변예시</a:t>
            </a:r>
            <a:endParaRPr sz="46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9"/>
              <a:buFont typeface="Arial"/>
              <a:buNone/>
            </a:pPr>
            <a:r>
              <a:rPr lang="en" sz="460">
                <a:solidFill>
                  <a:srgbClr val="FFFFFF"/>
                </a:solidFill>
              </a:rPr>
              <a:t>평가포인트 등</a:t>
            </a:r>
            <a:endParaRPr sz="46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9"/>
              <a:buFont typeface="Arial"/>
              <a:buNone/>
            </a:pPr>
            <a:r>
              <a:rPr lang="en" sz="460">
                <a:solidFill>
                  <a:srgbClr val="FFFFFF"/>
                </a:solidFill>
              </a:rPr>
              <a:t>先 정보 제공</a:t>
            </a:r>
            <a:endParaRPr sz="460">
              <a:solidFill>
                <a:srgbClr val="FFFFFF"/>
              </a:solidFill>
            </a:endParaRPr>
          </a:p>
        </p:txBody>
      </p:sp>
      <p:sp>
        <p:nvSpPr>
          <p:cNvPr id="813" name="Google Shape;813;p55"/>
          <p:cNvSpPr/>
          <p:nvPr/>
        </p:nvSpPr>
        <p:spPr>
          <a:xfrm>
            <a:off x="5743976" y="2534589"/>
            <a:ext cx="138900" cy="10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0566D"/>
          </a:solidFill>
          <a:ln cap="flat" cmpd="sng" w="765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t/>
            </a:r>
            <a:endParaRPr b="0" i="0" sz="1121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4" name="Google Shape;814;p55"/>
          <p:cNvSpPr/>
          <p:nvPr/>
        </p:nvSpPr>
        <p:spPr>
          <a:xfrm>
            <a:off x="3770446" y="2544465"/>
            <a:ext cx="138900" cy="10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0566D"/>
          </a:solidFill>
          <a:ln cap="flat" cmpd="sng" w="765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t/>
            </a:r>
            <a:endParaRPr b="0" i="0" sz="1121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5" name="Google Shape;815;p55"/>
          <p:cNvSpPr/>
          <p:nvPr/>
        </p:nvSpPr>
        <p:spPr>
          <a:xfrm>
            <a:off x="6803762" y="2959746"/>
            <a:ext cx="845100" cy="406200"/>
          </a:xfrm>
          <a:prstGeom prst="roundRect">
            <a:avLst>
              <a:gd fmla="val 16667" name="adj"/>
            </a:avLst>
          </a:prstGeom>
          <a:solidFill>
            <a:srgbClr val="6FA8DC"/>
          </a:solidFill>
          <a:ln cap="flat" cmpd="sng" w="765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375" lIns="64375" spcFirstLastPara="1" rIns="64375" wrap="square" tIns="64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1"/>
              <a:buFont typeface="Arial"/>
              <a:buNone/>
            </a:pPr>
            <a:r>
              <a:rPr b="1" lang="en" sz="699">
                <a:solidFill>
                  <a:srgbClr val="FFFFFF"/>
                </a:solidFill>
              </a:rPr>
              <a:t>LLM 프롬프트</a:t>
            </a:r>
            <a:endParaRPr b="1" sz="699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1"/>
              <a:buFont typeface="Arial"/>
              <a:buNone/>
            </a:pPr>
            <a:r>
              <a:rPr b="1" lang="en" sz="699">
                <a:solidFill>
                  <a:srgbClr val="FFFFFF"/>
                </a:solidFill>
              </a:rPr>
              <a:t>논리성 판단</a:t>
            </a:r>
            <a:endParaRPr b="1" sz="699">
              <a:solidFill>
                <a:srgbClr val="FFFFFF"/>
              </a:solidFill>
            </a:endParaRPr>
          </a:p>
        </p:txBody>
      </p:sp>
      <p:sp>
        <p:nvSpPr>
          <p:cNvPr id="816" name="Google Shape;816;p55"/>
          <p:cNvSpPr/>
          <p:nvPr/>
        </p:nvSpPr>
        <p:spPr>
          <a:xfrm>
            <a:off x="7770737" y="3135486"/>
            <a:ext cx="138900" cy="10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0566D"/>
          </a:solidFill>
          <a:ln cap="flat" cmpd="sng" w="765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t/>
            </a:r>
            <a:endParaRPr b="0" i="0" sz="1121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7" name="Google Shape;817;p55"/>
          <p:cNvSpPr/>
          <p:nvPr/>
        </p:nvSpPr>
        <p:spPr>
          <a:xfrm>
            <a:off x="8048683" y="3020851"/>
            <a:ext cx="845100" cy="3318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 cap="flat" cmpd="sng" w="765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375" lIns="64375" spcFirstLastPara="1" rIns="64375" wrap="square" tIns="64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1"/>
              <a:buFont typeface="Arial"/>
              <a:buNone/>
            </a:pPr>
            <a:r>
              <a:rPr lang="en" sz="699">
                <a:solidFill>
                  <a:srgbClr val="FFFFFF"/>
                </a:solidFill>
              </a:rPr>
              <a:t>논리성 Score</a:t>
            </a:r>
            <a:endParaRPr sz="699">
              <a:solidFill>
                <a:srgbClr val="FFFFFF"/>
              </a:solidFill>
            </a:endParaRPr>
          </a:p>
        </p:txBody>
      </p:sp>
      <p:cxnSp>
        <p:nvCxnSpPr>
          <p:cNvPr id="818" name="Google Shape;818;p55"/>
          <p:cNvCxnSpPr>
            <a:stCxn id="803" idx="3"/>
            <a:endCxn id="819" idx="3"/>
          </p:cNvCxnSpPr>
          <p:nvPr/>
        </p:nvCxnSpPr>
        <p:spPr>
          <a:xfrm>
            <a:off x="7646966" y="2198252"/>
            <a:ext cx="1800" cy="487200"/>
          </a:xfrm>
          <a:prstGeom prst="curvedConnector3">
            <a:avLst>
              <a:gd fmla="val 13334527" name="adj1"/>
            </a:avLst>
          </a:prstGeom>
          <a:noFill/>
          <a:ln cap="flat" cmpd="sng" w="510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0" name="Google Shape;820;p55"/>
          <p:cNvSpPr/>
          <p:nvPr/>
        </p:nvSpPr>
        <p:spPr>
          <a:xfrm>
            <a:off x="2819875" y="1767925"/>
            <a:ext cx="6285600" cy="1834800"/>
          </a:xfrm>
          <a:prstGeom prst="rect">
            <a:avLst/>
          </a:prstGeom>
          <a:solidFill>
            <a:srgbClr val="807871">
              <a:alpha val="4528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821" name="Google Shape;821;p55"/>
          <p:cNvSpPr/>
          <p:nvPr/>
        </p:nvSpPr>
        <p:spPr>
          <a:xfrm>
            <a:off x="5981734" y="2395437"/>
            <a:ext cx="477900" cy="4254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6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375" lIns="64375" spcFirstLastPara="1" rIns="64375" wrap="square" tIns="64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9"/>
              <a:buFont typeface="Arial"/>
              <a:buNone/>
            </a:pPr>
            <a:r>
              <a:rPr lang="en" sz="597">
                <a:solidFill>
                  <a:srgbClr val="FFFFFF"/>
                </a:solidFill>
              </a:rPr>
              <a:t>사용자</a:t>
            </a:r>
            <a:endParaRPr sz="597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9"/>
              <a:buFont typeface="Arial"/>
              <a:buNone/>
            </a:pPr>
            <a:r>
              <a:rPr lang="en" sz="597">
                <a:solidFill>
                  <a:srgbClr val="FFFFFF"/>
                </a:solidFill>
              </a:rPr>
              <a:t>음성입력 </a:t>
            </a:r>
            <a:endParaRPr sz="597">
              <a:solidFill>
                <a:srgbClr val="FFFFFF"/>
              </a:solidFill>
            </a:endParaRPr>
          </a:p>
        </p:txBody>
      </p:sp>
      <p:sp>
        <p:nvSpPr>
          <p:cNvPr id="822" name="Google Shape;822;p55"/>
          <p:cNvSpPr/>
          <p:nvPr/>
        </p:nvSpPr>
        <p:spPr>
          <a:xfrm>
            <a:off x="8048683" y="2271655"/>
            <a:ext cx="845100" cy="3318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 cap="flat" cmpd="sng" w="76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375" lIns="64375" spcFirstLastPara="1" rIns="64375" wrap="square" tIns="64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1"/>
              <a:buFont typeface="Arial"/>
              <a:buNone/>
            </a:pPr>
            <a:r>
              <a:rPr lang="en" sz="699">
                <a:solidFill>
                  <a:srgbClr val="FFFFFF"/>
                </a:solidFill>
              </a:rPr>
              <a:t>유창성 Score</a:t>
            </a:r>
            <a:endParaRPr sz="699">
              <a:solidFill>
                <a:srgbClr val="FFFFFF"/>
              </a:solidFill>
            </a:endParaRPr>
          </a:p>
        </p:txBody>
      </p:sp>
      <p:sp>
        <p:nvSpPr>
          <p:cNvPr id="819" name="Google Shape;819;p55"/>
          <p:cNvSpPr/>
          <p:nvPr/>
        </p:nvSpPr>
        <p:spPr>
          <a:xfrm>
            <a:off x="6803762" y="2482220"/>
            <a:ext cx="845100" cy="406200"/>
          </a:xfrm>
          <a:prstGeom prst="roundRect">
            <a:avLst>
              <a:gd fmla="val 16667" name="adj"/>
            </a:avLst>
          </a:prstGeom>
          <a:solidFill>
            <a:srgbClr val="6FA8DC"/>
          </a:solidFill>
          <a:ln cap="flat" cmpd="sng" w="76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375" lIns="64375" spcFirstLastPara="1" rIns="64375" wrap="square" tIns="64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1"/>
              <a:buFont typeface="Arial"/>
              <a:buNone/>
            </a:pPr>
            <a:r>
              <a:rPr b="1" lang="en" sz="7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Wav2Vec2</a:t>
            </a:r>
            <a:endParaRPr b="1" sz="74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1"/>
              <a:buFont typeface="Arial"/>
              <a:buNone/>
            </a:pPr>
            <a:r>
              <a:rPr b="1" lang="en" sz="7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말더듬 판별</a:t>
            </a:r>
            <a:endParaRPr b="1" sz="74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3" name="Google Shape;823;p55"/>
          <p:cNvSpPr/>
          <p:nvPr/>
        </p:nvSpPr>
        <p:spPr>
          <a:xfrm>
            <a:off x="6573292" y="2540306"/>
            <a:ext cx="138900" cy="10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0566D"/>
          </a:solidFill>
          <a:ln cap="flat" cmpd="sng" w="765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t/>
            </a:r>
            <a:endParaRPr b="0" i="0" sz="1121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4" name="Google Shape;824;p55"/>
          <p:cNvSpPr/>
          <p:nvPr/>
        </p:nvSpPr>
        <p:spPr>
          <a:xfrm>
            <a:off x="7856217" y="2386290"/>
            <a:ext cx="138900" cy="10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0566D"/>
          </a:solidFill>
          <a:ln cap="flat" cmpd="sng" w="765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t/>
            </a:r>
            <a:endParaRPr b="0" i="0" sz="1121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5" name="Google Shape;825;p5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26" name="Google Shape;826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85450" y="0"/>
            <a:ext cx="2931475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7" name="Google Shape;827;p55"/>
          <p:cNvGrpSpPr/>
          <p:nvPr/>
        </p:nvGrpSpPr>
        <p:grpSpPr>
          <a:xfrm>
            <a:off x="8068236" y="2"/>
            <a:ext cx="1075752" cy="150822"/>
            <a:chOff x="921102" y="6027409"/>
            <a:chExt cx="2680001" cy="375740"/>
          </a:xfrm>
        </p:grpSpPr>
        <p:pic>
          <p:nvPicPr>
            <p:cNvPr descr="EMB0000378c3f3d" id="828" name="Google Shape;828;p5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9" name="Google Shape;829;p5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56"/>
          <p:cNvSpPr txBox="1"/>
          <p:nvPr>
            <p:ph idx="4294967295" type="title"/>
          </p:nvPr>
        </p:nvSpPr>
        <p:spPr>
          <a:xfrm>
            <a:off x="803211" y="1363625"/>
            <a:ext cx="6673200" cy="48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[말더듬 dataset]_</a:t>
            </a:r>
            <a:r>
              <a:rPr b="1" lang="en" sz="1200"/>
              <a:t>Stuttering Events in Podcasts Dataset (SEP-28k)</a:t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iro"/>
                <a:ea typeface="Cairo"/>
                <a:cs typeface="Cairo"/>
                <a:sym typeface="Cairo"/>
              </a:rPr>
              <a:t>일반 화자의 팟캐스트·FluencyBank 음성에서 말더듬이 포함된 3초 구간만 추출·라벨링한 데이터셋</a:t>
            </a:r>
            <a:endParaRPr b="1" sz="1200"/>
          </a:p>
        </p:txBody>
      </p:sp>
      <p:sp>
        <p:nvSpPr>
          <p:cNvPr id="835" name="Google Shape;835;p56"/>
          <p:cNvSpPr txBox="1"/>
          <p:nvPr/>
        </p:nvSpPr>
        <p:spPr>
          <a:xfrm>
            <a:off x="873300" y="2419700"/>
            <a:ext cx="67212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사용 label: soundrep(소리반복), wordrep(단어반복), prolongation(소리 늘림), block(말 막힘) </a:t>
            </a:r>
            <a:endParaRPr sz="11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증강: background noise, volume gain, light R2R reverb</a:t>
            </a:r>
            <a:endParaRPr sz="11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836" name="Google Shape;836;p56"/>
          <p:cNvSpPr txBox="1"/>
          <p:nvPr>
            <p:ph idx="4294967295" type="title"/>
          </p:nvPr>
        </p:nvSpPr>
        <p:spPr>
          <a:xfrm>
            <a:off x="803208" y="3052178"/>
            <a:ext cx="4928700" cy="48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[정상발화 dataset]_</a:t>
            </a:r>
            <a:r>
              <a:rPr b="1" lang="en" sz="1200"/>
              <a:t>Github _MLCommons/peoples_speech</a:t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iro"/>
                <a:ea typeface="Cairo"/>
                <a:cs typeface="Cairo"/>
                <a:sym typeface="Cairo"/>
              </a:rPr>
              <a:t>다양한 정상 발화 음성으로 구성된 대규모 공개 음성 데이터셋</a:t>
            </a:r>
            <a:endParaRPr b="1" sz="1200"/>
          </a:p>
        </p:txBody>
      </p:sp>
      <p:sp>
        <p:nvSpPr>
          <p:cNvPr id="837" name="Google Shape;837;p56"/>
          <p:cNvSpPr txBox="1"/>
          <p:nvPr/>
        </p:nvSpPr>
        <p:spPr>
          <a:xfrm>
            <a:off x="803208" y="3539375"/>
            <a:ext cx="4619700" cy="9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음성 3초 단위로 seg 후 WavLM으로 embedding 기반 정상발화로 필터링</a:t>
            </a:r>
            <a:endParaRPr sz="11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모든 embedding의 centroid(평균) 계산</a:t>
            </a:r>
            <a:endParaRPr sz="11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cosine distance</a:t>
            </a:r>
            <a:r>
              <a:rPr lang="en" sz="11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 계산, 상위 5% outlier 제거</a:t>
            </a:r>
            <a:endParaRPr sz="11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838" name="Google Shape;838;p56"/>
          <p:cNvSpPr txBox="1"/>
          <p:nvPr>
            <p:ph type="title"/>
          </p:nvPr>
        </p:nvSpPr>
        <p:spPr>
          <a:xfrm>
            <a:off x="666550" y="7552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</a:t>
            </a:r>
            <a:endParaRPr/>
          </a:p>
        </p:txBody>
      </p:sp>
      <p:sp>
        <p:nvSpPr>
          <p:cNvPr id="839" name="Google Shape;839;p56"/>
          <p:cNvSpPr txBox="1"/>
          <p:nvPr>
            <p:ph type="title"/>
          </p:nvPr>
        </p:nvSpPr>
        <p:spPr>
          <a:xfrm>
            <a:off x="291275" y="150025"/>
            <a:ext cx="1985100" cy="393600"/>
          </a:xfrm>
          <a:prstGeom prst="rect">
            <a:avLst/>
          </a:prstGeom>
          <a:solidFill>
            <a:srgbClr val="FFF2CC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말더듬 사용 </a:t>
            </a:r>
            <a:r>
              <a:rPr lang="en" sz="1500"/>
              <a:t>판별 모델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840" name="Google Shape;840;p5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41" name="Google Shape;841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3306" y="1932502"/>
            <a:ext cx="6532790" cy="3927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42" name="Google Shape;842;p56"/>
          <p:cNvCxnSpPr/>
          <p:nvPr/>
        </p:nvCxnSpPr>
        <p:spPr>
          <a:xfrm>
            <a:off x="855758" y="1898202"/>
            <a:ext cx="6542400" cy="0"/>
          </a:xfrm>
          <a:prstGeom prst="straightConnector1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3" name="Google Shape;843;p56"/>
          <p:cNvCxnSpPr/>
          <p:nvPr/>
        </p:nvCxnSpPr>
        <p:spPr>
          <a:xfrm>
            <a:off x="868548" y="2372453"/>
            <a:ext cx="6542400" cy="0"/>
          </a:xfrm>
          <a:prstGeom prst="straightConnector1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44" name="Google Shape;844;p56"/>
          <p:cNvGrpSpPr/>
          <p:nvPr/>
        </p:nvGrpSpPr>
        <p:grpSpPr>
          <a:xfrm>
            <a:off x="8068236" y="2"/>
            <a:ext cx="1075752" cy="150822"/>
            <a:chOff x="921102" y="6027409"/>
            <a:chExt cx="2680001" cy="375740"/>
          </a:xfrm>
        </p:grpSpPr>
        <p:pic>
          <p:nvPicPr>
            <p:cNvPr descr="EMB0000378c3f3d" id="845" name="Google Shape;845;p5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6" name="Google Shape;846;p5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47" name="Google Shape;847;p56"/>
          <p:cNvSpPr txBox="1"/>
          <p:nvPr/>
        </p:nvSpPr>
        <p:spPr>
          <a:xfrm>
            <a:off x="2216250" y="170275"/>
            <a:ext cx="57744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말더듬</a:t>
            </a:r>
            <a:r>
              <a:rPr lang="en" sz="10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 : </a:t>
            </a:r>
            <a:r>
              <a:rPr lang="en" sz="10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비자발적 발화 장애로 본인의 의도와 상관없고 통제가 어려운 발화</a:t>
            </a:r>
            <a:endParaRPr sz="10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848" name="Google Shape;848;p56"/>
          <p:cNvSpPr/>
          <p:nvPr/>
        </p:nvSpPr>
        <p:spPr>
          <a:xfrm>
            <a:off x="6862250" y="1915050"/>
            <a:ext cx="548700" cy="4878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849" name="Google Shape;849;p56"/>
          <p:cNvSpPr/>
          <p:nvPr/>
        </p:nvSpPr>
        <p:spPr>
          <a:xfrm>
            <a:off x="1691225" y="1881850"/>
            <a:ext cx="2189400" cy="4878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57"/>
          <p:cNvSpPr txBox="1"/>
          <p:nvPr>
            <p:ph idx="4294967295" type="title"/>
          </p:nvPr>
        </p:nvSpPr>
        <p:spPr>
          <a:xfrm>
            <a:off x="800125" y="1557800"/>
            <a:ext cx="5739300" cy="30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정상발화 (0) vs 말더듬(1) 2-class 이진 분류</a:t>
            </a:r>
            <a:endParaRPr b="1" sz="1400"/>
          </a:p>
        </p:txBody>
      </p:sp>
      <p:sp>
        <p:nvSpPr>
          <p:cNvPr id="855" name="Google Shape;855;p57"/>
          <p:cNvSpPr txBox="1"/>
          <p:nvPr/>
        </p:nvSpPr>
        <p:spPr>
          <a:xfrm>
            <a:off x="800125" y="1863712"/>
            <a:ext cx="7560900" cy="12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iro Medium"/>
                <a:ea typeface="Cairo Medium"/>
                <a:cs typeface="Cairo Medium"/>
                <a:sym typeface="Cairo Medium"/>
              </a:rPr>
              <a:t>Wav2vec2-large-xlsr-korean</a:t>
            </a:r>
            <a:endParaRPr>
              <a:solidFill>
                <a:schemeClr val="dk1"/>
              </a:solidFill>
              <a:latin typeface="Cairo Medium"/>
              <a:ea typeface="Cairo Medium"/>
              <a:cs typeface="Cairo Medium"/>
              <a:sym typeface="Cair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Wav2Vec2-korean은 CNN으로 음성 특징을 추출하고, </a:t>
            </a:r>
            <a:endParaRPr sz="11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24-layer Transformer Encoder로 문맥을 이해하여 고차원 음성 representation을 출력하는 Encoder-only 모델</a:t>
            </a:r>
            <a:endParaRPr sz="11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iro Medium"/>
                <a:ea typeface="Cairo Medium"/>
                <a:cs typeface="Cairo Medium"/>
                <a:sym typeface="Cairo Medium"/>
              </a:rPr>
              <a:t>모델 아키텍처</a:t>
            </a:r>
            <a:endParaRPr sz="11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“Waveform → CNN Feature Extractor → 24-layer Transformer Encoder → Speech Representation</a:t>
            </a:r>
            <a:endParaRPr sz="11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856" name="Google Shape;856;p57"/>
          <p:cNvSpPr txBox="1"/>
          <p:nvPr>
            <p:ph type="title"/>
          </p:nvPr>
        </p:nvSpPr>
        <p:spPr>
          <a:xfrm>
            <a:off x="666550" y="7552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train</a:t>
            </a:r>
            <a:endParaRPr/>
          </a:p>
        </p:txBody>
      </p:sp>
      <p:cxnSp>
        <p:nvCxnSpPr>
          <p:cNvPr id="857" name="Google Shape;857;p57"/>
          <p:cNvCxnSpPr/>
          <p:nvPr/>
        </p:nvCxnSpPr>
        <p:spPr>
          <a:xfrm flipH="1" rot="10800000">
            <a:off x="609463" y="1423938"/>
            <a:ext cx="7913700" cy="37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8" name="Google Shape;858;p57"/>
          <p:cNvCxnSpPr/>
          <p:nvPr/>
        </p:nvCxnSpPr>
        <p:spPr>
          <a:xfrm>
            <a:off x="628388" y="1452288"/>
            <a:ext cx="9000" cy="1795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9" name="Google Shape;859;p57"/>
          <p:cNvCxnSpPr/>
          <p:nvPr/>
        </p:nvCxnSpPr>
        <p:spPr>
          <a:xfrm flipH="1" rot="10800000">
            <a:off x="621180" y="3208655"/>
            <a:ext cx="7913700" cy="37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0" name="Google Shape;860;p57"/>
          <p:cNvCxnSpPr/>
          <p:nvPr/>
        </p:nvCxnSpPr>
        <p:spPr>
          <a:xfrm>
            <a:off x="8523163" y="1410613"/>
            <a:ext cx="6300" cy="1803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1" name="Google Shape;861;p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62" name="Google Shape;862;p57"/>
          <p:cNvGrpSpPr/>
          <p:nvPr/>
        </p:nvGrpSpPr>
        <p:grpSpPr>
          <a:xfrm>
            <a:off x="8068236" y="2"/>
            <a:ext cx="1075752" cy="150822"/>
            <a:chOff x="921102" y="6027409"/>
            <a:chExt cx="2680001" cy="375740"/>
          </a:xfrm>
        </p:grpSpPr>
        <p:pic>
          <p:nvPicPr>
            <p:cNvPr descr="EMB0000378c3f3d" id="863" name="Google Shape;863;p5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4" name="Google Shape;864;p5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65" name="Google Shape;865;p57"/>
          <p:cNvSpPr txBox="1"/>
          <p:nvPr>
            <p:ph type="title"/>
          </p:nvPr>
        </p:nvSpPr>
        <p:spPr>
          <a:xfrm>
            <a:off x="291275" y="150025"/>
            <a:ext cx="1985100" cy="393600"/>
          </a:xfrm>
          <a:prstGeom prst="rect">
            <a:avLst/>
          </a:prstGeom>
          <a:solidFill>
            <a:srgbClr val="FFF2CC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말더듬 사용 판별 모델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866" name="Google Shape;866;p57"/>
          <p:cNvSpPr txBox="1"/>
          <p:nvPr>
            <p:ph idx="4294967295" type="subTitle"/>
          </p:nvPr>
        </p:nvSpPr>
        <p:spPr>
          <a:xfrm>
            <a:off x="633675" y="4285375"/>
            <a:ext cx="8116800" cy="3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Wav2Vec2-large-XLSR-Korean의 Encoder를 Freeze하고 마지막 3개 레이어와 Linear 분류 헤드만 학습해 정상/말더듬 이진 분류를 파인튜닝한 모델</a:t>
            </a:r>
            <a:endParaRPr sz="1000"/>
          </a:p>
        </p:txBody>
      </p:sp>
      <p:sp>
        <p:nvSpPr>
          <p:cNvPr id="867" name="Google Shape;867;p57"/>
          <p:cNvSpPr txBox="1"/>
          <p:nvPr>
            <p:ph idx="4294967295" type="subTitle"/>
          </p:nvPr>
        </p:nvSpPr>
        <p:spPr>
          <a:xfrm>
            <a:off x="633675" y="3848000"/>
            <a:ext cx="3020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highlight>
                  <a:srgbClr val="FFFF00"/>
                </a:highlight>
              </a:rPr>
              <a:t>말더듬 이진 분류용 Linear Head 추가</a:t>
            </a:r>
            <a:endParaRPr b="1" sz="1300"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58"/>
          <p:cNvSpPr/>
          <p:nvPr/>
        </p:nvSpPr>
        <p:spPr>
          <a:xfrm>
            <a:off x="1254300" y="1607025"/>
            <a:ext cx="6635400" cy="2830500"/>
          </a:xfrm>
          <a:prstGeom prst="roundRect">
            <a:avLst>
              <a:gd fmla="val 16667" name="adj"/>
            </a:avLst>
          </a:prstGeom>
          <a:solidFill>
            <a:srgbClr val="E2E4F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58"/>
          <p:cNvSpPr txBox="1"/>
          <p:nvPr>
            <p:ph type="title"/>
          </p:nvPr>
        </p:nvSpPr>
        <p:spPr>
          <a:xfrm>
            <a:off x="720000" y="758638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Train</a:t>
            </a:r>
            <a:endParaRPr/>
          </a:p>
        </p:txBody>
      </p:sp>
      <p:sp>
        <p:nvSpPr>
          <p:cNvPr id="874" name="Google Shape;874;p58"/>
          <p:cNvSpPr txBox="1"/>
          <p:nvPr>
            <p:ph idx="1" type="subTitle"/>
          </p:nvPr>
        </p:nvSpPr>
        <p:spPr>
          <a:xfrm>
            <a:off x="1730550" y="2062875"/>
            <a:ext cx="5682900" cy="21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더 안정적인 이진분류를 위한 손실 설계</a:t>
            </a:r>
            <a:endParaRPr b="1"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Class-weighted Focal Loss 적용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→ 주저어(FN)를 줄이는 방향으로 오차에 더 큰 가중치 부여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Fine-Tuning 전략</a:t>
            </a:r>
            <a:endParaRPr b="1"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이미 잘 학습된 Wav2Vec2-large-XLSR-Korean 기반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Encoder 전체 freeze,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21·22·23 레이어만 학습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LR = 2e-5, cosine scheduler + warmup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Early Stopping(patience=2)으로 과적합 방지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총 5 epoch 수행</a:t>
            </a:r>
            <a:endParaRPr sz="1000"/>
          </a:p>
        </p:txBody>
      </p:sp>
      <p:sp>
        <p:nvSpPr>
          <p:cNvPr id="875" name="Google Shape;875;p58"/>
          <p:cNvSpPr txBox="1"/>
          <p:nvPr>
            <p:ph idx="4294967295" type="subTitle"/>
          </p:nvPr>
        </p:nvSpPr>
        <p:spPr>
          <a:xfrm>
            <a:off x="3422238" y="1442842"/>
            <a:ext cx="22995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highlight>
                  <a:srgbClr val="B4A7D6"/>
                </a:highlight>
              </a:rPr>
              <a:t>설정 및 하이퍼파라미터</a:t>
            </a:r>
            <a:endParaRPr b="1" sz="1300">
              <a:highlight>
                <a:srgbClr val="B4A7D6"/>
              </a:highlight>
            </a:endParaRPr>
          </a:p>
        </p:txBody>
      </p:sp>
      <p:sp>
        <p:nvSpPr>
          <p:cNvPr id="876" name="Google Shape;876;p58"/>
          <p:cNvSpPr txBox="1"/>
          <p:nvPr>
            <p:ph type="title"/>
          </p:nvPr>
        </p:nvSpPr>
        <p:spPr>
          <a:xfrm>
            <a:off x="151300" y="163350"/>
            <a:ext cx="1949700" cy="391800"/>
          </a:xfrm>
          <a:prstGeom prst="rect">
            <a:avLst/>
          </a:prstGeom>
          <a:solidFill>
            <a:srgbClr val="CFE2F3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주저어 사용 판별 모델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877" name="Google Shape;877;p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78" name="Google Shape;878;p58"/>
          <p:cNvGrpSpPr/>
          <p:nvPr/>
        </p:nvGrpSpPr>
        <p:grpSpPr>
          <a:xfrm>
            <a:off x="8068236" y="2"/>
            <a:ext cx="1075752" cy="150822"/>
            <a:chOff x="921102" y="6027409"/>
            <a:chExt cx="2680001" cy="375740"/>
          </a:xfrm>
        </p:grpSpPr>
        <p:pic>
          <p:nvPicPr>
            <p:cNvPr descr="EMB0000378c3f3d" id="879" name="Google Shape;879;p5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0" name="Google Shape;880;p5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5" name="Google Shape;885;p59"/>
          <p:cNvPicPr preferRelativeResize="0"/>
          <p:nvPr/>
        </p:nvPicPr>
        <p:blipFill rotWithShape="1">
          <a:blip r:embed="rId3">
            <a:alphaModFix/>
          </a:blip>
          <a:srcRect b="8638" l="6462" r="3658" t="6916"/>
          <a:stretch/>
        </p:blipFill>
        <p:spPr>
          <a:xfrm>
            <a:off x="5628050" y="921350"/>
            <a:ext cx="2440175" cy="192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6" name="Google Shape;886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3900" y="2953763"/>
            <a:ext cx="3214875" cy="16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59"/>
          <p:cNvSpPr txBox="1"/>
          <p:nvPr>
            <p:ph type="title"/>
          </p:nvPr>
        </p:nvSpPr>
        <p:spPr>
          <a:xfrm>
            <a:off x="666550" y="755200"/>
            <a:ext cx="398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train</a:t>
            </a:r>
            <a:endParaRPr/>
          </a:p>
        </p:txBody>
      </p:sp>
      <p:sp>
        <p:nvSpPr>
          <p:cNvPr id="888" name="Google Shape;888;p59"/>
          <p:cNvSpPr/>
          <p:nvPr/>
        </p:nvSpPr>
        <p:spPr>
          <a:xfrm>
            <a:off x="665900" y="1743318"/>
            <a:ext cx="3780900" cy="2375100"/>
          </a:xfrm>
          <a:prstGeom prst="roundRect">
            <a:avLst>
              <a:gd fmla="val 16667" name="adj"/>
            </a:avLst>
          </a:prstGeom>
          <a:solidFill>
            <a:srgbClr val="E2E4FC"/>
          </a:solidFill>
          <a:ln cap="flat" cmpd="sng" w="97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625" lIns="93625" spcFirstLastPara="1" rIns="93625" wrap="square" tIns="93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46"/>
          </a:p>
        </p:txBody>
      </p:sp>
      <p:sp>
        <p:nvSpPr>
          <p:cNvPr id="889" name="Google Shape;889;p59"/>
          <p:cNvSpPr txBox="1"/>
          <p:nvPr>
            <p:ph idx="4294967295" type="subTitle"/>
          </p:nvPr>
        </p:nvSpPr>
        <p:spPr>
          <a:xfrm>
            <a:off x="757193" y="2007231"/>
            <a:ext cx="3889500" cy="1982400"/>
          </a:xfrm>
          <a:prstGeom prst="rect">
            <a:avLst/>
          </a:prstGeom>
        </p:spPr>
        <p:txBody>
          <a:bodyPr anchorCtr="0" anchor="t" bIns="93625" lIns="93625" spcFirstLastPara="1" rIns="93625" wrap="square" tIns="93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3"/>
              <a:t>메인 </a:t>
            </a:r>
            <a:r>
              <a:rPr b="1" lang="en" sz="1023"/>
              <a:t>평가지표 : Recall</a:t>
            </a:r>
            <a:endParaRPr b="1" sz="1023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23"/>
              <a:t>말더듬 여부를 놓치지 않고 검출하는 것이 가장 중요</a:t>
            </a:r>
            <a:endParaRPr sz="1023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23"/>
              <a:t>False Negative(말더듬인데 정상으로 판단)는 큰 문제</a:t>
            </a:r>
            <a:endParaRPr sz="1023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3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3"/>
              <a:t>목표 수치 설정  : 최소치 0.75 </a:t>
            </a:r>
            <a:endParaRPr b="1" sz="1023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3"/>
              <a:t>의</a:t>
            </a:r>
            <a:r>
              <a:rPr lang="en" sz="1023"/>
              <a:t>사결정 시스템·의료·음성 장애 검출 분야에서 통상적으로 “임계선(threshold)”을 둘 때 0.7~0.8이 최소 기준으로 제시</a:t>
            </a:r>
            <a:endParaRPr sz="1023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23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3"/>
              <a:t>Macro score</a:t>
            </a:r>
            <a:endParaRPr b="1" sz="1023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23"/>
              <a:t>두 클래스의 성능을 동등하게 반영하기 위해 macro avg를 사용</a:t>
            </a:r>
            <a:endParaRPr sz="1023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23"/>
              <a:t>Precision 0.913 / Recall 0.918 / F1 0.915로 가장 안정적인 성능</a:t>
            </a:r>
            <a:endParaRPr sz="1023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23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3"/>
          </a:p>
        </p:txBody>
      </p:sp>
      <p:sp>
        <p:nvSpPr>
          <p:cNvPr id="890" name="Google Shape;890;p59"/>
          <p:cNvSpPr txBox="1"/>
          <p:nvPr>
            <p:ph idx="4294967295" type="subTitle"/>
          </p:nvPr>
        </p:nvSpPr>
        <p:spPr>
          <a:xfrm>
            <a:off x="1379144" y="1539475"/>
            <a:ext cx="2354400" cy="401100"/>
          </a:xfrm>
          <a:prstGeom prst="rect">
            <a:avLst/>
          </a:prstGeom>
        </p:spPr>
        <p:txBody>
          <a:bodyPr anchorCtr="0" anchor="t" bIns="93625" lIns="93625" spcFirstLastPara="1" rIns="93625" wrap="square" tIns="9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30">
                <a:highlight>
                  <a:srgbClr val="B4A7D6"/>
                </a:highlight>
              </a:rPr>
              <a:t>평가지표 </a:t>
            </a:r>
            <a:endParaRPr b="1" sz="1330">
              <a:highlight>
                <a:srgbClr val="B4A7D6"/>
              </a:highlight>
            </a:endParaRPr>
          </a:p>
        </p:txBody>
      </p:sp>
      <p:sp>
        <p:nvSpPr>
          <p:cNvPr id="891" name="Google Shape;891;p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92" name="Google Shape;892;p59"/>
          <p:cNvGrpSpPr/>
          <p:nvPr/>
        </p:nvGrpSpPr>
        <p:grpSpPr>
          <a:xfrm>
            <a:off x="8068236" y="2"/>
            <a:ext cx="1075752" cy="150822"/>
            <a:chOff x="921102" y="6027409"/>
            <a:chExt cx="2680001" cy="375740"/>
          </a:xfrm>
        </p:grpSpPr>
        <p:pic>
          <p:nvPicPr>
            <p:cNvPr descr="EMB0000378c3f3d" id="893" name="Google Shape;893;p5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4" name="Google Shape;894;p5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95" name="Google Shape;895;p59"/>
          <p:cNvSpPr txBox="1"/>
          <p:nvPr>
            <p:ph type="title"/>
          </p:nvPr>
        </p:nvSpPr>
        <p:spPr>
          <a:xfrm>
            <a:off x="291275" y="150025"/>
            <a:ext cx="1985100" cy="393600"/>
          </a:xfrm>
          <a:prstGeom prst="rect">
            <a:avLst/>
          </a:prstGeom>
          <a:solidFill>
            <a:srgbClr val="FFF2CC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말더듬 사용 판별 모델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6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모델 전체 파이프라인 </a:t>
            </a:r>
            <a:endParaRPr/>
          </a:p>
        </p:txBody>
      </p:sp>
      <p:sp>
        <p:nvSpPr>
          <p:cNvPr id="901" name="Google Shape;901;p60"/>
          <p:cNvSpPr txBox="1"/>
          <p:nvPr/>
        </p:nvSpPr>
        <p:spPr>
          <a:xfrm>
            <a:off x="720000" y="1017725"/>
            <a:ext cx="762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▶ 음성 기반 Multimodal 분석으로 면접 답변의 유창성, 논리성을 평가하는 AI 파이프라인</a:t>
            </a:r>
            <a:endParaRPr/>
          </a:p>
        </p:txBody>
      </p:sp>
      <p:sp>
        <p:nvSpPr>
          <p:cNvPr id="902" name="Google Shape;902;p6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3" name="Google Shape;903;p60"/>
          <p:cNvSpPr/>
          <p:nvPr/>
        </p:nvSpPr>
        <p:spPr>
          <a:xfrm>
            <a:off x="5674565" y="1969486"/>
            <a:ext cx="1191900" cy="599700"/>
          </a:xfrm>
          <a:prstGeom prst="roundRect">
            <a:avLst>
              <a:gd fmla="val 16667" name="adj"/>
            </a:avLst>
          </a:prstGeom>
          <a:solidFill>
            <a:srgbClr val="6FA8DC"/>
          </a:solidFill>
          <a:ln cap="flat" cmpd="sng" w="1077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00" lIns="90800" spcFirstLastPara="1" rIns="90800" wrap="square" tIns="9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7"/>
              <a:buFont typeface="Arial"/>
              <a:buNone/>
            </a:pPr>
            <a:r>
              <a:rPr b="1" lang="en" sz="9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TEXT Whisper 주저어 판별</a:t>
            </a:r>
            <a:endParaRPr b="1" sz="903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4" name="Google Shape;904;p60"/>
          <p:cNvSpPr/>
          <p:nvPr/>
        </p:nvSpPr>
        <p:spPr>
          <a:xfrm>
            <a:off x="5677240" y="2670037"/>
            <a:ext cx="1191900" cy="572700"/>
          </a:xfrm>
          <a:prstGeom prst="roundRect">
            <a:avLst>
              <a:gd fmla="val 16667" name="adj"/>
            </a:avLst>
          </a:prstGeom>
          <a:solidFill>
            <a:srgbClr val="6FA8DC"/>
          </a:solidFill>
          <a:ln cap="flat" cmpd="sng" w="1077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00" lIns="90800" spcFirstLastPara="1" rIns="90800" wrap="square" tIns="9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7"/>
              <a:buFont typeface="Arial"/>
              <a:buNone/>
            </a:pPr>
            <a:r>
              <a:rPr b="1" lang="en" sz="986">
                <a:solidFill>
                  <a:srgbClr val="FFFFFF"/>
                </a:solidFill>
              </a:rPr>
              <a:t>Wav2Vec2</a:t>
            </a:r>
            <a:endParaRPr b="1" sz="986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7"/>
              <a:buFont typeface="Arial"/>
              <a:buNone/>
            </a:pPr>
            <a:r>
              <a:rPr b="1" lang="en" sz="986">
                <a:solidFill>
                  <a:srgbClr val="FFFFFF"/>
                </a:solidFill>
              </a:rPr>
              <a:t>말더듬 판별</a:t>
            </a:r>
            <a:endParaRPr b="1" sz="986">
              <a:solidFill>
                <a:srgbClr val="FFFFFF"/>
              </a:solidFill>
            </a:endParaRPr>
          </a:p>
        </p:txBody>
      </p:sp>
      <p:sp>
        <p:nvSpPr>
          <p:cNvPr id="905" name="Google Shape;905;p60"/>
          <p:cNvSpPr/>
          <p:nvPr/>
        </p:nvSpPr>
        <p:spPr>
          <a:xfrm>
            <a:off x="7433200" y="2373035"/>
            <a:ext cx="1191900" cy="4680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 cap="flat" cmpd="sng" w="1077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00" lIns="90800" spcFirstLastPara="1" rIns="90800" wrap="square" tIns="9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986">
                <a:solidFill>
                  <a:srgbClr val="FFFFFF"/>
                </a:solidFill>
              </a:rPr>
              <a:t>유창성 Score</a:t>
            </a:r>
            <a:endParaRPr sz="986">
              <a:solidFill>
                <a:srgbClr val="FFFFFF"/>
              </a:solidFill>
            </a:endParaRPr>
          </a:p>
        </p:txBody>
      </p:sp>
      <p:sp>
        <p:nvSpPr>
          <p:cNvPr id="906" name="Google Shape;906;p60"/>
          <p:cNvSpPr/>
          <p:nvPr/>
        </p:nvSpPr>
        <p:spPr>
          <a:xfrm>
            <a:off x="4517770" y="2547629"/>
            <a:ext cx="674100" cy="5997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45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00" lIns="90800" spcFirstLastPara="1" rIns="90800" wrap="square" tIns="9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1"/>
              <a:buFont typeface="Arial"/>
              <a:buNone/>
            </a:pPr>
            <a:r>
              <a:rPr lang="en" sz="842">
                <a:solidFill>
                  <a:srgbClr val="FFFFFF"/>
                </a:solidFill>
              </a:rPr>
              <a:t>사용자</a:t>
            </a:r>
            <a:endParaRPr sz="842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1"/>
              <a:buFont typeface="Arial"/>
              <a:buNone/>
            </a:pPr>
            <a:r>
              <a:rPr lang="en" sz="842">
                <a:solidFill>
                  <a:srgbClr val="FFFFFF"/>
                </a:solidFill>
              </a:rPr>
              <a:t>음성 입력 </a:t>
            </a:r>
            <a:endParaRPr sz="842">
              <a:solidFill>
                <a:srgbClr val="FFFFFF"/>
              </a:solidFill>
            </a:endParaRPr>
          </a:p>
        </p:txBody>
      </p:sp>
      <p:sp>
        <p:nvSpPr>
          <p:cNvPr id="907" name="Google Shape;907;p60"/>
          <p:cNvSpPr/>
          <p:nvPr/>
        </p:nvSpPr>
        <p:spPr>
          <a:xfrm>
            <a:off x="5352163" y="2751966"/>
            <a:ext cx="195900" cy="144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0566D"/>
          </a:solidFill>
          <a:ln cap="flat" cmpd="sng" w="1077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325" lIns="103325" spcFirstLastPara="1" rIns="103325" wrap="square" tIns="103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2"/>
              <a:buFont typeface="Arial"/>
              <a:buNone/>
            </a:pPr>
            <a:r>
              <a:t/>
            </a:r>
            <a:endParaRPr b="0" i="0" sz="1582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8" name="Google Shape;908;p60"/>
          <p:cNvSpPr/>
          <p:nvPr/>
        </p:nvSpPr>
        <p:spPr>
          <a:xfrm>
            <a:off x="340070" y="2607075"/>
            <a:ext cx="937800" cy="4680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45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750" lIns="79750" spcFirstLastPara="1" rIns="79750" wrap="square" tIns="79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1" lang="en" sz="874"/>
              <a:t>&lt;input&gt;</a:t>
            </a:r>
            <a:endParaRPr b="1" sz="874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1" lang="en" sz="874"/>
              <a:t>사용자 </a:t>
            </a:r>
            <a:br>
              <a:rPr b="1" lang="en" sz="874"/>
            </a:br>
            <a:r>
              <a:rPr b="1" lang="en" sz="874"/>
              <a:t>직무 / 키워드</a:t>
            </a:r>
            <a:endParaRPr b="1" sz="874"/>
          </a:p>
        </p:txBody>
      </p:sp>
      <p:sp>
        <p:nvSpPr>
          <p:cNvPr id="909" name="Google Shape;909;p60"/>
          <p:cNvSpPr/>
          <p:nvPr/>
        </p:nvSpPr>
        <p:spPr>
          <a:xfrm>
            <a:off x="3269150" y="2516350"/>
            <a:ext cx="873600" cy="5997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45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600" lIns="60600" spcFirstLastPara="1" rIns="60600" wrap="square" tIns="60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1"/>
              <a:buFont typeface="Arial"/>
              <a:buNone/>
            </a:pPr>
            <a:r>
              <a:rPr lang="en" sz="842">
                <a:solidFill>
                  <a:srgbClr val="FFFFFF"/>
                </a:solidFill>
              </a:rPr>
              <a:t>&lt;가이드 제공&gt;</a:t>
            </a:r>
            <a:endParaRPr sz="842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1"/>
              <a:buFont typeface="Arial"/>
              <a:buNone/>
            </a:pPr>
            <a:r>
              <a:rPr lang="en" sz="750">
                <a:solidFill>
                  <a:srgbClr val="FFFFFF"/>
                </a:solidFill>
              </a:rPr>
              <a:t>답변예시,</a:t>
            </a:r>
            <a:endParaRPr sz="75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1"/>
              <a:buFont typeface="Arial"/>
              <a:buNone/>
            </a:pPr>
            <a:r>
              <a:rPr lang="en" sz="750">
                <a:solidFill>
                  <a:srgbClr val="FFFFFF"/>
                </a:solidFill>
              </a:rPr>
              <a:t>평가포인트 등</a:t>
            </a:r>
            <a:endParaRPr sz="75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1"/>
              <a:buFont typeface="Arial"/>
              <a:buNone/>
            </a:pPr>
            <a:r>
              <a:rPr lang="en" sz="750">
                <a:solidFill>
                  <a:srgbClr val="FFFFFF"/>
                </a:solidFill>
              </a:rPr>
              <a:t>先 정보 제공</a:t>
            </a:r>
            <a:endParaRPr sz="750">
              <a:solidFill>
                <a:srgbClr val="FFFFFF"/>
              </a:solidFill>
            </a:endParaRPr>
          </a:p>
        </p:txBody>
      </p:sp>
      <p:sp>
        <p:nvSpPr>
          <p:cNvPr id="910" name="Google Shape;910;p60"/>
          <p:cNvSpPr/>
          <p:nvPr/>
        </p:nvSpPr>
        <p:spPr>
          <a:xfrm>
            <a:off x="4213716" y="2743903"/>
            <a:ext cx="195900" cy="144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0566D"/>
          </a:solidFill>
          <a:ln cap="flat" cmpd="sng" w="1077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325" lIns="103325" spcFirstLastPara="1" rIns="103325" wrap="square" tIns="103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2"/>
              <a:buFont typeface="Arial"/>
              <a:buNone/>
            </a:pPr>
            <a:r>
              <a:t/>
            </a:r>
            <a:endParaRPr b="0" i="0" sz="1582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1" name="Google Shape;911;p60"/>
          <p:cNvSpPr/>
          <p:nvPr/>
        </p:nvSpPr>
        <p:spPr>
          <a:xfrm>
            <a:off x="7161726" y="2534727"/>
            <a:ext cx="195900" cy="144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0566D"/>
          </a:solidFill>
          <a:ln cap="flat" cmpd="sng" w="1077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325" lIns="103325" spcFirstLastPara="1" rIns="103325" wrap="square" tIns="103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2"/>
              <a:buFont typeface="Arial"/>
              <a:buNone/>
            </a:pPr>
            <a:r>
              <a:t/>
            </a:r>
            <a:endParaRPr b="0" i="0" sz="1582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2" name="Google Shape;912;p60"/>
          <p:cNvSpPr/>
          <p:nvPr/>
        </p:nvSpPr>
        <p:spPr>
          <a:xfrm>
            <a:off x="3018207" y="2757832"/>
            <a:ext cx="195900" cy="144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0566D"/>
          </a:solidFill>
          <a:ln cap="flat" cmpd="sng" w="1077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325" lIns="103325" spcFirstLastPara="1" rIns="103325" wrap="square" tIns="103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2"/>
              <a:buFont typeface="Arial"/>
              <a:buNone/>
            </a:pPr>
            <a:r>
              <a:t/>
            </a:r>
            <a:endParaRPr b="0" i="0" sz="1582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3" name="Google Shape;913;p60"/>
          <p:cNvSpPr/>
          <p:nvPr/>
        </p:nvSpPr>
        <p:spPr>
          <a:xfrm>
            <a:off x="1398750" y="2757832"/>
            <a:ext cx="195900" cy="144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0566D"/>
          </a:solidFill>
          <a:ln cap="flat" cmpd="sng" w="1077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325" lIns="103325" spcFirstLastPara="1" rIns="103325" wrap="square" tIns="103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2"/>
              <a:buFont typeface="Arial"/>
              <a:buNone/>
            </a:pPr>
            <a:r>
              <a:t/>
            </a:r>
            <a:endParaRPr b="0" i="0" sz="1582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4" name="Google Shape;914;p60"/>
          <p:cNvSpPr/>
          <p:nvPr/>
        </p:nvSpPr>
        <p:spPr>
          <a:xfrm>
            <a:off x="5677240" y="3343587"/>
            <a:ext cx="1191900" cy="572700"/>
          </a:xfrm>
          <a:prstGeom prst="roundRect">
            <a:avLst>
              <a:gd fmla="val 16667" name="adj"/>
            </a:avLst>
          </a:prstGeom>
          <a:solidFill>
            <a:srgbClr val="6FA8DC"/>
          </a:solidFill>
          <a:ln cap="flat" cmpd="sng" w="1077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00" lIns="90800" spcFirstLastPara="1" rIns="90800" wrap="square" tIns="9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7"/>
              <a:buFont typeface="Arial"/>
              <a:buNone/>
            </a:pPr>
            <a:r>
              <a:rPr b="1" lang="en" sz="986">
                <a:solidFill>
                  <a:srgbClr val="FFFFFF"/>
                </a:solidFill>
              </a:rPr>
              <a:t>LLM 프롬프트</a:t>
            </a:r>
            <a:endParaRPr b="1" sz="986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7"/>
              <a:buFont typeface="Arial"/>
              <a:buNone/>
            </a:pPr>
            <a:r>
              <a:rPr b="1" lang="en" sz="986">
                <a:solidFill>
                  <a:srgbClr val="FFFFFF"/>
                </a:solidFill>
              </a:rPr>
              <a:t>논리성 판단</a:t>
            </a:r>
            <a:endParaRPr b="1" sz="986">
              <a:solidFill>
                <a:srgbClr val="FFFFFF"/>
              </a:solidFill>
            </a:endParaRPr>
          </a:p>
        </p:txBody>
      </p:sp>
      <p:sp>
        <p:nvSpPr>
          <p:cNvPr id="915" name="Google Shape;915;p60"/>
          <p:cNvSpPr/>
          <p:nvPr/>
        </p:nvSpPr>
        <p:spPr>
          <a:xfrm>
            <a:off x="7041157" y="3591468"/>
            <a:ext cx="195900" cy="144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0566D"/>
          </a:solidFill>
          <a:ln cap="flat" cmpd="sng" w="1077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325" lIns="103325" spcFirstLastPara="1" rIns="103325" wrap="square" tIns="103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2"/>
              <a:buFont typeface="Arial"/>
              <a:buNone/>
            </a:pPr>
            <a:r>
              <a:t/>
            </a:r>
            <a:endParaRPr b="0" i="0" sz="1582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6" name="Google Shape;916;p60"/>
          <p:cNvSpPr/>
          <p:nvPr/>
        </p:nvSpPr>
        <p:spPr>
          <a:xfrm>
            <a:off x="7433200" y="3429775"/>
            <a:ext cx="1191900" cy="4680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 cap="flat" cmpd="sng" w="1077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800" lIns="90800" spcFirstLastPara="1" rIns="90800" wrap="square" tIns="9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986">
                <a:solidFill>
                  <a:srgbClr val="FFFFFF"/>
                </a:solidFill>
              </a:rPr>
              <a:t>논리성 Score</a:t>
            </a:r>
            <a:endParaRPr sz="986">
              <a:solidFill>
                <a:srgbClr val="FFFFFF"/>
              </a:solidFill>
            </a:endParaRPr>
          </a:p>
        </p:txBody>
      </p:sp>
      <p:cxnSp>
        <p:nvCxnSpPr>
          <p:cNvPr id="917" name="Google Shape;917;p60"/>
          <p:cNvCxnSpPr>
            <a:stCxn id="903" idx="3"/>
            <a:endCxn id="904" idx="3"/>
          </p:cNvCxnSpPr>
          <p:nvPr/>
        </p:nvCxnSpPr>
        <p:spPr>
          <a:xfrm>
            <a:off x="6866465" y="2269336"/>
            <a:ext cx="2700" cy="687000"/>
          </a:xfrm>
          <a:prstGeom prst="curvedConnector3">
            <a:avLst>
              <a:gd fmla="val 8918519" name="adj1"/>
            </a:avLst>
          </a:prstGeom>
          <a:noFill/>
          <a:ln cap="flat" cmpd="sng" w="717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8" name="Google Shape;918;p60"/>
          <p:cNvSpPr/>
          <p:nvPr/>
        </p:nvSpPr>
        <p:spPr>
          <a:xfrm>
            <a:off x="1754907" y="2607075"/>
            <a:ext cx="1118700" cy="4680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45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750" lIns="79750" spcFirstLastPara="1" rIns="79750" wrap="square" tIns="79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1" lang="en" sz="874"/>
              <a:t>Sentence 임베딩</a:t>
            </a:r>
            <a:endParaRPr b="1" sz="874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1" lang="en" sz="874"/>
              <a:t>질문리스트 제공</a:t>
            </a:r>
            <a:endParaRPr b="1" sz="874"/>
          </a:p>
        </p:txBody>
      </p:sp>
      <p:grpSp>
        <p:nvGrpSpPr>
          <p:cNvPr id="919" name="Google Shape;919;p60"/>
          <p:cNvGrpSpPr/>
          <p:nvPr/>
        </p:nvGrpSpPr>
        <p:grpSpPr>
          <a:xfrm>
            <a:off x="8068236" y="2"/>
            <a:ext cx="1075752" cy="150822"/>
            <a:chOff x="921102" y="6027409"/>
            <a:chExt cx="2680001" cy="375740"/>
          </a:xfrm>
        </p:grpSpPr>
        <p:pic>
          <p:nvPicPr>
            <p:cNvPr descr="EMB0000378c3f3d" id="920" name="Google Shape;920;p6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1" name="Google Shape;921;p6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6" name="Google Shape;926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7" name="Google Shape;927;p61"/>
          <p:cNvSpPr txBox="1"/>
          <p:nvPr>
            <p:ph type="title"/>
          </p:nvPr>
        </p:nvSpPr>
        <p:spPr>
          <a:xfrm>
            <a:off x="4047175" y="2388500"/>
            <a:ext cx="5223300" cy="16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모델 실행 및 결과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61"/>
          <p:cNvSpPr txBox="1"/>
          <p:nvPr>
            <p:ph idx="2" type="title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929" name="Google Shape;929;p61"/>
          <p:cNvGrpSpPr/>
          <p:nvPr/>
        </p:nvGrpSpPr>
        <p:grpSpPr>
          <a:xfrm rot="756538">
            <a:off x="5159567" y="-1610422"/>
            <a:ext cx="4574157" cy="3479412"/>
            <a:chOff x="1522650" y="1117750"/>
            <a:chExt cx="4574075" cy="3479350"/>
          </a:xfrm>
        </p:grpSpPr>
        <p:sp>
          <p:nvSpPr>
            <p:cNvPr id="930" name="Google Shape;930;p61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61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2" name="Google Shape;932;p6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933" name="Google Shape;933;p61"/>
          <p:cNvGrpSpPr/>
          <p:nvPr/>
        </p:nvGrpSpPr>
        <p:grpSpPr>
          <a:xfrm>
            <a:off x="8068236" y="2"/>
            <a:ext cx="1075752" cy="150822"/>
            <a:chOff x="921102" y="6027409"/>
            <a:chExt cx="2680001" cy="375740"/>
          </a:xfrm>
        </p:grpSpPr>
        <p:pic>
          <p:nvPicPr>
            <p:cNvPr descr="EMB0000378c3f3d" id="934" name="Google Shape;934;p6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5" name="Google Shape;935;p6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0" name="Google Shape;940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050" y="1531200"/>
            <a:ext cx="4005564" cy="2812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1" name="Google Shape;941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5750" y="1519273"/>
            <a:ext cx="4005574" cy="254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2" name="Google Shape;942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52400"/>
            <a:ext cx="8478922" cy="1226400"/>
          </a:xfrm>
          <a:prstGeom prst="rect">
            <a:avLst/>
          </a:prstGeom>
          <a:noFill/>
          <a:ln>
            <a:noFill/>
          </a:ln>
        </p:spPr>
      </p:pic>
      <p:sp>
        <p:nvSpPr>
          <p:cNvPr id="943" name="Google Shape;943;p6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4" name="Google Shape;944;p62"/>
          <p:cNvSpPr txBox="1"/>
          <p:nvPr/>
        </p:nvSpPr>
        <p:spPr>
          <a:xfrm>
            <a:off x="152400" y="4951450"/>
            <a:ext cx="46701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https://presentationassistant.onrender.com/</a:t>
            </a:r>
            <a:endParaRPr sz="7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grpSp>
        <p:nvGrpSpPr>
          <p:cNvPr id="945" name="Google Shape;945;p62"/>
          <p:cNvGrpSpPr/>
          <p:nvPr/>
        </p:nvGrpSpPr>
        <p:grpSpPr>
          <a:xfrm>
            <a:off x="8068236" y="2"/>
            <a:ext cx="1075752" cy="150822"/>
            <a:chOff x="921102" y="6027409"/>
            <a:chExt cx="2680001" cy="375740"/>
          </a:xfrm>
        </p:grpSpPr>
        <p:pic>
          <p:nvPicPr>
            <p:cNvPr descr="EMB0000378c3f3d" id="946" name="Google Shape;946;p6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7" name="Google Shape;947;p6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2" name="Google Shape;952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625" y="1473350"/>
            <a:ext cx="4163526" cy="2685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53" name="Google Shape;953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6800" y="1866399"/>
            <a:ext cx="4232226" cy="102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4" name="Google Shape;954;p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36800" y="2992101"/>
            <a:ext cx="4232225" cy="82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5" name="Google Shape;955;p6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152400"/>
            <a:ext cx="8478922" cy="122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6" name="Google Shape;956;p6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35125" y="4151238"/>
            <a:ext cx="769550" cy="769525"/>
          </a:xfrm>
          <a:prstGeom prst="rect">
            <a:avLst/>
          </a:prstGeom>
          <a:noFill/>
          <a:ln>
            <a:noFill/>
          </a:ln>
        </p:spPr>
      </p:pic>
      <p:sp>
        <p:nvSpPr>
          <p:cNvPr id="957" name="Google Shape;957;p63"/>
          <p:cNvSpPr txBox="1"/>
          <p:nvPr>
            <p:ph type="title"/>
          </p:nvPr>
        </p:nvSpPr>
        <p:spPr>
          <a:xfrm>
            <a:off x="1482238" y="4269263"/>
            <a:ext cx="6837000" cy="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: 다양한 질문 및 질문 의도, 맞춤형 답변 피드백, 모범 답변, </a:t>
            </a:r>
            <a:r>
              <a:rPr b="1" lang="en" sz="1300"/>
              <a:t>비유창한 언어 검토</a:t>
            </a:r>
            <a:endParaRPr b="1" sz="1300"/>
          </a:p>
        </p:txBody>
      </p:sp>
      <p:sp>
        <p:nvSpPr>
          <p:cNvPr id="958" name="Google Shape;958;p6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959" name="Google Shape;959;p63"/>
          <p:cNvGrpSpPr/>
          <p:nvPr/>
        </p:nvGrpSpPr>
        <p:grpSpPr>
          <a:xfrm>
            <a:off x="8068236" y="2"/>
            <a:ext cx="1075752" cy="150822"/>
            <a:chOff x="921102" y="6027409"/>
            <a:chExt cx="2680001" cy="375740"/>
          </a:xfrm>
        </p:grpSpPr>
        <p:pic>
          <p:nvPicPr>
            <p:cNvPr descr="EMB0000378c3f3d" id="960" name="Google Shape;960;p6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1" name="Google Shape;961;p6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62" name="Google Shape;962;p63"/>
          <p:cNvSpPr txBox="1"/>
          <p:nvPr/>
        </p:nvSpPr>
        <p:spPr>
          <a:xfrm>
            <a:off x="152400" y="4951450"/>
            <a:ext cx="46701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https://presentationassistant.onrender.com/</a:t>
            </a:r>
            <a:endParaRPr sz="7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7" name="Google Shape;967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8" name="Google Shape;968;p64"/>
          <p:cNvSpPr txBox="1"/>
          <p:nvPr>
            <p:ph type="title"/>
          </p:nvPr>
        </p:nvSpPr>
        <p:spPr>
          <a:xfrm>
            <a:off x="3530950" y="2399198"/>
            <a:ext cx="5739600" cy="10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상용화 계획 및</a:t>
            </a:r>
            <a:r>
              <a:rPr lang="en"/>
              <a:t> 개선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64"/>
          <p:cNvSpPr txBox="1"/>
          <p:nvPr>
            <p:ph idx="2" type="title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grpSp>
        <p:nvGrpSpPr>
          <p:cNvPr id="970" name="Google Shape;970;p64"/>
          <p:cNvGrpSpPr/>
          <p:nvPr/>
        </p:nvGrpSpPr>
        <p:grpSpPr>
          <a:xfrm rot="756538">
            <a:off x="5159567" y="-1610422"/>
            <a:ext cx="4574157" cy="3479412"/>
            <a:chOff x="1522650" y="1117750"/>
            <a:chExt cx="4574075" cy="3479350"/>
          </a:xfrm>
        </p:grpSpPr>
        <p:sp>
          <p:nvSpPr>
            <p:cNvPr id="971" name="Google Shape;971;p64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64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3" name="Google Shape;973;p6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974" name="Google Shape;974;p64"/>
          <p:cNvGrpSpPr/>
          <p:nvPr/>
        </p:nvGrpSpPr>
        <p:grpSpPr>
          <a:xfrm>
            <a:off x="8068236" y="2"/>
            <a:ext cx="1075752" cy="150822"/>
            <a:chOff x="921102" y="6027409"/>
            <a:chExt cx="2680001" cy="375740"/>
          </a:xfrm>
        </p:grpSpPr>
        <p:pic>
          <p:nvPicPr>
            <p:cNvPr descr="EMB0000378c3f3d" id="975" name="Google Shape;975;p6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6" name="Google Shape;976;p6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1" name="Google Shape;981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3875" y="2278370"/>
            <a:ext cx="1624050" cy="1624050"/>
          </a:xfrm>
          <a:prstGeom prst="rect">
            <a:avLst/>
          </a:prstGeom>
          <a:noFill/>
          <a:ln>
            <a:noFill/>
          </a:ln>
        </p:spPr>
      </p:pic>
      <p:sp>
        <p:nvSpPr>
          <p:cNvPr id="982" name="Google Shape;982;p65"/>
          <p:cNvSpPr txBox="1"/>
          <p:nvPr>
            <p:ph type="title"/>
          </p:nvPr>
        </p:nvSpPr>
        <p:spPr>
          <a:xfrm>
            <a:off x="720000" y="758638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향후 계획</a:t>
            </a:r>
            <a:endParaRPr/>
          </a:p>
        </p:txBody>
      </p:sp>
      <p:sp>
        <p:nvSpPr>
          <p:cNvPr id="983" name="Google Shape;983;p65"/>
          <p:cNvSpPr txBox="1"/>
          <p:nvPr>
            <p:ph idx="1" type="subTitle"/>
          </p:nvPr>
        </p:nvSpPr>
        <p:spPr>
          <a:xfrm>
            <a:off x="929950" y="1919325"/>
            <a:ext cx="6938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성능을 더욱 고도화하여, 점수의 신뢰도를 높여 기업과 연계한 공식적인 기준 점수로 발전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‘난이도별 기준 점수’를 제공해 자신의 성장 정도를 명확히 확인할 수 있도록 구성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984" name="Google Shape;984;p65"/>
          <p:cNvSpPr txBox="1"/>
          <p:nvPr>
            <p:ph idx="4294967295" type="subTitle"/>
          </p:nvPr>
        </p:nvSpPr>
        <p:spPr>
          <a:xfrm>
            <a:off x="848876" y="1593525"/>
            <a:ext cx="26838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어떻게 사용자들을 유치할 것인가</a:t>
            </a:r>
            <a:endParaRPr b="1" sz="1300"/>
          </a:p>
        </p:txBody>
      </p:sp>
      <p:sp>
        <p:nvSpPr>
          <p:cNvPr id="985" name="Google Shape;985;p65"/>
          <p:cNvSpPr txBox="1"/>
          <p:nvPr>
            <p:ph idx="4294967295" type="subTitle"/>
          </p:nvPr>
        </p:nvSpPr>
        <p:spPr>
          <a:xfrm>
            <a:off x="1329900" y="3770839"/>
            <a:ext cx="1392000" cy="3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점수 높은 사용자</a:t>
            </a:r>
            <a:endParaRPr b="1" sz="1300"/>
          </a:p>
        </p:txBody>
      </p:sp>
      <p:sp>
        <p:nvSpPr>
          <p:cNvPr id="986" name="Google Shape;986;p65"/>
          <p:cNvSpPr txBox="1"/>
          <p:nvPr>
            <p:ph idx="1" type="subTitle"/>
          </p:nvPr>
        </p:nvSpPr>
        <p:spPr>
          <a:xfrm>
            <a:off x="5112900" y="4033525"/>
            <a:ext cx="375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지속하여 자신의 점수를 높일 수 있는 동기부여 장치: 미션, 보상</a:t>
            </a:r>
            <a:endParaRPr sz="10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주간/일간 목표치 제시 → 성장 과정이 눈에 보이도록 설계</a:t>
            </a:r>
            <a:endParaRPr sz="1000"/>
          </a:p>
        </p:txBody>
      </p:sp>
      <p:sp>
        <p:nvSpPr>
          <p:cNvPr id="987" name="Google Shape;987;p65"/>
          <p:cNvSpPr txBox="1"/>
          <p:nvPr>
            <p:ph idx="4294967295" type="subTitle"/>
          </p:nvPr>
        </p:nvSpPr>
        <p:spPr>
          <a:xfrm>
            <a:off x="6093150" y="3702025"/>
            <a:ext cx="1794000" cy="3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점수 </a:t>
            </a:r>
            <a:r>
              <a:rPr b="1" lang="en" sz="1300"/>
              <a:t>낮은</a:t>
            </a:r>
            <a:r>
              <a:rPr b="1" lang="en" sz="1300"/>
              <a:t> </a:t>
            </a:r>
            <a:r>
              <a:rPr b="1" lang="en" sz="1300"/>
              <a:t>사용자</a:t>
            </a:r>
            <a:endParaRPr b="1" sz="1300"/>
          </a:p>
        </p:txBody>
      </p:sp>
      <p:sp>
        <p:nvSpPr>
          <p:cNvPr id="988" name="Google Shape;988;p65"/>
          <p:cNvSpPr txBox="1"/>
          <p:nvPr>
            <p:ph idx="1" type="subTitle"/>
          </p:nvPr>
        </p:nvSpPr>
        <p:spPr>
          <a:xfrm>
            <a:off x="490950" y="4102329"/>
            <a:ext cx="3754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더 높은 난이도·고급 미션 제공 → 상위 레벨 도전 욕구 자극</a:t>
            </a:r>
            <a:endParaRPr sz="1000"/>
          </a:p>
        </p:txBody>
      </p:sp>
      <p:pic>
        <p:nvPicPr>
          <p:cNvPr id="989" name="Google Shape;989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21450" y="2492025"/>
            <a:ext cx="1137400" cy="1137400"/>
          </a:xfrm>
          <a:prstGeom prst="rect">
            <a:avLst/>
          </a:prstGeom>
          <a:noFill/>
          <a:ln>
            <a:noFill/>
          </a:ln>
        </p:spPr>
      </p:pic>
      <p:sp>
        <p:nvSpPr>
          <p:cNvPr id="990" name="Google Shape;990;p6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991" name="Google Shape;991;p65"/>
          <p:cNvGrpSpPr/>
          <p:nvPr/>
        </p:nvGrpSpPr>
        <p:grpSpPr>
          <a:xfrm>
            <a:off x="8068236" y="2"/>
            <a:ext cx="1075752" cy="150822"/>
            <a:chOff x="921102" y="6027409"/>
            <a:chExt cx="2680001" cy="375740"/>
          </a:xfrm>
        </p:grpSpPr>
        <p:pic>
          <p:nvPicPr>
            <p:cNvPr descr="EMB0000378c3f3d" id="992" name="Google Shape;992;p6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3" name="Google Shape;993;p6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66"/>
          <p:cNvSpPr txBox="1"/>
          <p:nvPr>
            <p:ph type="title"/>
          </p:nvPr>
        </p:nvSpPr>
        <p:spPr>
          <a:xfrm>
            <a:off x="416850" y="534488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향후 개선점</a:t>
            </a:r>
            <a:endParaRPr/>
          </a:p>
        </p:txBody>
      </p:sp>
      <p:sp>
        <p:nvSpPr>
          <p:cNvPr id="999" name="Google Shape;999;p66"/>
          <p:cNvSpPr txBox="1"/>
          <p:nvPr>
            <p:ph idx="1" type="subTitle"/>
          </p:nvPr>
        </p:nvSpPr>
        <p:spPr>
          <a:xfrm>
            <a:off x="4254875" y="2497877"/>
            <a:ext cx="47457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highlight>
                  <a:schemeClr val="lt1"/>
                </a:highlight>
              </a:rPr>
              <a:t>태</a:t>
            </a:r>
            <a:r>
              <a:rPr lang="en" sz="1100">
                <a:highlight>
                  <a:schemeClr val="lt1"/>
                </a:highlight>
              </a:rPr>
              <a:t>도·표정·눈맞춤·경청 등 비언어적 요소도 면접의  핵심적인 평가 기준</a:t>
            </a:r>
            <a:endParaRPr sz="1100">
              <a:highlight>
                <a:schemeClr val="lt1"/>
              </a:highlight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highlight>
                  <a:schemeClr val="lt1"/>
                </a:highlight>
              </a:rPr>
              <a:t>CNN 기반 </a:t>
            </a:r>
            <a:r>
              <a:rPr b="1" lang="en" sz="1100">
                <a:highlight>
                  <a:schemeClr val="lt1"/>
                </a:highlight>
              </a:rPr>
              <a:t>비언어적 요소 분석 모델</a:t>
            </a:r>
            <a:r>
              <a:rPr lang="en" sz="1100">
                <a:highlight>
                  <a:schemeClr val="lt1"/>
                </a:highlight>
              </a:rPr>
              <a:t>을 도입해 종합적인 면접 역량 평가로 확장</a:t>
            </a:r>
            <a:endParaRPr sz="1100">
              <a:highlight>
                <a:schemeClr val="lt1"/>
              </a:highlight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highlight>
                  <a:schemeClr val="lt1"/>
                </a:highlight>
              </a:rPr>
              <a:t>사용자의 영상 촬영 기반으로 태도·시선·제스처 등을 분석하여 개선 포인트 제공</a:t>
            </a:r>
            <a:endParaRPr sz="1100">
              <a:highlight>
                <a:schemeClr val="lt1"/>
              </a:highlight>
            </a:endParaRPr>
          </a:p>
        </p:txBody>
      </p:sp>
      <p:sp>
        <p:nvSpPr>
          <p:cNvPr id="1000" name="Google Shape;1000;p66"/>
          <p:cNvSpPr txBox="1"/>
          <p:nvPr>
            <p:ph idx="4294967295" type="subTitle"/>
          </p:nvPr>
        </p:nvSpPr>
        <p:spPr>
          <a:xfrm>
            <a:off x="495302" y="1424700"/>
            <a:ext cx="3328200" cy="4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CNN을 활용한 더 고도화된 면접코칭 AI </a:t>
            </a:r>
            <a:endParaRPr b="1" sz="1300"/>
          </a:p>
        </p:txBody>
      </p:sp>
      <p:pic>
        <p:nvPicPr>
          <p:cNvPr id="1001" name="Google Shape;1001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241" y="1909850"/>
            <a:ext cx="3649751" cy="243327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/>
            </a:outerShdw>
          </a:effectLst>
        </p:spPr>
      </p:pic>
      <p:sp>
        <p:nvSpPr>
          <p:cNvPr id="1002" name="Google Shape;1002;p6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003" name="Google Shape;1003;p66"/>
          <p:cNvGrpSpPr/>
          <p:nvPr/>
        </p:nvGrpSpPr>
        <p:grpSpPr>
          <a:xfrm>
            <a:off x="8068236" y="2"/>
            <a:ext cx="1075752" cy="150822"/>
            <a:chOff x="921102" y="6027409"/>
            <a:chExt cx="2680001" cy="375740"/>
          </a:xfrm>
        </p:grpSpPr>
        <p:pic>
          <p:nvPicPr>
            <p:cNvPr descr="EMB0000378c3f3d" id="1004" name="Google Shape;1004;p6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5" name="Google Shape;1005;p6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0" name="Google Shape;1010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1" name="Google Shape;1011;p67"/>
          <p:cNvSpPr txBox="1"/>
          <p:nvPr>
            <p:ph type="title"/>
          </p:nvPr>
        </p:nvSpPr>
        <p:spPr>
          <a:xfrm>
            <a:off x="4047175" y="2388500"/>
            <a:ext cx="3846600" cy="8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활용방안</a:t>
            </a:r>
            <a:endParaRPr/>
          </a:p>
        </p:txBody>
      </p:sp>
      <p:sp>
        <p:nvSpPr>
          <p:cNvPr id="1012" name="Google Shape;1012;p67"/>
          <p:cNvSpPr txBox="1"/>
          <p:nvPr>
            <p:ph idx="2" type="title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grpSp>
        <p:nvGrpSpPr>
          <p:cNvPr id="1013" name="Google Shape;1013;p67"/>
          <p:cNvGrpSpPr/>
          <p:nvPr/>
        </p:nvGrpSpPr>
        <p:grpSpPr>
          <a:xfrm rot="756538">
            <a:off x="5159567" y="-1610422"/>
            <a:ext cx="4574157" cy="3479412"/>
            <a:chOff x="1522650" y="1117750"/>
            <a:chExt cx="4574075" cy="3479350"/>
          </a:xfrm>
        </p:grpSpPr>
        <p:sp>
          <p:nvSpPr>
            <p:cNvPr id="1014" name="Google Shape;1014;p67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67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6" name="Google Shape;1016;p6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017" name="Google Shape;1017;p67"/>
          <p:cNvGrpSpPr/>
          <p:nvPr/>
        </p:nvGrpSpPr>
        <p:grpSpPr>
          <a:xfrm>
            <a:off x="8068236" y="2"/>
            <a:ext cx="1075752" cy="150822"/>
            <a:chOff x="921102" y="6027409"/>
            <a:chExt cx="2680001" cy="375740"/>
          </a:xfrm>
        </p:grpSpPr>
        <p:pic>
          <p:nvPicPr>
            <p:cNvPr descr="EMB0000378c3f3d" id="1018" name="Google Shape;1018;p6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9" name="Google Shape;1019;p6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6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활용방안</a:t>
            </a:r>
            <a:endParaRPr/>
          </a:p>
        </p:txBody>
      </p:sp>
      <p:sp>
        <p:nvSpPr>
          <p:cNvPr id="1025" name="Google Shape;1025;p68"/>
          <p:cNvSpPr txBox="1"/>
          <p:nvPr>
            <p:ph idx="13" type="subTitle"/>
          </p:nvPr>
        </p:nvSpPr>
        <p:spPr>
          <a:xfrm>
            <a:off x="6126878" y="3477775"/>
            <a:ext cx="1737000" cy="45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자동평가</a:t>
            </a:r>
            <a:endParaRPr sz="1500"/>
          </a:p>
        </p:txBody>
      </p:sp>
      <p:sp>
        <p:nvSpPr>
          <p:cNvPr id="1026" name="Google Shape;1026;p68"/>
          <p:cNvSpPr txBox="1"/>
          <p:nvPr>
            <p:ph idx="14" type="subTitle"/>
          </p:nvPr>
        </p:nvSpPr>
        <p:spPr>
          <a:xfrm>
            <a:off x="1929582" y="3543012"/>
            <a:ext cx="1065300" cy="32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수업 준비</a:t>
            </a:r>
            <a:endParaRPr sz="1500"/>
          </a:p>
        </p:txBody>
      </p:sp>
      <p:sp>
        <p:nvSpPr>
          <p:cNvPr id="1027" name="Google Shape;1027;p68"/>
          <p:cNvSpPr txBox="1"/>
          <p:nvPr>
            <p:ph idx="4294967295" type="subTitle"/>
          </p:nvPr>
        </p:nvSpPr>
        <p:spPr>
          <a:xfrm>
            <a:off x="720000" y="3898975"/>
            <a:ext cx="387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녹화 강의 실시간 분석을 통해 수업 흐름 점검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분석 결과 기반으로 예상 질문을 통해 수업 더욱 정교하게 구성</a:t>
            </a:r>
            <a:endParaRPr sz="1100"/>
          </a:p>
        </p:txBody>
      </p:sp>
      <p:sp>
        <p:nvSpPr>
          <p:cNvPr id="1028" name="Google Shape;1028;p68"/>
          <p:cNvSpPr txBox="1"/>
          <p:nvPr>
            <p:ph idx="4294967295" type="subTitle"/>
          </p:nvPr>
        </p:nvSpPr>
        <p:spPr>
          <a:xfrm>
            <a:off x="5574976" y="3937375"/>
            <a:ext cx="31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면접 영상 자동 평가 및 피드백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대규모 평가나 서류심사 자동화에 활용 가능</a:t>
            </a:r>
            <a:endParaRPr sz="1100"/>
          </a:p>
        </p:txBody>
      </p:sp>
      <p:pic>
        <p:nvPicPr>
          <p:cNvPr id="1029" name="Google Shape;1029;p68"/>
          <p:cNvPicPr preferRelativeResize="0"/>
          <p:nvPr/>
        </p:nvPicPr>
        <p:blipFill rotWithShape="1">
          <a:blip r:embed="rId3">
            <a:alphaModFix/>
          </a:blip>
          <a:srcRect b="0" l="50480" r="0" t="50377"/>
          <a:stretch/>
        </p:blipFill>
        <p:spPr>
          <a:xfrm>
            <a:off x="6110100" y="1571259"/>
            <a:ext cx="1770550" cy="177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0" name="Google Shape;1030;p68"/>
          <p:cNvPicPr preferRelativeResize="0"/>
          <p:nvPr/>
        </p:nvPicPr>
        <p:blipFill rotWithShape="1">
          <a:blip r:embed="rId3">
            <a:alphaModFix/>
          </a:blip>
          <a:srcRect b="48527" l="51886" r="0" t="0"/>
          <a:stretch/>
        </p:blipFill>
        <p:spPr>
          <a:xfrm>
            <a:off x="1632987" y="1525863"/>
            <a:ext cx="1658476" cy="177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1" name="Google Shape;1031;p6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032" name="Google Shape;1032;p68"/>
          <p:cNvGrpSpPr/>
          <p:nvPr/>
        </p:nvGrpSpPr>
        <p:grpSpPr>
          <a:xfrm>
            <a:off x="8068236" y="2"/>
            <a:ext cx="1075752" cy="150822"/>
            <a:chOff x="921102" y="6027409"/>
            <a:chExt cx="2680001" cy="375740"/>
          </a:xfrm>
        </p:grpSpPr>
        <p:pic>
          <p:nvPicPr>
            <p:cNvPr descr="EMB0000378c3f3d" id="1033" name="Google Shape;1033;p6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4" name="Google Shape;1034;p6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9" name="Google Shape;1039;p69"/>
          <p:cNvPicPr preferRelativeResize="0"/>
          <p:nvPr/>
        </p:nvPicPr>
        <p:blipFill rotWithShape="1">
          <a:blip r:embed="rId3">
            <a:alphaModFix amt="49000"/>
          </a:blip>
          <a:srcRect b="6550" l="0" r="0" t="0"/>
          <a:stretch/>
        </p:blipFill>
        <p:spPr>
          <a:xfrm>
            <a:off x="625925" y="1448113"/>
            <a:ext cx="7847624" cy="3704824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6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마치며..</a:t>
            </a:r>
            <a:endParaRPr/>
          </a:p>
        </p:txBody>
      </p:sp>
      <p:sp>
        <p:nvSpPr>
          <p:cNvPr id="1041" name="Google Shape;1041;p6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042" name="Google Shape;1042;p69"/>
          <p:cNvGrpSpPr/>
          <p:nvPr/>
        </p:nvGrpSpPr>
        <p:grpSpPr>
          <a:xfrm>
            <a:off x="8068236" y="2"/>
            <a:ext cx="1075752" cy="150822"/>
            <a:chOff x="921102" y="6027409"/>
            <a:chExt cx="2680001" cy="375740"/>
          </a:xfrm>
        </p:grpSpPr>
        <p:pic>
          <p:nvPicPr>
            <p:cNvPr descr="EMB0000378c3f3d" id="1043" name="Google Shape;1043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4" name="Google Shape;1044;p6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45" name="Google Shape;1045;p69"/>
          <p:cNvSpPr txBox="1"/>
          <p:nvPr>
            <p:ph idx="8" type="subTitle"/>
          </p:nvPr>
        </p:nvSpPr>
        <p:spPr>
          <a:xfrm>
            <a:off x="1135188" y="1318419"/>
            <a:ext cx="6873600" cy="89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Space Grotesk"/>
                <a:ea typeface="Space Grotesk"/>
                <a:cs typeface="Space Grotesk"/>
                <a:sym typeface="Space Grotesk"/>
              </a:rPr>
              <a:t>취준생들이 걱정없이 면접을 보러 갈 수 있는 그 날까지…</a:t>
            </a:r>
            <a:endParaRPr b="1" sz="1600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Space Grotesk"/>
                <a:ea typeface="Space Grotesk"/>
                <a:cs typeface="Space Grotesk"/>
                <a:sym typeface="Space Grotesk"/>
              </a:rPr>
              <a:t>PersonaFit Interview AI가 청년들의 면접 압박</a:t>
            </a:r>
            <a:r>
              <a:rPr b="1" lang="en" sz="1600">
                <a:latin typeface="Space Grotesk"/>
                <a:ea typeface="Space Grotesk"/>
                <a:cs typeface="Space Grotesk"/>
                <a:sym typeface="Space Grotesk"/>
              </a:rPr>
              <a:t>감을 해소해드리</a:t>
            </a:r>
            <a:r>
              <a:rPr b="1" lang="en" sz="1600">
                <a:latin typeface="Space Grotesk"/>
                <a:ea typeface="Space Grotesk"/>
                <a:cs typeface="Space Grotesk"/>
                <a:sym typeface="Space Grotesk"/>
              </a:rPr>
              <a:t>겠습니다</a:t>
            </a:r>
            <a:endParaRPr b="1" sz="16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70"/>
          <p:cNvSpPr txBox="1"/>
          <p:nvPr/>
        </p:nvSpPr>
        <p:spPr>
          <a:xfrm>
            <a:off x="549500" y="1349875"/>
            <a:ext cx="7218300" cy="24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 Filler Word Detection and Classification: A Dataset and Benchmark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TRANSCRIPTION FREE FILLER WORD DETECTION WITH NEURAL SEMI-CRFS 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/>
              <a:t>Exploring measures and perceptions of fluency in the speech of second language learners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Emotion and Intent joint Understanding in Multimodal Conversation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EDA: Enriching Emotional Dialogue Acts using an Ensemble of Neural Annotators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Robust Speech Recognition via Large-Scale Weak Supervision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구어 전사 말뭉치의 언어학적 주석과 활용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한국어 교육에서 부사 '좀'의 담화 기능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일본인 한국어 학습자의 비유창성 요소 사용 양상 연구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유창성 장애 집단과 정상 집단의 간투사 비교연구</a:t>
            </a:r>
            <a:endParaRPr sz="800"/>
          </a:p>
        </p:txBody>
      </p:sp>
      <p:sp>
        <p:nvSpPr>
          <p:cNvPr id="1051" name="Google Shape;1051;p70"/>
          <p:cNvSpPr txBox="1"/>
          <p:nvPr/>
        </p:nvSpPr>
        <p:spPr>
          <a:xfrm>
            <a:off x="549500" y="608575"/>
            <a:ext cx="6851700" cy="7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인용 논문 및 참고 문헌</a:t>
            </a:r>
            <a:endParaRPr sz="30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52" name="Google Shape;1052;p7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053" name="Google Shape;1053;p70"/>
          <p:cNvGrpSpPr/>
          <p:nvPr/>
        </p:nvGrpSpPr>
        <p:grpSpPr>
          <a:xfrm>
            <a:off x="8068236" y="2"/>
            <a:ext cx="1075752" cy="150822"/>
            <a:chOff x="921102" y="6027409"/>
            <a:chExt cx="2680001" cy="375740"/>
          </a:xfrm>
        </p:grpSpPr>
        <p:pic>
          <p:nvPicPr>
            <p:cNvPr descr="EMB0000378c3f3d" id="1054" name="Google Shape;1054;p7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5" name="Google Shape;1055;p7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0" name="Google Shape;1060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61" name="Google Shape;1061;p71"/>
          <p:cNvGrpSpPr/>
          <p:nvPr/>
        </p:nvGrpSpPr>
        <p:grpSpPr>
          <a:xfrm rot="756538">
            <a:off x="5138167" y="-1524797"/>
            <a:ext cx="4574157" cy="3479412"/>
            <a:chOff x="1522650" y="1117750"/>
            <a:chExt cx="4574075" cy="3479350"/>
          </a:xfrm>
        </p:grpSpPr>
        <p:sp>
          <p:nvSpPr>
            <p:cNvPr id="1062" name="Google Shape;1062;p71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71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4" name="Google Shape;1064;p71"/>
          <p:cNvSpPr txBox="1"/>
          <p:nvPr>
            <p:ph type="title"/>
          </p:nvPr>
        </p:nvSpPr>
        <p:spPr>
          <a:xfrm>
            <a:off x="2046300" y="2095499"/>
            <a:ext cx="5051400" cy="95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1065" name="Google Shape;1065;p7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066" name="Google Shape;1066;p71"/>
          <p:cNvGrpSpPr/>
          <p:nvPr/>
        </p:nvGrpSpPr>
        <p:grpSpPr>
          <a:xfrm>
            <a:off x="8068236" y="2"/>
            <a:ext cx="1075752" cy="150822"/>
            <a:chOff x="921102" y="6027409"/>
            <a:chExt cx="2680001" cy="375740"/>
          </a:xfrm>
        </p:grpSpPr>
        <p:pic>
          <p:nvPicPr>
            <p:cNvPr descr="EMB0000378c3f3d" id="1067" name="Google Shape;1067;p7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8" name="Google Shape;1068;p7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ta Migration Project Proposal by Slidesgo">
  <a:themeElements>
    <a:clrScheme name="Simple Light">
      <a:dk1>
        <a:srgbClr val="241160"/>
      </a:dk1>
      <a:lt1>
        <a:srgbClr val="FFFFFF"/>
      </a:lt1>
      <a:dk2>
        <a:srgbClr val="E2E4FC"/>
      </a:dk2>
      <a:lt2>
        <a:srgbClr val="8861F1"/>
      </a:lt2>
      <a:accent1>
        <a:srgbClr val="545EEA"/>
      </a:accent1>
      <a:accent2>
        <a:srgbClr val="0B9CDC"/>
      </a:accent2>
      <a:accent3>
        <a:srgbClr val="01CFE6"/>
      </a:accent3>
      <a:accent4>
        <a:srgbClr val="FFFFFF"/>
      </a:accent4>
      <a:accent5>
        <a:srgbClr val="FFFFFF"/>
      </a:accent5>
      <a:accent6>
        <a:srgbClr val="FFFFFF"/>
      </a:accent6>
      <a:hlink>
        <a:srgbClr val="24116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